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3"/>
    <p:sldId id="280" r:id="rId4"/>
    <p:sldId id="300" r:id="rId5"/>
    <p:sldId id="290" r:id="rId6"/>
    <p:sldId id="291" r:id="rId7"/>
    <p:sldId id="292" r:id="rId8"/>
    <p:sldId id="293" r:id="rId9"/>
    <p:sldId id="295" r:id="rId10"/>
    <p:sldId id="294" r:id="rId11"/>
    <p:sldId id="296" r:id="rId12"/>
    <p:sldId id="297" r:id="rId13"/>
    <p:sldId id="298" r:id="rId14"/>
    <p:sldId id="299" r:id="rId15"/>
    <p:sldId id="288" r:id="rId16"/>
    <p:sldId id="301"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2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12"/>
        <p:guide pos="286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330" cy="6858000"/>
          </a:xfrm>
          <a:prstGeom prst="rect">
            <a:avLst/>
          </a:prstGeom>
        </p:spPr>
      </p:pic>
      <p:sp>
        <p:nvSpPr>
          <p:cNvPr id="3" name="Shape 0"/>
          <p:cNvSpPr/>
          <p:nvPr/>
        </p:nvSpPr>
        <p:spPr>
          <a:xfrm>
            <a:off x="0" y="0"/>
            <a:ext cx="12192330" cy="6858000"/>
          </a:xfrm>
          <a:prstGeom prst="rect">
            <a:avLst/>
          </a:prstGeom>
          <a:solidFill>
            <a:srgbClr val="FFFFFF">
              <a:alpha val="95000"/>
            </a:srgbClr>
          </a:solidFill>
        </p:spPr>
      </p:sp>
      <p:pic>
        <p:nvPicPr>
          <p:cNvPr id="4" name="Image 1" descr="preencoded.png">
            <a:hlinkClick r:id="rId3"/>
          </p:cNvPr>
          <p:cNvPicPr>
            <a:picLocks noChangeAspect="1"/>
          </p:cNvPicPr>
          <p:nvPr/>
        </p:nvPicPr>
        <p:blipFill>
          <a:blip r:embed="rId4"/>
          <a:stretch>
            <a:fillRect/>
          </a:stretch>
        </p:blipFill>
        <p:spPr>
          <a:xfrm>
            <a:off x="11077452" y="6558991"/>
            <a:ext cx="1071899"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3" name="TextBox 2"/>
          <p:cNvSpPr txBox="1"/>
          <p:nvPr/>
        </p:nvSpPr>
        <p:spPr>
          <a:xfrm>
            <a:off x="1095375" y="1266825"/>
            <a:ext cx="10001250" cy="1477010"/>
          </a:xfrm>
          <a:prstGeom prst="rect">
            <a:avLst/>
          </a:prstGeom>
          <a:noFill/>
        </p:spPr>
        <p:txBody>
          <a:bodyPr wrap="square" lIns="0" tIns="0" rIns="0" bIns="0" anchor="t">
            <a:spAutoFit/>
          </a:bodyPr>
          <a:lstStyle/>
          <a:p>
            <a:pPr algn="ctr">
              <a:lnSpc>
                <a:spcPts val="5760"/>
              </a:lnSpc>
            </a:pPr>
            <a:r>
              <a:rPr lang="en-US" altLang="en-US" sz="4800" b="1" i="0" u="none">
                <a:solidFill>
                  <a:srgbClr val="0F172A"/>
                </a:solidFill>
                <a:latin typeface="Times New Roman" panose="02020603050405020304" charset="0"/>
                <a:cs typeface="Times New Roman" panose="02020603050405020304" charset="0"/>
              </a:rPr>
              <a:t>AI-Driven Vision Robot for Product Handling in Dark Stores</a:t>
            </a:r>
            <a:endParaRPr lang="en-US" altLang="en-US" sz="4800" b="1" i="0" u="none">
              <a:solidFill>
                <a:srgbClr val="0F172A"/>
              </a:solidFill>
              <a:latin typeface="Times New Roman" panose="02020603050405020304" charset="0"/>
              <a:cs typeface="Times New Roman" panose="02020603050405020304" charset="0"/>
            </a:endParaRPr>
          </a:p>
        </p:txBody>
      </p:sp>
      <p:sp>
        <p:nvSpPr>
          <p:cNvPr id="4" name="TextBox 3"/>
          <p:cNvSpPr txBox="1"/>
          <p:nvPr/>
        </p:nvSpPr>
        <p:spPr>
          <a:xfrm>
            <a:off x="0" y="3318510"/>
            <a:ext cx="12191365" cy="419735"/>
          </a:xfrm>
          <a:prstGeom prst="rect">
            <a:avLst/>
          </a:prstGeom>
          <a:noFill/>
        </p:spPr>
        <p:txBody>
          <a:bodyPr wrap="square" lIns="0" tIns="0" rIns="0" bIns="0" anchor="t">
            <a:noAutofit/>
          </a:bodyPr>
          <a:lstStyle/>
          <a:p>
            <a:pPr algn="ctr">
              <a:lnSpc>
                <a:spcPts val="3120"/>
              </a:lnSpc>
            </a:pPr>
            <a:r>
              <a:rPr sz="1950" b="1" i="0">
                <a:solidFill>
                  <a:srgbClr val="475569"/>
                </a:solidFill>
                <a:latin typeface="Times New Roman" panose="02020603050405020304" charset="0"/>
                <a:cs typeface="Times New Roman" panose="02020603050405020304" charset="0"/>
              </a:rPr>
              <a:t>Final Year Project</a:t>
            </a:r>
            <a:endParaRPr lang="en-US" sz="1950" b="1" i="0">
              <a:solidFill>
                <a:srgbClr val="475569"/>
              </a:solidFill>
              <a:latin typeface="Times New Roman" panose="02020603050405020304" charset="0"/>
              <a:cs typeface="Times New Roman" panose="02020603050405020304" charset="0"/>
            </a:endParaRPr>
          </a:p>
        </p:txBody>
      </p:sp>
      <p:sp>
        <p:nvSpPr>
          <p:cNvPr id="17" name="TextBox 7"/>
          <p:cNvSpPr txBox="1"/>
          <p:nvPr/>
        </p:nvSpPr>
        <p:spPr>
          <a:xfrm>
            <a:off x="1095375" y="4166235"/>
            <a:ext cx="2727325" cy="250825"/>
          </a:xfrm>
          <a:prstGeom prst="rect">
            <a:avLst/>
          </a:prstGeom>
          <a:noFill/>
        </p:spPr>
        <p:txBody>
          <a:bodyPr wrap="square" lIns="0" tIns="0" rIns="0" bIns="0" anchor="t">
            <a:noAutofit/>
          </a:bodyPr>
          <a:lstStyle/>
          <a:p>
            <a:pPr algn="l"/>
            <a:r>
              <a:rPr lang="en-IN" sz="1500" b="1" i="0" u="none" dirty="0">
                <a:solidFill>
                  <a:schemeClr val="accent1"/>
                </a:solidFill>
                <a:latin typeface="Times New Roman" panose="02020603050405020304" charset="0"/>
                <a:cs typeface="Times New Roman" panose="02020603050405020304" charset="0"/>
              </a:rPr>
              <a:t>BATCH-</a:t>
            </a:r>
            <a:r>
              <a:rPr lang="en-US" altLang="en-IN" sz="1500" b="1" i="0" u="none" dirty="0">
                <a:solidFill>
                  <a:schemeClr val="accent1"/>
                </a:solidFill>
                <a:latin typeface="Times New Roman" panose="02020603050405020304" charset="0"/>
                <a:cs typeface="Times New Roman" panose="02020603050405020304" charset="0"/>
              </a:rPr>
              <a:t>3</a:t>
            </a:r>
            <a:r>
              <a:rPr lang="en-IN" sz="1500" b="1" i="0" u="none" dirty="0">
                <a:solidFill>
                  <a:schemeClr val="accent1"/>
                </a:solidFill>
                <a:latin typeface="Times New Roman" panose="02020603050405020304" charset="0"/>
                <a:cs typeface="Times New Roman" panose="02020603050405020304" charset="0"/>
              </a:rPr>
              <a:t>  TEAM MEMBERS:</a:t>
            </a:r>
            <a:endParaRPr lang="en-IN" sz="1500" b="1" i="0" u="none" dirty="0">
              <a:solidFill>
                <a:schemeClr val="accent1"/>
              </a:solidFill>
              <a:latin typeface="Times New Roman" panose="02020603050405020304" charset="0"/>
              <a:cs typeface="Times New Roman" panose="02020603050405020304" charset="0"/>
            </a:endParaRPr>
          </a:p>
        </p:txBody>
      </p:sp>
      <p:sp>
        <p:nvSpPr>
          <p:cNvPr id="18" name="TextBox 8"/>
          <p:cNvSpPr txBox="1"/>
          <p:nvPr/>
        </p:nvSpPr>
        <p:spPr>
          <a:xfrm>
            <a:off x="1095375" y="4435475"/>
            <a:ext cx="2900680" cy="1384935"/>
          </a:xfrm>
          <a:prstGeom prst="rect">
            <a:avLst/>
          </a:prstGeom>
          <a:noFill/>
        </p:spPr>
        <p:txBody>
          <a:bodyPr wrap="square" lIns="0" tIns="0" rIns="0" bIns="0" anchor="t">
            <a:spAutoFit/>
          </a:bodyPr>
          <a:lstStyle/>
          <a:p>
            <a:pPr algn="l">
              <a:lnSpc>
                <a:spcPts val="1800"/>
              </a:lnSpc>
            </a:pP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K. Jyothi (23331A0483)</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Md. Azmath Ali (23331A04B0)</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N. Naveen (23331A04B8)</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r>
              <a:rPr lang="en-US" altLang="en-IN" sz="1500" b="0" i="0" u="none" dirty="0">
                <a:solidFill>
                  <a:schemeClr val="tx1"/>
                </a:solidFill>
                <a:latin typeface="Times New Roman" panose="02020603050405020304" charset="0"/>
                <a:cs typeface="Times New Roman" panose="02020603050405020304" charset="0"/>
              </a:rPr>
              <a:t>K. Ganapathi Naidu (23331A0486)</a:t>
            </a:r>
            <a:endParaRPr lang="en-US" altLang="en-IN" sz="1500" b="0" i="0" u="none" dirty="0">
              <a:solidFill>
                <a:schemeClr val="tx1"/>
              </a:solidFill>
              <a:latin typeface="Times New Roman" panose="02020603050405020304" charset="0"/>
              <a:cs typeface="Times New Roman" panose="02020603050405020304" charset="0"/>
            </a:endParaRPr>
          </a:p>
          <a:p>
            <a:pPr algn="l">
              <a:lnSpc>
                <a:spcPts val="1800"/>
              </a:lnSpc>
            </a:pPr>
            <a:endParaRPr lang="en-US" altLang="en-IN" sz="1500" b="0" i="0" u="none" dirty="0">
              <a:solidFill>
                <a:schemeClr val="tx1"/>
              </a:solidFill>
              <a:latin typeface="Times New Roman" panose="02020603050405020304" charset="0"/>
              <a:cs typeface="Times New Roman" panose="02020603050405020304" charset="0"/>
            </a:endParaRPr>
          </a:p>
        </p:txBody>
      </p:sp>
      <p:sp>
        <p:nvSpPr>
          <p:cNvPr id="19" name="TextBox 9"/>
          <p:cNvSpPr txBox="1"/>
          <p:nvPr/>
        </p:nvSpPr>
        <p:spPr>
          <a:xfrm>
            <a:off x="7774305" y="4171950"/>
            <a:ext cx="2726690" cy="283845"/>
          </a:xfrm>
          <a:prstGeom prst="rect">
            <a:avLst/>
          </a:prstGeom>
          <a:noFill/>
        </p:spPr>
        <p:txBody>
          <a:bodyPr wrap="square" lIns="0" tIns="0" rIns="0" bIns="0" anchor="t">
            <a:noAutofit/>
          </a:bodyPr>
          <a:lstStyle/>
          <a:p>
            <a:pPr algn="l"/>
            <a:r>
              <a:rPr lang="en-US" sz="1400" b="1" i="0" u="none" dirty="0">
                <a:solidFill>
                  <a:schemeClr val="accent1"/>
                </a:solidFill>
                <a:latin typeface="Times New Roman" panose="02020603050405020304" charset="0"/>
                <a:cs typeface="Times New Roman" panose="02020603050405020304" charset="0"/>
              </a:rPr>
              <a:t>UNDER THE GUIDANCE OF:</a:t>
            </a:r>
            <a:endParaRPr lang="en-US" sz="1400" b="1" i="0" u="none" dirty="0">
              <a:solidFill>
                <a:schemeClr val="accent1"/>
              </a:solidFill>
              <a:latin typeface="Times New Roman" panose="02020603050405020304" charset="0"/>
              <a:cs typeface="Times New Roman" panose="02020603050405020304" charset="0"/>
            </a:endParaRPr>
          </a:p>
        </p:txBody>
      </p:sp>
      <p:sp>
        <p:nvSpPr>
          <p:cNvPr id="20" name="TextBox 10"/>
          <p:cNvSpPr txBox="1"/>
          <p:nvPr/>
        </p:nvSpPr>
        <p:spPr>
          <a:xfrm>
            <a:off x="7774305" y="4371975"/>
            <a:ext cx="2726690" cy="1384935"/>
          </a:xfrm>
          <a:prstGeom prst="rect">
            <a:avLst/>
          </a:prstGeom>
          <a:noFill/>
        </p:spPr>
        <p:txBody>
          <a:bodyPr wrap="square" lIns="0" tIns="0" rIns="0" bIns="0" anchor="t">
            <a:spAutoFit/>
          </a:bodyPr>
          <a:lstStyle/>
          <a:p>
            <a:pPr algn="l">
              <a:lnSpc>
                <a:spcPts val="1800"/>
              </a:lnSpc>
            </a:pPr>
            <a:endParaRPr sz="1500" i="0" u="none" dirty="0">
              <a:solidFill>
                <a:schemeClr val="tx1"/>
              </a:solidFill>
              <a:latin typeface="Times New Roman" panose="02020603050405020304" charset="0"/>
              <a:cs typeface="Times New Roman" panose="02020603050405020304" charset="0"/>
            </a:endParaRPr>
          </a:p>
          <a:p>
            <a:pPr algn="l">
              <a:lnSpc>
                <a:spcPts val="1800"/>
              </a:lnSpc>
            </a:pPr>
            <a:r>
              <a:rPr sz="1500" i="0" u="none" dirty="0">
                <a:solidFill>
                  <a:schemeClr val="tx1"/>
                </a:solidFill>
                <a:latin typeface="Times New Roman" panose="02020603050405020304" charset="0"/>
                <a:cs typeface="Times New Roman" panose="02020603050405020304" charset="0"/>
              </a:rPr>
              <a:t>Dr. T.A.N. Surya Narayana Varma</a:t>
            </a:r>
            <a:endParaRPr lang="en-IN" sz="1500" i="0" u="none" dirty="0">
              <a:solidFill>
                <a:schemeClr val="tx1"/>
              </a:solidFill>
              <a:latin typeface="Times New Roman" panose="02020603050405020304" charset="0"/>
              <a:cs typeface="Times New Roman" panose="02020603050405020304" charset="0"/>
            </a:endParaRPr>
          </a:p>
          <a:p>
            <a:pPr algn="l">
              <a:lnSpc>
                <a:spcPts val="1800"/>
              </a:lnSpc>
            </a:pPr>
            <a:r>
              <a:rPr lang="en-IN" sz="1500" dirty="0">
                <a:solidFill>
                  <a:schemeClr val="tx1"/>
                </a:solidFill>
                <a:latin typeface="Times New Roman" panose="02020603050405020304" charset="0"/>
                <a:cs typeface="Times New Roman" panose="02020603050405020304" charset="0"/>
              </a:rPr>
              <a:t>M.Tech.,</a:t>
            </a:r>
            <a:r>
              <a:rPr lang="en-US" altLang="en-IN" sz="1500" dirty="0">
                <a:solidFill>
                  <a:schemeClr val="tx1"/>
                </a:solidFill>
                <a:latin typeface="Times New Roman" panose="02020603050405020304" charset="0"/>
                <a:cs typeface="Times New Roman" panose="02020603050405020304" charset="0"/>
              </a:rPr>
              <a:t> </a:t>
            </a:r>
            <a:r>
              <a:rPr lang="en-IN" sz="1500" dirty="0" err="1">
                <a:solidFill>
                  <a:schemeClr val="tx1"/>
                </a:solidFill>
                <a:latin typeface="Times New Roman" panose="02020603050405020304" charset="0"/>
                <a:cs typeface="Times New Roman" panose="02020603050405020304" charset="0"/>
              </a:rPr>
              <a:t>Ph.D</a:t>
            </a:r>
            <a:r>
              <a:rPr lang="en-IN" sz="1500" dirty="0">
                <a:solidFill>
                  <a:schemeClr val="tx1"/>
                </a:solidFill>
                <a:latin typeface="Times New Roman" panose="02020603050405020304" charset="0"/>
                <a:cs typeface="Times New Roman" panose="02020603050405020304" charset="0"/>
              </a:rPr>
              <a:t>.</a:t>
            </a:r>
            <a:endParaRPr lang="en-IN" sz="1500" dirty="0">
              <a:solidFill>
                <a:schemeClr val="tx1"/>
              </a:solidFill>
              <a:latin typeface="Times New Roman" panose="02020603050405020304" charset="0"/>
              <a:cs typeface="Times New Roman" panose="02020603050405020304" charset="0"/>
            </a:endParaRPr>
          </a:p>
          <a:p>
            <a:pPr algn="l">
              <a:lnSpc>
                <a:spcPts val="1800"/>
              </a:lnSpc>
            </a:pPr>
            <a:r>
              <a:rPr lang="en-IN" sz="1500" dirty="0">
                <a:solidFill>
                  <a:schemeClr val="tx1"/>
                </a:solidFill>
                <a:latin typeface="Times New Roman" panose="02020603050405020304" charset="0"/>
                <a:cs typeface="Times New Roman" panose="02020603050405020304" charset="0"/>
              </a:rPr>
              <a:t>Professor,</a:t>
            </a:r>
            <a:r>
              <a:rPr sz="1500" dirty="0">
                <a:solidFill>
                  <a:schemeClr val="tx1"/>
                </a:solidFill>
                <a:latin typeface="Times New Roman" panose="02020603050405020304" charset="0"/>
                <a:cs typeface="Times New Roman" panose="02020603050405020304" charset="0"/>
              </a:rPr>
              <a:t>
</a:t>
            </a:r>
            <a:r>
              <a:rPr sz="1500" i="0" u="none" dirty="0">
                <a:solidFill>
                  <a:schemeClr val="tx1"/>
                </a:solidFill>
                <a:latin typeface="Times New Roman" panose="02020603050405020304" charset="0"/>
                <a:cs typeface="Times New Roman" panose="02020603050405020304" charset="0"/>
              </a:rPr>
              <a:t>Department of Electronics and Communication Engineering</a:t>
            </a:r>
            <a:r>
              <a:rPr lang="en-IN" sz="1500" i="0" u="none" dirty="0">
                <a:solidFill>
                  <a:schemeClr val="tx1"/>
                </a:solidFill>
                <a:latin typeface="Times New Roman" panose="02020603050405020304" charset="0"/>
                <a:cs typeface="Times New Roman" panose="02020603050405020304" charset="0"/>
              </a:rPr>
              <a:t>(A)</a:t>
            </a:r>
            <a:endParaRPr lang="en-IN" sz="1500" i="0" u="none"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71500" y="1438275"/>
            <a:ext cx="10922000" cy="5179060"/>
          </a:xfrm>
          <a:prstGeom prst="rect">
            <a:avLst/>
          </a:prstGeom>
          <a:noFill/>
        </p:spPr>
        <p:txBody>
          <a:bodyPr wrap="square" rtlCol="0">
            <a:noAutofit/>
          </a:bodyPr>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AI-Driven Vision Robot for Product Handling in Dark Stores is a smart robotic system designed to automate product collection and billing.</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Customers select the required products and quantities through the web application, and the order is sent to the robot.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selected product information is transmitted to the ESP32-based robot, which uses IR sensors to follow the predefined path and reach the corresponding product location.</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robot uses a camera, computer vision, and a pick-and-place mechanism to locate, identify, and collect the required products into a shopping basket.</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a:latin typeface="Times New Roman" panose="02020603050405020304" charset="0"/>
                <a:cs typeface="Times New Roman" panose="02020603050405020304" charset="0"/>
              </a:rPr>
              <a:t>The robot repeats this process for all selected products and then returns to the starting position. The completed order is synchronized with the web application, which calculates the total cost and generates a digital bill.</a:t>
            </a:r>
            <a:endParaRPr lang="en-US" altLang="en-US">
              <a:latin typeface="Times New Roman" panose="02020603050405020304" charset="0"/>
              <a:cs typeface="Times New Roman" panose="02020603050405020304" charset="0"/>
            </a:endParaRPr>
          </a:p>
        </p:txBody>
      </p:sp>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Project Abstract</a:t>
            </a:r>
            <a:endParaRPr lang="en-US" sz="3200" b="0" i="0" u="none">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Aim &amp; Objectives</a:t>
            </a:r>
            <a:endParaRPr lang="en-US" sz="3200" b="0" i="0" u="none">
              <a:solidFill>
                <a:schemeClr val="tx1"/>
              </a:solidFill>
              <a:latin typeface="Times New Roman" panose="02020603050405020304" charset="0"/>
              <a:cs typeface="Times New Roman" panose="02020603050405020304" charset="0"/>
            </a:endParaRPr>
          </a:p>
        </p:txBody>
      </p:sp>
      <p:sp>
        <p:nvSpPr>
          <p:cNvPr id="5" name="Text Box 4"/>
          <p:cNvSpPr txBox="1"/>
          <p:nvPr/>
        </p:nvSpPr>
        <p:spPr>
          <a:xfrm>
            <a:off x="571500" y="1301115"/>
            <a:ext cx="10922000" cy="5179060"/>
          </a:xfrm>
          <a:prstGeom prst="rect">
            <a:avLst/>
          </a:prstGeom>
          <a:noFill/>
        </p:spPr>
        <p:txBody>
          <a:bodyPr wrap="square" rtlCol="0">
            <a:noAutofit/>
          </a:bodyPr>
          <a:p>
            <a:pPr indent="0">
              <a:buFont typeface="Wingdings" panose="05000000000000000000" charset="0"/>
              <a:buNone/>
            </a:pPr>
            <a:r>
              <a:rPr lang="en-US" altLang="en-US">
                <a:latin typeface="Times New Roman" panose="02020603050405020304" charset="0"/>
                <a:cs typeface="Times New Roman" panose="02020603050405020304" charset="0"/>
              </a:rPr>
              <a:t>To develop an AI-driven autonomous shopping robot that receives a digital shopping list and autonomously navigates to product locations, identifies target products, and collects them into a basket.</a:t>
            </a:r>
            <a:endParaRPr lang="en-US" altLang="en-US">
              <a:latin typeface="Times New Roman" panose="02020603050405020304" charset="0"/>
              <a:cs typeface="Times New Roman" panose="02020603050405020304" charset="0"/>
            </a:endParaRPr>
          </a:p>
          <a:p>
            <a:pPr indent="0">
              <a:buFont typeface="Wingdings" panose="05000000000000000000" charset="0"/>
              <a:buNone/>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b="1">
                <a:latin typeface="Times New Roman" panose="02020603050405020304" charset="0"/>
                <a:cs typeface="Times New Roman" panose="02020603050405020304" charset="0"/>
              </a:rPr>
              <a:t>Digital Interface: </a:t>
            </a:r>
            <a:r>
              <a:rPr lang="en-US" altLang="en-US">
                <a:latin typeface="Times New Roman" panose="02020603050405020304" charset="0"/>
                <a:cs typeface="Times New Roman" panose="02020603050405020304" charset="0"/>
              </a:rPr>
              <a:t>Provide a web application to select products and quantities, maintain shopping data in a database, and communicate wirelessly with the robot.</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b="1">
                <a:latin typeface="Times New Roman" panose="02020603050405020304" charset="0"/>
                <a:cs typeface="Times New Roman" panose="02020603050405020304" charset="0"/>
              </a:rPr>
              <a:t>Autonomous Navigation:</a:t>
            </a:r>
            <a:r>
              <a:rPr lang="en-US" altLang="en-US">
                <a:latin typeface="Times New Roman" panose="02020603050405020304" charset="0"/>
                <a:cs typeface="Times New Roman" panose="02020603050405020304" charset="0"/>
              </a:rPr>
              <a:t> Enable the robot to follow a predefined store path and reach designated product locations safely.</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b="1">
                <a:latin typeface="Times New Roman" panose="02020603050405020304" charset="0"/>
                <a:cs typeface="Times New Roman" panose="02020603050405020304" charset="0"/>
              </a:rPr>
              <a:t>Computer Vision:</a:t>
            </a:r>
            <a:r>
              <a:rPr lang="en-US" altLang="en-US">
                <a:latin typeface="Times New Roman" panose="02020603050405020304" charset="0"/>
                <a:cs typeface="Times New Roman" panose="02020603050405020304" charset="0"/>
              </a:rPr>
              <a:t> Use an onboard camera and computer vision to identify and verify the required products.</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b="1">
                <a:latin typeface="Times New Roman" panose="02020603050405020304" charset="0"/>
                <a:cs typeface="Times New Roman" panose="02020603050405020304" charset="0"/>
              </a:rPr>
              <a:t>Pick &amp; Place: </a:t>
            </a:r>
            <a:r>
              <a:rPr lang="en-US" altLang="en-US">
                <a:latin typeface="Times New Roman" panose="02020603050405020304" charset="0"/>
                <a:cs typeface="Times New Roman" panose="02020603050405020304" charset="0"/>
              </a:rPr>
              <a:t>Implement an autonomous mechanism to handle and place verified products into the shopping basket.</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b="1">
                <a:latin typeface="Times New Roman" panose="02020603050405020304" charset="0"/>
                <a:cs typeface="Times New Roman" panose="02020603050405020304" charset="0"/>
              </a:rPr>
              <a:t>End-to-End Automation:</a:t>
            </a:r>
            <a:r>
              <a:rPr lang="en-US" altLang="en-US">
                <a:latin typeface="Times New Roman" panose="02020603050405020304" charset="0"/>
                <a:cs typeface="Times New Roman" panose="02020603050405020304" charset="0"/>
              </a:rPr>
              <a:t> Integrate the web interface, database, communication, navigation, vision, and product collection into one complete system.</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-1</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891520" cy="5400675"/>
          </a:xfrm>
          <a:prstGeom prst="rect">
            <a:avLst/>
          </a:prstGeom>
          <a:noFill/>
        </p:spPr>
        <p:txBody>
          <a:bodyPr wrap="square" rtlCol="0" anchor="t">
            <a:spAutoFit/>
          </a:bodyPr>
          <a:p>
            <a:pPr>
              <a:lnSpc>
                <a:spcPct val="80000"/>
              </a:lnSpc>
            </a:pPr>
            <a:endParaRPr lang="en-US" altLang="en-US" b="1"/>
          </a:p>
          <a:p>
            <a:pPr>
              <a:lnSpc>
                <a:spcPct val="80000"/>
              </a:lnSpc>
            </a:pPr>
            <a:r>
              <a:rPr lang="en-US" altLang="en-US" b="1"/>
              <a:t>Title: </a:t>
            </a:r>
            <a:r>
              <a:rPr lang="en-US" altLang="en-US"/>
              <a:t>An Enhanced PID-Based Motion Control Framework for Line-Following Robot</a:t>
            </a:r>
            <a:endParaRPr lang="en-US" altLang="en-US"/>
          </a:p>
          <a:p>
            <a:pPr>
              <a:lnSpc>
                <a:spcPct val="80000"/>
              </a:lnSpc>
            </a:pPr>
            <a:endParaRPr lang="en-US" altLang="en-US"/>
          </a:p>
          <a:p>
            <a:pPr>
              <a:lnSpc>
                <a:spcPct val="80000"/>
              </a:lnSpc>
            </a:pPr>
            <a:r>
              <a:rPr lang="en-US" altLang="en-US" b="1"/>
              <a:t>Authors: </a:t>
            </a:r>
            <a:r>
              <a:rPr lang="en-US" altLang="en-US"/>
              <a:t>Girish Chandrappa, Riga Technical University</a:t>
            </a:r>
            <a:endParaRPr lang="en-US" altLang="en-US"/>
          </a:p>
          <a:p>
            <a:pPr>
              <a:lnSpc>
                <a:spcPct val="80000"/>
              </a:lnSpc>
            </a:pPr>
            <a:endParaRPr lang="en-US" altLang="en-US"/>
          </a:p>
          <a:p>
            <a:pPr>
              <a:lnSpc>
                <a:spcPct val="80000"/>
              </a:lnSpc>
            </a:pPr>
            <a:r>
              <a:rPr lang="en-US" altLang="en-US" b="1"/>
              <a:t>DOI:	</a:t>
            </a:r>
            <a:r>
              <a:rPr lang="en-US" altLang="en-US"/>
              <a:t>10.30574/wjarr.2025.26.3.2275</a:t>
            </a:r>
            <a:endParaRPr lang="en-US" altLang="en-US"/>
          </a:p>
          <a:p>
            <a:pPr>
              <a:lnSpc>
                <a:spcPct val="80000"/>
              </a:lnSpc>
            </a:pPr>
            <a:endParaRPr lang="en-US" altLang="en-US"/>
          </a:p>
          <a:p>
            <a:pPr>
              <a:lnSpc>
                <a:spcPct val="80000"/>
              </a:lnSpc>
            </a:pPr>
            <a:r>
              <a:rPr lang="en-US" altLang="en-US" b="1"/>
              <a:t>Work Done:</a:t>
            </a:r>
            <a:endParaRPr lang="en-US" altLang="en-US" b="1"/>
          </a:p>
          <a:p>
            <a:pPr>
              <a:lnSpc>
                <a:spcPct val="80000"/>
              </a:lnSpc>
            </a:pPr>
            <a:r>
              <a:rPr lang="en-US" altLang="en-US"/>
              <a:t>Developed an autonomous robot using ESP32, TCRT5000 IR sensors, L298N motor driver, and two DC motors. The IR sensors detect the predefined line/path, while the ESP32 processes the sensor data and controls the motors through the L298N driver. A PID controller is used to adjust motor speeds for smoother movement and turning. The paper also presents the physical robot platform and its sensor/motor-driver configuration.</a:t>
            </a:r>
            <a:endParaRPr lang="en-US" altLang="en-US"/>
          </a:p>
          <a:p>
            <a:pPr>
              <a:lnSpc>
                <a:spcPct val="80000"/>
              </a:lnSpc>
            </a:pPr>
            <a:endParaRPr lang="en-US" altLang="en-US"/>
          </a:p>
          <a:p>
            <a:pPr>
              <a:lnSpc>
                <a:spcPct val="80000"/>
              </a:lnSpc>
            </a:pPr>
            <a:r>
              <a:rPr lang="en-US" altLang="en-US" b="1"/>
              <a:t>Results: </a:t>
            </a:r>
            <a:endParaRPr lang="en-US" altLang="en-US" b="1"/>
          </a:p>
          <a:p>
            <a:pPr>
              <a:lnSpc>
                <a:spcPct val="80000"/>
              </a:lnSpc>
            </a:pPr>
            <a:r>
              <a:rPr lang="en-US" altLang="en-US"/>
              <a:t>The robot achieved stable line tracking and smoother motion, particularly during turns and sudden changes in direction, through PID-based motor-speed correction.</a:t>
            </a:r>
            <a:endParaRPr lang="en-US" altLang="en-US"/>
          </a:p>
          <a:p>
            <a:pPr>
              <a:lnSpc>
                <a:spcPct val="80000"/>
              </a:lnSpc>
            </a:pPr>
            <a:endParaRPr lang="en-US" altLang="en-US"/>
          </a:p>
          <a:p>
            <a:pPr>
              <a:lnSpc>
                <a:spcPct val="80000"/>
              </a:lnSpc>
            </a:pPr>
            <a:r>
              <a:rPr lang="en-US" altLang="en-US" b="1"/>
              <a:t>Limitations: </a:t>
            </a:r>
            <a:endParaRPr lang="en-US" altLang="en-US" b="1"/>
          </a:p>
          <a:p>
            <a:pPr>
              <a:lnSpc>
                <a:spcPct val="80000"/>
              </a:lnSpc>
            </a:pPr>
            <a:r>
              <a:rPr lang="en-US" altLang="en-US"/>
              <a:t>The system mainly focuses on line-following and motion control. It does not address location-specific stopping, product identification, or product handling. This creates scope for extending the predefined-path robot toward automated dark-store product transportation and handling.</a:t>
            </a:r>
            <a:endParaRPr lang="en-US" altLang="en-US"/>
          </a:p>
          <a:p>
            <a:pPr>
              <a:lnSpc>
                <a:spcPct val="80000"/>
              </a:lnSpc>
            </a:pPr>
            <a:endParaRPr lang="en-US" altLang="en-US"/>
          </a:p>
          <a:p>
            <a:pPr>
              <a:lnSpc>
                <a:spcPct val="80000"/>
              </a:lnSpc>
            </a:pPr>
            <a:r>
              <a:rPr lang="en-US" altLang="en-US" b="1"/>
              <a:t>Reference: </a:t>
            </a:r>
            <a:endParaRPr lang="en-US" altLang="en-US" b="1"/>
          </a:p>
          <a:p>
            <a:pPr>
              <a:lnSpc>
                <a:spcPct val="80000"/>
              </a:lnSpc>
            </a:pPr>
            <a:r>
              <a:rPr lang="en-US" altLang="en-US"/>
              <a:t>An Enhanced PID-Based Motion Control Framework for Autonomous Line-Following Robot, 2026.</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-2</a:t>
            </a:r>
            <a:endParaRPr lang="en-US" sz="3200" b="0" i="0" u="none">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571500" y="1092200"/>
            <a:ext cx="10891520" cy="4958080"/>
          </a:xfrm>
          <a:prstGeom prst="rect">
            <a:avLst/>
          </a:prstGeom>
          <a:noFill/>
        </p:spPr>
        <p:txBody>
          <a:bodyPr wrap="square" rtlCol="0" anchor="t">
            <a:spAutoFit/>
          </a:bodyPr>
          <a:p>
            <a:pPr>
              <a:lnSpc>
                <a:spcPct val="80000"/>
              </a:lnSpc>
            </a:pPr>
            <a:endParaRPr lang="en-US" altLang="en-US"/>
          </a:p>
          <a:p>
            <a:pPr>
              <a:lnSpc>
                <a:spcPct val="80000"/>
              </a:lnSpc>
            </a:pPr>
            <a:r>
              <a:rPr lang="en-US" altLang="en-US" b="1"/>
              <a:t>Title: </a:t>
            </a:r>
            <a:r>
              <a:rPr lang="en-US" altLang="en-US"/>
              <a:t>Robot Edukasi Object Detection Dengan Platform Edge Impulse</a:t>
            </a:r>
            <a:endParaRPr lang="en-US" altLang="en-US"/>
          </a:p>
          <a:p>
            <a:pPr>
              <a:lnSpc>
                <a:spcPct val="80000"/>
              </a:lnSpc>
            </a:pPr>
            <a:endParaRPr lang="en-US" altLang="en-US"/>
          </a:p>
          <a:p>
            <a:pPr>
              <a:lnSpc>
                <a:spcPct val="80000"/>
              </a:lnSpc>
            </a:pPr>
            <a:r>
              <a:rPr lang="en-US" altLang="en-US" b="1"/>
              <a:t>Authors: </a:t>
            </a:r>
            <a:r>
              <a:rPr lang="en-US" altLang="en-US"/>
              <a:t>Tekom University researchers</a:t>
            </a:r>
            <a:endParaRPr lang="en-US" altLang="en-US"/>
          </a:p>
          <a:p>
            <a:pPr>
              <a:lnSpc>
                <a:spcPct val="80000"/>
              </a:lnSpc>
            </a:pPr>
            <a:endParaRPr lang="en-US" altLang="en-US"/>
          </a:p>
          <a:p>
            <a:pPr>
              <a:lnSpc>
                <a:spcPct val="80000"/>
              </a:lnSpc>
            </a:pPr>
            <a:r>
              <a:rPr lang="en-US" altLang="en-US" b="1"/>
              <a:t>Work Done:</a:t>
            </a:r>
            <a:endParaRPr lang="en-US" altLang="en-US" b="1"/>
          </a:p>
          <a:p>
            <a:pPr>
              <a:lnSpc>
                <a:spcPct val="80000"/>
              </a:lnSpc>
            </a:pPr>
            <a:r>
              <a:rPr lang="en-US" altLang="en-US"/>
              <a:t>Developed an AI-enabled robot using ESP32-CAM for vision/object detection and ESP32 as the main controller. The object-detection model was trained using Edge Impulse with the FOMO architecture and deployed directly on the embedded hardware.</a:t>
            </a:r>
            <a:endParaRPr lang="en-US" altLang="en-US"/>
          </a:p>
          <a:p>
            <a:pPr>
              <a:lnSpc>
                <a:spcPct val="80000"/>
              </a:lnSpc>
            </a:pPr>
            <a:endParaRPr lang="en-US" altLang="en-US"/>
          </a:p>
          <a:p>
            <a:pPr>
              <a:lnSpc>
                <a:spcPct val="80000"/>
              </a:lnSpc>
            </a:pPr>
            <a:r>
              <a:rPr lang="en-US" altLang="en-US" b="1"/>
              <a:t>Results: </a:t>
            </a:r>
            <a:endParaRPr lang="en-US" altLang="en-US" b="1"/>
          </a:p>
          <a:p>
            <a:pPr>
              <a:lnSpc>
                <a:spcPct val="80000"/>
              </a:lnSpc>
            </a:pPr>
            <a:r>
              <a:rPr lang="en-US" altLang="en-US"/>
              <a:t>The trained model achieved 99.8% training accuracy with a compact model size of 82.3 KB. The robot achieved 100% detection success under optimal lighting, while performance decreased to 80% under less favorable lighting conditions.</a:t>
            </a:r>
            <a:endParaRPr lang="en-US" altLang="en-US"/>
          </a:p>
          <a:p>
            <a:pPr>
              <a:lnSpc>
                <a:spcPct val="80000"/>
              </a:lnSpc>
            </a:pPr>
            <a:endParaRPr lang="en-US" altLang="en-US"/>
          </a:p>
          <a:p>
            <a:pPr>
              <a:lnSpc>
                <a:spcPct val="80000"/>
              </a:lnSpc>
            </a:pPr>
            <a:r>
              <a:rPr lang="en-US" altLang="en-US" b="1">
                <a:sym typeface="+mn-ea"/>
              </a:rPr>
              <a:t>Limitations:</a:t>
            </a:r>
            <a:endParaRPr lang="en-US" altLang="en-US" b="1">
              <a:sym typeface="+mn-ea"/>
            </a:endParaRPr>
          </a:p>
          <a:p>
            <a:pPr>
              <a:lnSpc>
                <a:spcPct val="80000"/>
              </a:lnSpc>
            </a:pPr>
            <a:r>
              <a:rPr lang="en-US" altLang="en-US"/>
              <a:t>The system demonstrates embedded object detection but is not specifically designed for dark-store product recognition and autonomous product searching. It does not integrate product-location information, predefined robot paths, or product-specific handling.</a:t>
            </a:r>
            <a:endParaRPr lang="en-US" altLang="en-US"/>
          </a:p>
          <a:p>
            <a:pPr>
              <a:lnSpc>
                <a:spcPct val="80000"/>
              </a:lnSpc>
            </a:pPr>
            <a:endParaRPr lang="en-US" altLang="en-US"/>
          </a:p>
          <a:p>
            <a:pPr>
              <a:lnSpc>
                <a:spcPct val="80000"/>
              </a:lnSpc>
            </a:pPr>
            <a:r>
              <a:rPr lang="en-US" altLang="en-US" b="1"/>
              <a:t>Reference:</a:t>
            </a:r>
            <a:endParaRPr lang="en-US" altLang="en-US" b="1"/>
          </a:p>
          <a:p>
            <a:pPr>
              <a:lnSpc>
                <a:spcPct val="80000"/>
              </a:lnSpc>
            </a:pPr>
            <a:r>
              <a:rPr lang="en-US" altLang="en-US"/>
              <a:t>Robot Edukasi Object Detection Dengan Platform Edge Impulse, eProceedings of Engineering, Telkom University.</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-3</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891520" cy="5179060"/>
          </a:xfrm>
          <a:prstGeom prst="rect">
            <a:avLst/>
          </a:prstGeom>
          <a:noFill/>
        </p:spPr>
        <p:txBody>
          <a:bodyPr wrap="square" rtlCol="0" anchor="t">
            <a:spAutoFit/>
          </a:bodyPr>
          <a:p>
            <a:pPr>
              <a:lnSpc>
                <a:spcPct val="80000"/>
              </a:lnSpc>
            </a:pPr>
            <a:endParaRPr lang="en-US" altLang="en-US"/>
          </a:p>
          <a:p>
            <a:pPr>
              <a:lnSpc>
                <a:spcPct val="80000"/>
              </a:lnSpc>
            </a:pPr>
            <a:r>
              <a:rPr lang="en-US" altLang="en-US" b="1"/>
              <a:t>Title: </a:t>
            </a:r>
            <a:r>
              <a:rPr lang="en-US" altLang="en-US"/>
              <a:t>ESP32-S3 Object Identification using Edge Impulse</a:t>
            </a:r>
            <a:endParaRPr lang="en-US" altLang="en-US"/>
          </a:p>
          <a:p>
            <a:pPr>
              <a:lnSpc>
                <a:spcPct val="80000"/>
              </a:lnSpc>
            </a:pPr>
            <a:endParaRPr lang="en-US" altLang="en-US"/>
          </a:p>
          <a:p>
            <a:pPr>
              <a:lnSpc>
                <a:spcPct val="80000"/>
              </a:lnSpc>
            </a:pPr>
            <a:r>
              <a:rPr lang="en-US" altLang="en-US" b="1"/>
              <a:t>Platform:	 </a:t>
            </a:r>
            <a:r>
              <a:rPr lang="en-US" altLang="en-US"/>
              <a:t>XIAO ESP32-S3 + OV2640 Camera + Edge Impulse</a:t>
            </a:r>
            <a:endParaRPr lang="en-US" altLang="en-US"/>
          </a:p>
          <a:p>
            <a:pPr>
              <a:lnSpc>
                <a:spcPct val="80000"/>
              </a:lnSpc>
            </a:pPr>
            <a:endParaRPr lang="en-US" altLang="en-US"/>
          </a:p>
          <a:p>
            <a:pPr>
              <a:lnSpc>
                <a:spcPct val="80000"/>
              </a:lnSpc>
            </a:pPr>
            <a:r>
              <a:rPr lang="en-US" altLang="en-US" b="1"/>
              <a:t>Work Done:</a:t>
            </a:r>
            <a:endParaRPr lang="en-US" altLang="en-US" b="1"/>
          </a:p>
          <a:p>
            <a:pPr>
              <a:lnSpc>
                <a:spcPct val="80000"/>
              </a:lnSpc>
            </a:pPr>
            <a:r>
              <a:rPr lang="en-US" altLang="en-US"/>
              <a:t>Developed an embedded object-identification system using the ESP32-S3 camera platform. Images of different objects such as apple, banana, broccoli, and chilli were used to train an Edge Impulse model. The trained model was deployed on the ESP32-S3 to perform local image-based object recognition.</a:t>
            </a:r>
            <a:endParaRPr lang="en-US" altLang="en-US"/>
          </a:p>
          <a:p>
            <a:pPr>
              <a:lnSpc>
                <a:spcPct val="80000"/>
              </a:lnSpc>
            </a:pPr>
            <a:endParaRPr lang="en-US" altLang="en-US"/>
          </a:p>
          <a:p>
            <a:pPr>
              <a:lnSpc>
                <a:spcPct val="80000"/>
              </a:lnSpc>
            </a:pPr>
            <a:r>
              <a:rPr lang="en-US" altLang="en-US" b="1"/>
              <a:t>Results:</a:t>
            </a:r>
            <a:endParaRPr lang="en-US" altLang="en-US" b="1"/>
          </a:p>
          <a:p>
            <a:pPr>
              <a:lnSpc>
                <a:spcPct val="80000"/>
              </a:lnSpc>
            </a:pPr>
            <a:r>
              <a:rPr lang="en-US" altLang="en-US"/>
              <a:t>The ESP32-S3 successfully captured images and performed on-device predictions for the trained object classes, demonstrating that object recognition can be performed directly on a compact microcontroller-camera platform without requiring continuous cloud processing.</a:t>
            </a:r>
            <a:endParaRPr lang="en-US" altLang="en-US"/>
          </a:p>
          <a:p>
            <a:pPr>
              <a:lnSpc>
                <a:spcPct val="80000"/>
              </a:lnSpc>
            </a:pPr>
            <a:endParaRPr lang="en-US" altLang="en-US"/>
          </a:p>
          <a:p>
            <a:pPr>
              <a:lnSpc>
                <a:spcPct val="80000"/>
              </a:lnSpc>
            </a:pPr>
            <a:r>
              <a:rPr lang="en-US" altLang="en-US" b="1">
                <a:sym typeface="+mn-ea"/>
              </a:rPr>
              <a:t>Limitations:</a:t>
            </a:r>
            <a:endParaRPr lang="en-US" altLang="en-US" b="1">
              <a:sym typeface="+mn-ea"/>
            </a:endParaRPr>
          </a:p>
          <a:p>
            <a:pPr>
              <a:lnSpc>
                <a:spcPct val="80000"/>
              </a:lnSpc>
            </a:pPr>
            <a:r>
              <a:rPr lang="en-US" altLang="en-US"/>
              <a:t>The implementation focuses on object identification as a standalone embedded-vision application. It does not integrate the recognition system with an autonomous mobile robot, predefined-path navigation, product-location searching, or dark-store product handling.</a:t>
            </a:r>
            <a:endParaRPr lang="en-US" altLang="en-US"/>
          </a:p>
          <a:p>
            <a:pPr>
              <a:lnSpc>
                <a:spcPct val="80000"/>
              </a:lnSpc>
            </a:pPr>
            <a:endParaRPr lang="en-US" altLang="en-US"/>
          </a:p>
          <a:p>
            <a:pPr>
              <a:lnSpc>
                <a:spcPct val="80000"/>
              </a:lnSpc>
            </a:pPr>
            <a:r>
              <a:rPr lang="en-US" altLang="en-US" b="1"/>
              <a:t>Reference: </a:t>
            </a:r>
            <a:r>
              <a:rPr lang="en-US" altLang="en-US"/>
              <a:t>Tiny Prism Labs, “ESP32-S3 Object Identification using Edge Impulse,” GitHub.</a:t>
            </a:r>
            <a:endParaRPr lang="en-US" altLang="en-US"/>
          </a:p>
          <a:p>
            <a:pPr>
              <a:lnSpc>
                <a:spcPct val="80000"/>
              </a:lnSpc>
            </a:pPr>
            <a:endParaRPr lang="en-US" altLang="en-US"/>
          </a:p>
          <a:p>
            <a:pPr>
              <a:lnSpc>
                <a:spcPct val="80000"/>
              </a:lnSpc>
            </a:pPr>
            <a:r>
              <a:rPr lang="en-US" altLang="en-US" b="1"/>
              <a:t>Technical reference:</a:t>
            </a:r>
            <a:r>
              <a:rPr lang="en-US" altLang="en-US"/>
              <a:t> XIAO ESP32-S3 + Edge Impulse Object Identification.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-4</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891520" cy="5621655"/>
          </a:xfrm>
          <a:prstGeom prst="rect">
            <a:avLst/>
          </a:prstGeom>
          <a:noFill/>
        </p:spPr>
        <p:txBody>
          <a:bodyPr wrap="square" rtlCol="0" anchor="t">
            <a:spAutoFit/>
          </a:bodyPr>
          <a:p>
            <a:pPr>
              <a:lnSpc>
                <a:spcPct val="80000"/>
              </a:lnSpc>
            </a:pPr>
            <a:endParaRPr lang="en-US" altLang="en-US" b="1"/>
          </a:p>
          <a:p>
            <a:pPr>
              <a:lnSpc>
                <a:spcPct val="80000"/>
              </a:lnSpc>
            </a:pPr>
            <a:r>
              <a:rPr lang="en-US" altLang="en-US" b="1"/>
              <a:t>Title: </a:t>
            </a:r>
            <a:r>
              <a:rPr lang="en-US" altLang="en-US"/>
              <a:t>Design and Implementation of a Low-Cost IoT-Based Robotic Arm for Product Feeding and Sorting in Manufacturing Lines</a:t>
            </a:r>
            <a:endParaRPr lang="en-US" altLang="en-US"/>
          </a:p>
          <a:p>
            <a:pPr>
              <a:lnSpc>
                <a:spcPct val="80000"/>
              </a:lnSpc>
            </a:pPr>
            <a:endParaRPr lang="en-US" altLang="en-US"/>
          </a:p>
          <a:p>
            <a:pPr>
              <a:lnSpc>
                <a:spcPct val="80000"/>
              </a:lnSpc>
            </a:pPr>
            <a:r>
              <a:rPr lang="en-US" altLang="en-US" b="1"/>
              <a:t>Authors: </a:t>
            </a:r>
            <a:r>
              <a:rPr lang="en-US" altLang="en-US"/>
              <a:t>Serdar Yilmaz, Canan Akay, Feyzi Kaysi</a:t>
            </a:r>
            <a:endParaRPr lang="en-US" altLang="en-US"/>
          </a:p>
          <a:p>
            <a:pPr>
              <a:lnSpc>
                <a:spcPct val="80000"/>
              </a:lnSpc>
            </a:pPr>
            <a:endParaRPr lang="en-US" altLang="en-US"/>
          </a:p>
          <a:p>
            <a:pPr>
              <a:lnSpc>
                <a:spcPct val="80000"/>
              </a:lnSpc>
            </a:pPr>
            <a:r>
              <a:rPr lang="en-US" altLang="en-US" b="1"/>
              <a:t>Journal: </a:t>
            </a:r>
            <a:r>
              <a:rPr lang="en-US" altLang="en-US"/>
              <a:t>Electronics, 2025, 14, 4801.		</a:t>
            </a:r>
            <a:r>
              <a:rPr lang="en-US" altLang="en-US" b="1"/>
              <a:t>DOI: </a:t>
            </a:r>
            <a:r>
              <a:rPr lang="en-US" altLang="en-US"/>
              <a:t>10.3390/electronics14244801</a:t>
            </a:r>
            <a:endParaRPr lang="en-US" altLang="en-US"/>
          </a:p>
          <a:p>
            <a:pPr>
              <a:lnSpc>
                <a:spcPct val="80000"/>
              </a:lnSpc>
            </a:pPr>
            <a:endParaRPr lang="en-US" altLang="en-US"/>
          </a:p>
          <a:p>
            <a:pPr>
              <a:lnSpc>
                <a:spcPct val="80000"/>
              </a:lnSpc>
            </a:pPr>
            <a:r>
              <a:rPr lang="en-US" altLang="en-US" b="1"/>
              <a:t>Work Done: </a:t>
            </a:r>
            <a:endParaRPr lang="en-US" altLang="en-US" b="1"/>
          </a:p>
          <a:p>
            <a:pPr>
              <a:lnSpc>
                <a:spcPct val="80000"/>
              </a:lnSpc>
            </a:pPr>
            <a:r>
              <a:rPr lang="en-US" altLang="en-US"/>
              <a:t>Developed a low-cost automated product handling system using an ESP32 controller, servo motors, a 4-DOF mechanism and a parallel-jaw gripper. The system identifies products and automatically picks them from a conveyor and places them at predefined destinations. The ESP32 controls the sensing, decision-making and servo actuation.</a:t>
            </a:r>
            <a:endParaRPr lang="en-US" altLang="en-US"/>
          </a:p>
          <a:p>
            <a:pPr>
              <a:lnSpc>
                <a:spcPct val="80000"/>
              </a:lnSpc>
            </a:pPr>
            <a:endParaRPr lang="en-US" altLang="en-US"/>
          </a:p>
          <a:p>
            <a:pPr>
              <a:lnSpc>
                <a:spcPct val="80000"/>
              </a:lnSpc>
            </a:pPr>
            <a:r>
              <a:rPr lang="en-US" altLang="en-US" b="1"/>
              <a:t>Results:</a:t>
            </a:r>
            <a:endParaRPr lang="en-US" altLang="en-US" b="1"/>
          </a:p>
          <a:p>
            <a:pPr>
              <a:lnSpc>
                <a:spcPct val="80000"/>
              </a:lnSpc>
            </a:pPr>
            <a:r>
              <a:rPr lang="en-US" altLang="en-US"/>
              <a:t>The system successfully performed automated product feeding and sorting. Experimental testing reported an average 4.8 ± 0.3 s cycle time, 98.7% product-identification accuracy, and approximately 	±1.2° servo positioning error.</a:t>
            </a:r>
            <a:endParaRPr lang="en-US" altLang="en-US"/>
          </a:p>
          <a:p>
            <a:pPr>
              <a:lnSpc>
                <a:spcPct val="80000"/>
              </a:lnSpc>
            </a:pPr>
            <a:endParaRPr lang="en-US" altLang="en-US"/>
          </a:p>
          <a:p>
            <a:pPr>
              <a:lnSpc>
                <a:spcPct val="80000"/>
              </a:lnSpc>
            </a:pPr>
            <a:r>
              <a:rPr lang="en-US" altLang="en-US" b="1">
                <a:sym typeface="+mn-ea"/>
              </a:rPr>
              <a:t>Limitations:</a:t>
            </a:r>
            <a:r>
              <a:rPr lang="en-US" altLang="en-US"/>
              <a:t>	</a:t>
            </a:r>
            <a:endParaRPr lang="en-US" altLang="en-US"/>
          </a:p>
          <a:p>
            <a:pPr>
              <a:lnSpc>
                <a:spcPct val="80000"/>
              </a:lnSpc>
            </a:pPr>
            <a:r>
              <a:rPr lang="en-US" altLang="en-US"/>
              <a:t>The system relies on RFID-based product identification and predefined conveyor locations. It does 	not perform camera/AI-based product recognition followed by autonomous searching and picking in a dark-store environment. This provides scope for integrating Edge Impulse-based vision recognition 	with mobile path navigation and automated product handling.</a:t>
            </a:r>
            <a:endParaRPr lang="en-US" altLang="en-US"/>
          </a:p>
          <a:p>
            <a:pPr>
              <a:lnSpc>
                <a:spcPct val="80000"/>
              </a:lnSpc>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-5</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891520" cy="5179060"/>
          </a:xfrm>
          <a:prstGeom prst="rect">
            <a:avLst/>
          </a:prstGeom>
          <a:noFill/>
        </p:spPr>
        <p:txBody>
          <a:bodyPr wrap="square" rtlCol="0" anchor="t">
            <a:spAutoFit/>
          </a:bodyPr>
          <a:p>
            <a:pPr>
              <a:lnSpc>
                <a:spcPct val="80000"/>
              </a:lnSpc>
            </a:pPr>
            <a:endParaRPr lang="en-US" altLang="en-US" b="1"/>
          </a:p>
          <a:p>
            <a:pPr>
              <a:lnSpc>
                <a:spcPct val="80000"/>
              </a:lnSpc>
            </a:pPr>
            <a:r>
              <a:rPr lang="en-US" altLang="en-US" b="1"/>
              <a:t>Title: </a:t>
            </a:r>
            <a:r>
              <a:rPr lang="en-US" altLang="en-US"/>
              <a:t>Design, Development, and Experimental Validation of an Autonomous Material Handling Robot for Warehouse Automation</a:t>
            </a:r>
            <a:endParaRPr lang="en-US" altLang="en-US"/>
          </a:p>
          <a:p>
            <a:pPr>
              <a:lnSpc>
                <a:spcPct val="80000"/>
              </a:lnSpc>
            </a:pPr>
            <a:endParaRPr lang="en-US" altLang="en-US"/>
          </a:p>
          <a:p>
            <a:pPr>
              <a:lnSpc>
                <a:spcPct val="80000"/>
              </a:lnSpc>
            </a:pPr>
            <a:r>
              <a:rPr lang="en-US" altLang="en-US" b="1"/>
              <a:t>Authors:</a:t>
            </a:r>
            <a:r>
              <a:rPr lang="en-US" altLang="en-US"/>
              <a:t>	Chetan Zaware, Ramesh Gadakh, Pradeep Patil, Mayur Gitay, Javed Shaikh, Amol Ghule</a:t>
            </a:r>
            <a:endParaRPr lang="en-US" altLang="en-US"/>
          </a:p>
          <a:p>
            <a:pPr>
              <a:lnSpc>
                <a:spcPct val="80000"/>
              </a:lnSpc>
            </a:pPr>
            <a:endParaRPr lang="en-US" altLang="en-US"/>
          </a:p>
          <a:p>
            <a:pPr>
              <a:lnSpc>
                <a:spcPct val="80000"/>
              </a:lnSpc>
            </a:pPr>
            <a:r>
              <a:rPr lang="en-US" altLang="en-US" b="1"/>
              <a:t>Work Done: </a:t>
            </a:r>
            <a:endParaRPr lang="en-US" altLang="en-US" b="1"/>
          </a:p>
          <a:p>
            <a:pPr>
              <a:lnSpc>
                <a:spcPct val="80000"/>
              </a:lnSpc>
            </a:pPr>
            <a:r>
              <a:rPr lang="en-US" altLang="en-US"/>
              <a:t>Developed an autonomous warehouse robot integrating camera-based object detection, autonomous navigation, sensor fusion, and intelligent item handling. The system uses cameras, LiDAR and IMU sensors, with YOLOv5 for object detection and a Deep Q Network for navigation. An ESP32 is used in the hardware control layer.</a:t>
            </a:r>
            <a:endParaRPr lang="en-US" altLang="en-US"/>
          </a:p>
          <a:p>
            <a:pPr>
              <a:lnSpc>
                <a:spcPct val="80000"/>
              </a:lnSpc>
            </a:pPr>
            <a:endParaRPr lang="en-US" altLang="en-US"/>
          </a:p>
          <a:p>
            <a:pPr>
              <a:lnSpc>
                <a:spcPct val="80000"/>
              </a:lnSpc>
            </a:pPr>
            <a:r>
              <a:rPr lang="en-US" altLang="en-US" b="1"/>
              <a:t>Results:</a:t>
            </a:r>
            <a:endParaRPr lang="en-US" altLang="en-US" b="1"/>
          </a:p>
          <a:p>
            <a:pPr>
              <a:lnSpc>
                <a:spcPct val="80000"/>
              </a:lnSpc>
            </a:pPr>
            <a:r>
              <a:rPr lang="en-US" altLang="en-US"/>
              <a:t>Physical validation achieved 94.2% navigation success, 94.7% object-detection mAP, 97.8% correct-	item-picking accuracy, and 87.3% robot utilization.</a:t>
            </a:r>
            <a:endParaRPr lang="en-US" altLang="en-US"/>
          </a:p>
          <a:p>
            <a:pPr>
              <a:lnSpc>
                <a:spcPct val="80000"/>
              </a:lnSpc>
            </a:pPr>
            <a:endParaRPr lang="en-US" altLang="en-US"/>
          </a:p>
          <a:p>
            <a:pPr>
              <a:lnSpc>
                <a:spcPct val="80000"/>
              </a:lnSpc>
            </a:pPr>
            <a:r>
              <a:rPr lang="en-US" altLang="en-US" b="1">
                <a:sym typeface="+mn-ea"/>
              </a:rPr>
              <a:t>Limitations:</a:t>
            </a:r>
            <a:endParaRPr lang="en-US" altLang="en-US" b="1">
              <a:sym typeface="+mn-ea"/>
            </a:endParaRPr>
          </a:p>
          <a:p>
            <a:pPr>
              <a:lnSpc>
                <a:spcPct val="80000"/>
              </a:lnSpc>
            </a:pPr>
            <a:r>
              <a:rPr lang="en-US" altLang="en-US"/>
              <a:t>The system uses a relatively complex architecture involving LiDAR, ROS, Jetson Xavier NX, YOLOv5, 	SLAM and reinforcement learning. It does not specifically address lightweight ESP32-S3-based 	product recognition, predefined-path navigation, or a compact servo-driven product handling mechanism for dark-store applications. This creates scope for developing a simpler, low-cost integrated solution.</a:t>
            </a:r>
            <a:endParaRPr lang="en-US" altLang="en-US"/>
          </a:p>
          <a:p>
            <a:pPr>
              <a:lnSpc>
                <a:spcPct val="80000"/>
              </a:lnSpc>
            </a:pPr>
            <a:endParaRPr lang="en-US" altLang="en-US"/>
          </a:p>
          <a:p>
            <a:pPr>
              <a:lnSpc>
                <a:spcPct val="80000"/>
              </a:lnSpc>
            </a:pPr>
            <a:r>
              <a:rPr lang="en-US" altLang="en-US" b="1"/>
              <a:t>Reference: </a:t>
            </a:r>
            <a:r>
              <a:rPr lang="en-US" altLang="en-US"/>
              <a:t>C. Zaware et al., “Design, Development, and Experimental Validation of an Autonomous Material Handling Robot for Warehouse Automation,” Aposta: Revista de Ciencias Sociales, vol. 24, no. 114, 	e1008, 2026.</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-6</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974705" cy="5400675"/>
          </a:xfrm>
          <a:prstGeom prst="rect">
            <a:avLst/>
          </a:prstGeom>
          <a:noFill/>
        </p:spPr>
        <p:txBody>
          <a:bodyPr wrap="square" rtlCol="0" anchor="t">
            <a:spAutoFit/>
          </a:bodyPr>
          <a:p>
            <a:pPr>
              <a:lnSpc>
                <a:spcPct val="80000"/>
              </a:lnSpc>
            </a:pPr>
            <a:endParaRPr lang="en-US" altLang="en-US" b="1"/>
          </a:p>
          <a:p>
            <a:pPr>
              <a:lnSpc>
                <a:spcPct val="80000"/>
              </a:lnSpc>
            </a:pPr>
            <a:r>
              <a:rPr lang="en-US" altLang="en-US" b="1"/>
              <a:t>Title: </a:t>
            </a:r>
            <a:r>
              <a:rPr lang="en-US" altLang="en-US"/>
              <a:t>Vision-Based Mobile Handling for Dark Store Products</a:t>
            </a:r>
            <a:endParaRPr lang="en-US" altLang="en-US"/>
          </a:p>
          <a:p>
            <a:pPr>
              <a:lnSpc>
                <a:spcPct val="80000"/>
              </a:lnSpc>
            </a:pPr>
            <a:endParaRPr lang="en-US" altLang="en-US"/>
          </a:p>
          <a:p>
            <a:pPr>
              <a:lnSpc>
                <a:spcPct val="80000"/>
              </a:lnSpc>
            </a:pPr>
            <a:r>
              <a:rPr lang="en-US" altLang="en-US" b="1"/>
              <a:t>Year: </a:t>
            </a:r>
            <a:r>
              <a:rPr lang="en-US" altLang="en-US"/>
              <a:t>2022. 	</a:t>
            </a:r>
            <a:r>
              <a:rPr lang="en-US" altLang="en-US" b="1">
                <a:sym typeface="+mn-ea"/>
              </a:rPr>
              <a:t>DOI: </a:t>
            </a:r>
            <a:r>
              <a:rPr lang="en-US" altLang="en-US">
                <a:sym typeface="+mn-ea"/>
              </a:rPr>
              <a:t>10.1155/2022/3883845</a:t>
            </a:r>
            <a:endParaRPr lang="en-US" altLang="en-US"/>
          </a:p>
          <a:p>
            <a:pPr>
              <a:lnSpc>
                <a:spcPct val="80000"/>
              </a:lnSpc>
            </a:pPr>
            <a:endParaRPr lang="en-US" altLang="en-US" b="1"/>
          </a:p>
          <a:p>
            <a:pPr>
              <a:lnSpc>
                <a:spcPct val="80000"/>
              </a:lnSpc>
            </a:pPr>
            <a:r>
              <a:rPr lang="en-US" altLang="en-US" b="1"/>
              <a:t>Journal: </a:t>
            </a:r>
            <a:r>
              <a:rPr lang="en-US" altLang="en-US"/>
              <a:t>Mathematical Problems in Engineering.		</a:t>
            </a:r>
            <a:endParaRPr lang="en-US" altLang="en-US"/>
          </a:p>
          <a:p>
            <a:pPr>
              <a:lnSpc>
                <a:spcPct val="80000"/>
              </a:lnSpc>
            </a:pPr>
            <a:endParaRPr lang="en-US" altLang="en-US"/>
          </a:p>
          <a:p>
            <a:pPr>
              <a:lnSpc>
                <a:spcPct val="80000"/>
              </a:lnSpc>
            </a:pPr>
            <a:r>
              <a:rPr lang="en-US" altLang="en-US" b="1"/>
              <a:t>Authors:</a:t>
            </a:r>
            <a:r>
              <a:rPr lang="en-US" altLang="en-US"/>
              <a:t> M. Z. U. Rahman, M. Usman, A. Farea, N. Ahmad, I. Mahmood, M. Imran (2022)</a:t>
            </a:r>
            <a:endParaRPr lang="en-US" altLang="en-US"/>
          </a:p>
          <a:p>
            <a:pPr>
              <a:lnSpc>
                <a:spcPct val="80000"/>
              </a:lnSpc>
            </a:pPr>
            <a:endParaRPr lang="en-US" altLang="en-US"/>
          </a:p>
          <a:p>
            <a:pPr>
              <a:lnSpc>
                <a:spcPct val="80000"/>
              </a:lnSpc>
            </a:pPr>
            <a:r>
              <a:rPr lang="en-US" altLang="en-US" b="1"/>
              <a:t>Work Done: </a:t>
            </a:r>
            <a:endParaRPr lang="en-US" altLang="en-US" b="1"/>
          </a:p>
          <a:p>
            <a:pPr>
              <a:lnSpc>
                <a:spcPct val="80000"/>
              </a:lnSpc>
            </a:pPr>
            <a:r>
              <a:rPr lang="en-US" altLang="en-US"/>
              <a:t>Developed a mobile handling system using a 4-wheeled differential-drive platform, line-following navigation, barcode recognition (for section localization), and SIFT-based camera vision. A 5-DOF robotic arm picks the identified product and places it at the target location.</a:t>
            </a:r>
            <a:endParaRPr lang="en-US" altLang="en-US"/>
          </a:p>
          <a:p>
            <a:pPr>
              <a:lnSpc>
                <a:spcPct val="80000"/>
              </a:lnSpc>
            </a:pPr>
            <a:endParaRPr lang="en-US" altLang="en-US"/>
          </a:p>
          <a:p>
            <a:pPr>
              <a:lnSpc>
                <a:spcPct val="80000"/>
              </a:lnSpc>
            </a:pPr>
            <a:r>
              <a:rPr lang="en-US" altLang="en-US" b="1"/>
              <a:t>Results: </a:t>
            </a:r>
            <a:endParaRPr lang="en-US" altLang="en-US" b="1"/>
          </a:p>
          <a:p>
            <a:pPr>
              <a:lnSpc>
                <a:spcPct val="80000"/>
              </a:lnSpc>
            </a:pPr>
            <a:r>
              <a:rPr lang="en-US" altLang="en-US"/>
              <a:t>The prototype successfully validated line navigation, barcode section mapping, visual object detection, and 5-DOF pick-and-place actions. The study includes kinematic analysis (forward/inverse) and torque calculations.</a:t>
            </a:r>
            <a:endParaRPr lang="en-US" altLang="en-US"/>
          </a:p>
          <a:p>
            <a:pPr>
              <a:lnSpc>
                <a:spcPct val="80000"/>
              </a:lnSpc>
            </a:pPr>
            <a:endParaRPr lang="en-US" altLang="en-US"/>
          </a:p>
          <a:p>
            <a:pPr>
              <a:lnSpc>
                <a:spcPct val="80000"/>
              </a:lnSpc>
            </a:pPr>
            <a:r>
              <a:rPr lang="en-US" altLang="en-US" b="1">
                <a:sym typeface="+mn-ea"/>
              </a:rPr>
              <a:t>Limitations:</a:t>
            </a:r>
            <a:r>
              <a:rPr lang="en-US" altLang="en-US" b="1"/>
              <a:t> </a:t>
            </a:r>
            <a:endParaRPr lang="en-US" altLang="en-US" b="1"/>
          </a:p>
          <a:p>
            <a:pPr>
              <a:lnSpc>
                <a:spcPct val="80000"/>
              </a:lnSpc>
            </a:pPr>
            <a:r>
              <a:rPr lang="en-US" altLang="en-US"/>
              <a:t>The system uses a Raspberry Pi with traditional SIFT detection and barcodes. It lacks a lightweight edge AI setup (like ESP32-S3 + Edge Impulse) and does not integrate real-time customer orders with autonomous dark-store searching.</a:t>
            </a:r>
            <a:endParaRPr lang="en-US" altLang="en-US"/>
          </a:p>
          <a:p>
            <a:pPr>
              <a:lnSpc>
                <a:spcPct val="80000"/>
              </a:lnSpc>
            </a:pPr>
            <a:endParaRPr lang="en-US" altLang="en-US"/>
          </a:p>
          <a:p>
            <a:pPr>
              <a:lnSpc>
                <a:spcPct val="80000"/>
              </a:lnSpc>
            </a:pPr>
            <a:r>
              <a:rPr lang="en-US" altLang="en-US" b="1"/>
              <a:t>Citation:</a:t>
            </a:r>
            <a:r>
              <a:rPr lang="en-US" altLang="en-US"/>
              <a:t> 	M. Z. U. Rahman et al., “Vision-Based Mobile Manipulator for Handling and Transportation of Supermarket Products,” Mathematical Problems in Engineering, 2022, Art. 3883845.</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-7</a:t>
            </a:r>
            <a:endParaRPr lang="en-US" sz="3200" b="0" i="0" u="none">
              <a:solidFill>
                <a:schemeClr val="tx1"/>
              </a:solidFill>
              <a:latin typeface="Times New Roman" panose="02020603050405020304" charset="0"/>
              <a:cs typeface="Times New Roman" panose="02020603050405020304" charset="0"/>
            </a:endParaRPr>
          </a:p>
        </p:txBody>
      </p:sp>
      <p:sp>
        <p:nvSpPr>
          <p:cNvPr id="4" name="Text Box 3"/>
          <p:cNvSpPr txBox="1"/>
          <p:nvPr/>
        </p:nvSpPr>
        <p:spPr>
          <a:xfrm>
            <a:off x="571500" y="1092200"/>
            <a:ext cx="10891520" cy="5621655"/>
          </a:xfrm>
          <a:prstGeom prst="rect">
            <a:avLst/>
          </a:prstGeom>
          <a:noFill/>
        </p:spPr>
        <p:txBody>
          <a:bodyPr wrap="square" rtlCol="0" anchor="t">
            <a:spAutoFit/>
          </a:bodyPr>
          <a:p>
            <a:pPr algn="l">
              <a:lnSpc>
                <a:spcPct val="80000"/>
              </a:lnSpc>
            </a:pPr>
            <a:endParaRPr lang="en-US" altLang="en-US" b="1"/>
          </a:p>
          <a:p>
            <a:pPr algn="l">
              <a:lnSpc>
                <a:spcPct val="80000"/>
              </a:lnSpc>
            </a:pPr>
            <a:r>
              <a:rPr lang="en-US" altLang="en-US" b="1"/>
              <a:t>Title: </a:t>
            </a:r>
            <a:r>
              <a:rPr lang="en-US" altLang="en-US"/>
              <a:t>Enhanced Force Estimation and Autonomous Force Tuning Through Fusion of Tactile Sensor and Quasi-Direct Drive Gripper</a:t>
            </a:r>
            <a:endParaRPr lang="en-US" altLang="en-US"/>
          </a:p>
          <a:p>
            <a:pPr algn="l">
              <a:lnSpc>
                <a:spcPct val="80000"/>
              </a:lnSpc>
            </a:pPr>
            <a:endParaRPr lang="en-US" altLang="en-US"/>
          </a:p>
          <a:p>
            <a:pPr algn="l">
              <a:lnSpc>
                <a:spcPct val="80000"/>
              </a:lnSpc>
            </a:pPr>
            <a:r>
              <a:rPr lang="en-US" altLang="en-US" b="1"/>
              <a:t>Published in: </a:t>
            </a:r>
            <a:r>
              <a:rPr lang="en-US" altLang="en-US"/>
              <a:t>IEEE Sensors Journal, 2025</a:t>
            </a:r>
            <a:endParaRPr lang="en-US" altLang="en-US"/>
          </a:p>
          <a:p>
            <a:pPr algn="l">
              <a:lnSpc>
                <a:spcPct val="80000"/>
              </a:lnSpc>
            </a:pPr>
            <a:endParaRPr lang="en-US" altLang="en-US"/>
          </a:p>
          <a:p>
            <a:pPr algn="l">
              <a:lnSpc>
                <a:spcPct val="80000"/>
              </a:lnSpc>
            </a:pPr>
            <a:r>
              <a:rPr lang="en-US" altLang="en-US" b="1"/>
              <a:t>DOI: </a:t>
            </a:r>
            <a:r>
              <a:rPr lang="en-US" altLang="en-US"/>
              <a:t>10.1109/JSEN.2024.3504717</a:t>
            </a:r>
            <a:endParaRPr lang="en-US" altLang="en-US"/>
          </a:p>
          <a:p>
            <a:pPr algn="l">
              <a:lnSpc>
                <a:spcPct val="80000"/>
              </a:lnSpc>
            </a:pPr>
            <a:endParaRPr lang="en-US" altLang="en-US"/>
          </a:p>
          <a:p>
            <a:pPr algn="l">
              <a:lnSpc>
                <a:spcPct val="80000"/>
              </a:lnSpc>
            </a:pPr>
            <a:r>
              <a:rPr lang="en-US" altLang="en-US" b="1"/>
              <a:t>Work Done:</a:t>
            </a:r>
            <a:endParaRPr lang="en-US" altLang="en-US" b="1"/>
          </a:p>
          <a:p>
            <a:pPr algn="l">
              <a:lnSpc>
                <a:spcPct val="80000"/>
              </a:lnSpc>
            </a:pPr>
            <a:r>
              <a:rPr lang="en-US" altLang="en-US"/>
              <a:t>Developed a gripper system combining a tactile pressure sensor and gripper actuator to estimate grasping force and automatically adjust the gripping force. The system uses tactile feedback to determine whether sufficient force is being applied and to reduce the possibility of product slipping.</a:t>
            </a:r>
            <a:endParaRPr lang="en-US" altLang="en-US"/>
          </a:p>
          <a:p>
            <a:pPr algn="l">
              <a:lnSpc>
                <a:spcPct val="80000"/>
              </a:lnSpc>
            </a:pPr>
            <a:endParaRPr lang="en-US" altLang="en-US"/>
          </a:p>
          <a:p>
            <a:pPr algn="l">
              <a:lnSpc>
                <a:spcPct val="80000"/>
              </a:lnSpc>
            </a:pPr>
            <a:r>
              <a:rPr lang="en-US" altLang="en-US" b="1"/>
              <a:t>Results: </a:t>
            </a:r>
            <a:r>
              <a:rPr lang="en-US" altLang="en-US"/>
              <a:t>The proposed sensor-fusion method improved force estimation and enabled automatic grip-force adjustment. A slip-detection and control mechanism successfully grasped and lifted different objects with more than 90% success rates.</a:t>
            </a:r>
            <a:endParaRPr lang="en-US" altLang="en-US"/>
          </a:p>
          <a:p>
            <a:pPr algn="l">
              <a:lnSpc>
                <a:spcPct val="80000"/>
              </a:lnSpc>
            </a:pPr>
            <a:endParaRPr lang="en-US" altLang="en-US"/>
          </a:p>
          <a:p>
            <a:pPr algn="l">
              <a:lnSpc>
                <a:spcPct val="80000"/>
              </a:lnSpc>
            </a:pPr>
            <a:r>
              <a:rPr lang="en-US" altLang="en-US" b="1">
                <a:sym typeface="+mn-ea"/>
              </a:rPr>
              <a:t>Limitations:</a:t>
            </a:r>
            <a:endParaRPr lang="en-US" altLang="en-US" b="1">
              <a:sym typeface="+mn-ea"/>
            </a:endParaRPr>
          </a:p>
          <a:p>
            <a:pPr algn="l">
              <a:lnSpc>
                <a:spcPct val="80000"/>
              </a:lnSpc>
            </a:pPr>
            <a:r>
              <a:rPr lang="en-US" altLang="en-US"/>
              <a:t>The system uses a sophisticated tactile sensing and quasi-direct-drive setup. It does not specifically address a low-cost ESP32-controlled servo gripper for dark-store product handling. Your work can investigate a simpler force/contact-feedback mechanism suitable for embedded implementation.</a:t>
            </a:r>
            <a:endParaRPr lang="en-US" altLang="en-US"/>
          </a:p>
          <a:p>
            <a:pPr algn="l">
              <a:lnSpc>
                <a:spcPct val="80000"/>
              </a:lnSpc>
            </a:pPr>
            <a:endParaRPr lang="en-US" altLang="en-US"/>
          </a:p>
          <a:p>
            <a:pPr algn="l">
              <a:lnSpc>
                <a:spcPct val="80000"/>
              </a:lnSpc>
            </a:pPr>
            <a:r>
              <a:rPr lang="en-US" altLang="en-US" b="1"/>
              <a:t>Reference: </a:t>
            </a:r>
            <a:r>
              <a:rPr lang="en-US" altLang="en-US"/>
              <a:t>Enhanced Force Estimation and Autonomous Force Tuning Through Fusion of Tactile Sensor and Quasi-Direct Drive Gripper, IEEE Sensors Journal, 2025, DOI: 10.1109/JSEN.2024.3504717.</a:t>
            </a:r>
            <a:endParaRPr lang="en-US" altLang="en-US"/>
          </a:p>
          <a:p>
            <a:pPr algn="l">
              <a:lnSpc>
                <a:spcPct val="80000"/>
              </a:lnSpc>
            </a:pPr>
            <a:r>
              <a:rPr lang="en-US" altLang="en-US"/>
              <a:t>IEEE Xplore — Full Paper</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Paper -8</a:t>
            </a:r>
            <a:endParaRPr lang="en-US" sz="3200" b="0" i="0" u="none">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571500" y="1092200"/>
            <a:ext cx="10891520" cy="5400675"/>
          </a:xfrm>
          <a:prstGeom prst="rect">
            <a:avLst/>
          </a:prstGeom>
          <a:noFill/>
        </p:spPr>
        <p:txBody>
          <a:bodyPr wrap="square" rtlCol="0" anchor="t">
            <a:spAutoFit/>
          </a:bodyPr>
          <a:p>
            <a:pPr algn="l">
              <a:lnSpc>
                <a:spcPct val="80000"/>
              </a:lnSpc>
            </a:pPr>
            <a:endParaRPr lang="en-US" altLang="en-US"/>
          </a:p>
          <a:p>
            <a:pPr algn="l">
              <a:lnSpc>
                <a:spcPct val="80000"/>
              </a:lnSpc>
            </a:pPr>
            <a:r>
              <a:rPr lang="en-US" altLang="en-US" b="1"/>
              <a:t>Title: </a:t>
            </a:r>
            <a:r>
              <a:rPr lang="en-US" altLang="en-US"/>
              <a:t>Deep Learning LSTM-Based Slip Detection for Robotic Grasping</a:t>
            </a:r>
            <a:endParaRPr lang="en-US" altLang="en-US"/>
          </a:p>
          <a:p>
            <a:pPr algn="l">
              <a:lnSpc>
                <a:spcPct val="80000"/>
              </a:lnSpc>
            </a:pPr>
            <a:endParaRPr lang="en-US" altLang="en-US"/>
          </a:p>
          <a:p>
            <a:pPr algn="l">
              <a:lnSpc>
                <a:spcPct val="80000"/>
              </a:lnSpc>
            </a:pPr>
            <a:r>
              <a:rPr lang="en-US" altLang="en-US" b="1"/>
              <a:t>Conference: </a:t>
            </a:r>
            <a:r>
              <a:rPr lang="en-US" altLang="en-US"/>
              <a:t>IEEE IECON 2023</a:t>
            </a:r>
            <a:endParaRPr lang="en-US" altLang="en-US"/>
          </a:p>
          <a:p>
            <a:pPr algn="l">
              <a:lnSpc>
                <a:spcPct val="80000"/>
              </a:lnSpc>
            </a:pPr>
            <a:endParaRPr lang="en-US" altLang="en-US"/>
          </a:p>
          <a:p>
            <a:pPr algn="l">
              <a:lnSpc>
                <a:spcPct val="80000"/>
              </a:lnSpc>
            </a:pPr>
            <a:r>
              <a:rPr lang="en-US" altLang="en-US" b="1"/>
              <a:t>DOI: </a:t>
            </a:r>
            <a:r>
              <a:rPr lang="en-US" altLang="en-US"/>
              <a:t>10.1109/IECON51785.2023.10311615</a:t>
            </a:r>
            <a:endParaRPr lang="en-US" altLang="en-US"/>
          </a:p>
          <a:p>
            <a:pPr algn="l">
              <a:lnSpc>
                <a:spcPct val="80000"/>
              </a:lnSpc>
            </a:pPr>
            <a:endParaRPr lang="en-US" altLang="en-US"/>
          </a:p>
          <a:p>
            <a:pPr algn="l">
              <a:lnSpc>
                <a:spcPct val="80000"/>
              </a:lnSpc>
            </a:pPr>
            <a:r>
              <a:rPr lang="en-US" altLang="en-US" b="1"/>
              <a:t>Work Done:</a:t>
            </a:r>
            <a:r>
              <a:rPr lang="en-US" altLang="en-US"/>
              <a:t>	</a:t>
            </a:r>
            <a:endParaRPr lang="en-US" altLang="en-US"/>
          </a:p>
          <a:p>
            <a:pPr algn="l">
              <a:lnSpc>
                <a:spcPct val="80000"/>
              </a:lnSpc>
            </a:pPr>
            <a:r>
              <a:rPr lang="en-US" altLang="en-US"/>
              <a:t>Developed a tactile-feedback-based system for detecting object slipping during robotic grasping. Tactile sensors were placed at the gripper fingertips and used to monitor the grasp during lifting.</a:t>
            </a:r>
            <a:endParaRPr lang="en-US" altLang="en-US"/>
          </a:p>
          <a:p>
            <a:pPr algn="l">
              <a:lnSpc>
                <a:spcPct val="80000"/>
              </a:lnSpc>
            </a:pPr>
            <a:endParaRPr lang="en-US" altLang="en-US"/>
          </a:p>
          <a:p>
            <a:pPr algn="l">
              <a:lnSpc>
                <a:spcPct val="80000"/>
              </a:lnSpc>
            </a:pPr>
            <a:r>
              <a:rPr lang="en-US" altLang="en-US" b="1"/>
              <a:t>Results:</a:t>
            </a:r>
            <a:endParaRPr lang="en-US" altLang="en-US" b="1"/>
          </a:p>
          <a:p>
            <a:pPr algn="l">
              <a:lnSpc>
                <a:spcPct val="80000"/>
              </a:lnSpc>
            </a:pPr>
            <a:r>
              <a:rPr lang="en-US" altLang="en-US"/>
              <a:t>The system successfully detected slipping and demonstrated that slip feedback can be used to improve grasp stability and prevent objects from being dropped.</a:t>
            </a:r>
            <a:endParaRPr lang="en-US" altLang="en-US"/>
          </a:p>
          <a:p>
            <a:pPr algn="l">
              <a:lnSpc>
                <a:spcPct val="80000"/>
              </a:lnSpc>
            </a:pPr>
            <a:endParaRPr lang="en-US" altLang="en-US"/>
          </a:p>
          <a:p>
            <a:pPr algn="l">
              <a:lnSpc>
                <a:spcPct val="80000"/>
              </a:lnSpc>
            </a:pPr>
            <a:r>
              <a:rPr lang="en-US" altLang="en-US" b="1">
                <a:sym typeface="+mn-ea"/>
              </a:rPr>
              <a:t>Limitations:</a:t>
            </a:r>
            <a:endParaRPr lang="en-US" altLang="en-US" b="1">
              <a:sym typeface="+mn-ea"/>
            </a:endParaRPr>
          </a:p>
          <a:p>
            <a:pPr algn="l">
              <a:lnSpc>
                <a:spcPct val="80000"/>
              </a:lnSpc>
            </a:pPr>
            <a:r>
              <a:rPr lang="en-US" altLang="en-US"/>
              <a:t>The system relies on tactile imaging and deep-learning-based slip detection, which is more complex than required for your embedded robot. A simpler pressure/contact threshold with ESP32 feedback could provide a lightweight method for determining whether the product has been securely picked.</a:t>
            </a:r>
            <a:endParaRPr lang="en-US" altLang="en-US"/>
          </a:p>
          <a:p>
            <a:pPr algn="l">
              <a:lnSpc>
                <a:spcPct val="80000"/>
              </a:lnSpc>
            </a:pPr>
            <a:endParaRPr lang="en-US" altLang="en-US"/>
          </a:p>
          <a:p>
            <a:pPr algn="l">
              <a:lnSpc>
                <a:spcPct val="80000"/>
              </a:lnSpc>
            </a:pPr>
            <a:r>
              <a:rPr lang="en-US" altLang="en-US" b="1"/>
              <a:t>Reference: </a:t>
            </a:r>
            <a:r>
              <a:rPr lang="en-US" altLang="en-US"/>
              <a:t>Deep Learning LSTM-Based Slip Detection for Robotic Grasping, 2023 IEEE 49th Annual Conference 			of the IEEE Industrial Electronics Society (IECON), DOI: 10.1109/IECON51785.2023.10311615.</a:t>
            </a:r>
            <a:endParaRPr lang="en-US" altLang="en-US"/>
          </a:p>
          <a:p>
            <a:pPr algn="l">
              <a:lnSpc>
                <a:spcPct val="80000"/>
              </a:lnSpc>
            </a:pPr>
            <a:endParaRPr lang="en-US" altLang="en-US"/>
          </a:p>
          <a:p>
            <a:pPr algn="l">
              <a:lnSpc>
                <a:spcPct val="80000"/>
              </a:lnSpc>
            </a:pPr>
            <a:r>
              <a:rPr lang="en-US" altLang="en-US"/>
              <a:t>IEEE Xplore — Deep Learning LSTM-Based Slip Detection</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Research Gap</a:t>
            </a:r>
            <a:endParaRPr lang="en-US" sz="3200" b="0" i="0" u="none">
              <a:solidFill>
                <a:schemeClr val="tx1"/>
              </a:solidFill>
              <a:latin typeface="Times New Roman" panose="02020603050405020304" charset="0"/>
              <a:cs typeface="Times New Roman" panose="02020603050405020304" charset="0"/>
            </a:endParaRPr>
          </a:p>
        </p:txBody>
      </p:sp>
      <p:sp>
        <p:nvSpPr>
          <p:cNvPr id="3" name="Text Box 2"/>
          <p:cNvSpPr txBox="1"/>
          <p:nvPr/>
        </p:nvSpPr>
        <p:spPr>
          <a:xfrm>
            <a:off x="571500" y="1120775"/>
            <a:ext cx="10891520" cy="4498340"/>
          </a:xfrm>
          <a:prstGeom prst="rect">
            <a:avLst/>
          </a:prstGeom>
          <a:noFill/>
        </p:spPr>
        <p:txBody>
          <a:bodyPr wrap="square" rtlCol="0" anchor="t">
            <a:spAutoFit/>
          </a:bodyPr>
          <a:p>
            <a:pPr>
              <a:lnSpc>
                <a:spcPct val="80000"/>
              </a:lnSpc>
            </a:pPr>
            <a:endParaRPr lang="en-US" altLang="en-US"/>
          </a:p>
          <a:p>
            <a:pPr marL="285750" indent="-285750">
              <a:lnSpc>
                <a:spcPct val="80000"/>
              </a:lnSpc>
              <a:buFont typeface="Wingdings" panose="05000000000000000000" charset="0"/>
              <a:buChar char="Ø"/>
            </a:pPr>
            <a:r>
              <a:rPr lang="en-US" altLang="en-US" sz="2000"/>
              <a:t>Existing studies mainly focus on individual components such as line following, object detection, or robotic handling.</a:t>
            </a:r>
            <a:endParaRPr lang="en-US" altLang="en-US" sz="2000"/>
          </a:p>
          <a:p>
            <a:pPr marL="285750" indent="-285750">
              <a:lnSpc>
                <a:spcPct val="80000"/>
              </a:lnSpc>
              <a:buFont typeface="Wingdings" panose="05000000000000000000" charset="0"/>
              <a:buChar char="Ø"/>
            </a:pPr>
            <a:endParaRPr lang="en-US" altLang="en-US" sz="2000"/>
          </a:p>
          <a:p>
            <a:pPr marL="285750" indent="-285750">
              <a:lnSpc>
                <a:spcPct val="80000"/>
              </a:lnSpc>
              <a:buFont typeface="Wingdings" panose="05000000000000000000" charset="0"/>
              <a:buChar char="Ø"/>
            </a:pPr>
            <a:r>
              <a:rPr lang="en-US" altLang="en-US" sz="2000"/>
              <a:t>Existing vision systems demonstrate object recognition on embedded platforms, but are not integrated with mobile robot navigation and product retrieval.</a:t>
            </a:r>
            <a:endParaRPr lang="en-US" altLang="en-US" sz="2000"/>
          </a:p>
          <a:p>
            <a:pPr marL="285750" indent="-285750">
              <a:lnSpc>
                <a:spcPct val="80000"/>
              </a:lnSpc>
              <a:buFont typeface="Wingdings" panose="05000000000000000000" charset="0"/>
              <a:buChar char="Ø"/>
            </a:pPr>
            <a:endParaRPr lang="en-US" altLang="en-US" sz="2000"/>
          </a:p>
          <a:p>
            <a:pPr marL="285750" indent="-285750">
              <a:lnSpc>
                <a:spcPct val="80000"/>
              </a:lnSpc>
              <a:buFont typeface="Wingdings" panose="05000000000000000000" charset="0"/>
              <a:buChar char="Ø"/>
            </a:pPr>
            <a:r>
              <a:rPr lang="en-US" altLang="en-US" sz="2000"/>
              <a:t>Product-handling systems often depend on RFID, fixed locations, or complex sensing mechanisms rather than lightweight vision-based identification.</a:t>
            </a:r>
            <a:endParaRPr lang="en-US" altLang="en-US" sz="2000"/>
          </a:p>
          <a:p>
            <a:pPr marL="285750" indent="-285750">
              <a:lnSpc>
                <a:spcPct val="80000"/>
              </a:lnSpc>
              <a:buFont typeface="Wingdings" panose="05000000000000000000" charset="0"/>
              <a:buChar char="Ø"/>
            </a:pPr>
            <a:endParaRPr lang="en-US" altLang="en-US" sz="2000"/>
          </a:p>
          <a:p>
            <a:pPr marL="285750" indent="-285750">
              <a:lnSpc>
                <a:spcPct val="80000"/>
              </a:lnSpc>
              <a:buFont typeface="Wingdings" panose="05000000000000000000" charset="0"/>
              <a:buChar char="Ø"/>
            </a:pPr>
            <a:r>
              <a:rPr lang="en-US" altLang="en-US" sz="2000"/>
              <a:t>Advanced warehouse robots use complex and costly architectures involving LiDAR, ROS, SLAM, and high-end computing platforms.</a:t>
            </a:r>
            <a:endParaRPr lang="en-US" altLang="en-US" sz="2000"/>
          </a:p>
          <a:p>
            <a:pPr marL="285750" indent="-285750">
              <a:lnSpc>
                <a:spcPct val="80000"/>
              </a:lnSpc>
              <a:buFont typeface="Wingdings" panose="05000000000000000000" charset="0"/>
              <a:buChar char="Ø"/>
            </a:pPr>
            <a:endParaRPr lang="en-US" altLang="en-US" sz="2000"/>
          </a:p>
          <a:p>
            <a:pPr marL="285750" indent="-285750">
              <a:lnSpc>
                <a:spcPct val="80000"/>
              </a:lnSpc>
              <a:buFont typeface="Wingdings" panose="05000000000000000000" charset="0"/>
              <a:buChar char="Ø"/>
            </a:pPr>
            <a:r>
              <a:rPr lang="en-US" altLang="en-US" sz="2000"/>
              <a:t>Limited work integrates customer orders, robot navigation, AI-based product verification, and automated handling into a single system.</a:t>
            </a:r>
            <a:endParaRPr lang="en-US" altLang="en-US" sz="2000"/>
          </a:p>
          <a:p>
            <a:pPr marL="285750" indent="-285750">
              <a:lnSpc>
                <a:spcPct val="80000"/>
              </a:lnSpc>
              <a:buFont typeface="Wingdings" panose="05000000000000000000" charset="0"/>
              <a:buChar char="Ø"/>
            </a:pPr>
            <a:endParaRPr lang="en-US" altLang="en-US" sz="2000"/>
          </a:p>
          <a:p>
            <a:pPr marL="285750" indent="-285750">
              <a:lnSpc>
                <a:spcPct val="80000"/>
              </a:lnSpc>
              <a:buFont typeface="Wingdings" panose="05000000000000000000" charset="0"/>
              <a:buChar char="Ø"/>
            </a:pPr>
            <a:r>
              <a:rPr lang="en-US" altLang="en-US" sz="2000"/>
              <a:t>Therefore, there is a need for a low-cost, lightweight, end-to-end vision-based robot for automated product handling in dark stores.</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571500" y="571500"/>
            <a:ext cx="11601450" cy="492125"/>
          </a:xfrm>
          <a:prstGeom prst="rect">
            <a:avLst/>
          </a:prstGeom>
          <a:noFill/>
        </p:spPr>
        <p:txBody>
          <a:bodyPr wrap="square" lIns="0" tIns="0" rIns="0" bIns="0" anchor="t">
            <a:spAutoFit/>
          </a:bodyPr>
          <a:lstStyle/>
          <a:p>
            <a:pPr algn="l"/>
            <a:r>
              <a:rPr lang="en-US" sz="3200" b="0" i="0" u="none">
                <a:solidFill>
                  <a:schemeClr val="tx1"/>
                </a:solidFill>
                <a:latin typeface="Times New Roman" panose="02020603050405020304" charset="0"/>
                <a:cs typeface="Times New Roman" panose="02020603050405020304" charset="0"/>
              </a:rPr>
              <a:t>Proposed Solution</a:t>
            </a:r>
            <a:endParaRPr lang="en-US" sz="3200" b="0" i="0" u="none">
              <a:solidFill>
                <a:schemeClr val="tx1"/>
              </a:solidFill>
              <a:latin typeface="Times New Roman" panose="02020603050405020304" charset="0"/>
              <a:cs typeface="Times New Roman" panose="02020603050405020304" charset="0"/>
            </a:endParaRPr>
          </a:p>
        </p:txBody>
      </p:sp>
      <p:sp>
        <p:nvSpPr>
          <p:cNvPr id="2" name="Text Box 1"/>
          <p:cNvSpPr txBox="1"/>
          <p:nvPr/>
        </p:nvSpPr>
        <p:spPr>
          <a:xfrm>
            <a:off x="571500" y="1092200"/>
            <a:ext cx="10891520" cy="5262245"/>
          </a:xfrm>
          <a:prstGeom prst="rect">
            <a:avLst/>
          </a:prstGeom>
          <a:noFill/>
        </p:spPr>
        <p:txBody>
          <a:bodyPr wrap="square" rtlCol="0" anchor="t">
            <a:spAutoFit/>
          </a:bodyPr>
          <a:p>
            <a:pPr>
              <a:lnSpc>
                <a:spcPct val="80000"/>
              </a:lnSpc>
            </a:pPr>
            <a:endParaRPr lang="en-US" altLang="en-US" sz="2000"/>
          </a:p>
          <a:p>
            <a:pPr marL="342900" indent="-342900">
              <a:lnSpc>
                <a:spcPct val="80000"/>
              </a:lnSpc>
              <a:buFont typeface="Wingdings" panose="05000000000000000000" charset="0"/>
              <a:buChar char="ü"/>
            </a:pPr>
            <a:r>
              <a:rPr lang="en-US" altLang="en-US" sz="2000" b="1"/>
              <a:t>Digital Order Management: </a:t>
            </a:r>
            <a:endParaRPr lang="en-US" altLang="en-US" sz="2000" b="1"/>
          </a:p>
          <a:p>
            <a:pPr>
              <a:lnSpc>
                <a:spcPct val="80000"/>
              </a:lnSpc>
            </a:pPr>
            <a:r>
              <a:rPr lang="en-US" altLang="en-US" sz="2000"/>
              <a:t>A web application allows users to select required products and quantities, which are stored in the backend/database.</a:t>
            </a:r>
            <a:endParaRPr lang="en-US" altLang="en-US" sz="2000"/>
          </a:p>
          <a:p>
            <a:pPr>
              <a:lnSpc>
                <a:spcPct val="80000"/>
              </a:lnSpc>
            </a:pPr>
            <a:endParaRPr lang="en-US" altLang="en-US" sz="2000"/>
          </a:p>
          <a:p>
            <a:pPr marL="342900" indent="-342900">
              <a:lnSpc>
                <a:spcPct val="80000"/>
              </a:lnSpc>
              <a:buFont typeface="Wingdings" panose="05000000000000000000" charset="0"/>
              <a:buChar char="ü"/>
            </a:pPr>
            <a:r>
              <a:rPr lang="en-US" altLang="en-US" sz="2000" b="1"/>
              <a:t>Wireless Order Transfer: </a:t>
            </a:r>
            <a:endParaRPr lang="en-US" altLang="en-US" sz="2000" b="1"/>
          </a:p>
          <a:p>
            <a:pPr>
              <a:lnSpc>
                <a:spcPct val="80000"/>
              </a:lnSpc>
            </a:pPr>
            <a:r>
              <a:rPr lang="en-US" altLang="en-US" sz="2000"/>
              <a:t>The selected order is transmitted to the ESP32-based robot for automated execution.</a:t>
            </a:r>
            <a:endParaRPr lang="en-US" altLang="en-US" sz="2000"/>
          </a:p>
          <a:p>
            <a:pPr>
              <a:lnSpc>
                <a:spcPct val="80000"/>
              </a:lnSpc>
            </a:pPr>
            <a:endParaRPr lang="en-US" altLang="en-US" sz="2000"/>
          </a:p>
          <a:p>
            <a:pPr marL="342900" indent="-342900">
              <a:lnSpc>
                <a:spcPct val="80000"/>
              </a:lnSpc>
              <a:buFont typeface="Wingdings" panose="05000000000000000000" charset="0"/>
              <a:buChar char="ü"/>
            </a:pPr>
            <a:r>
              <a:rPr lang="en-US" altLang="en-US" sz="2000" b="1"/>
              <a:t>Autonomous Navigation: </a:t>
            </a:r>
            <a:endParaRPr lang="en-US" altLang="en-US" sz="2000" b="1"/>
          </a:p>
          <a:p>
            <a:pPr>
              <a:lnSpc>
                <a:spcPct val="80000"/>
              </a:lnSpc>
            </a:pPr>
            <a:r>
              <a:rPr lang="en-US" altLang="en-US" sz="2000"/>
              <a:t>The robot follows a predefined path using IR sensors and reaches the designated product locations.</a:t>
            </a:r>
            <a:endParaRPr lang="en-US" altLang="en-US" sz="2000"/>
          </a:p>
          <a:p>
            <a:pPr>
              <a:lnSpc>
                <a:spcPct val="80000"/>
              </a:lnSpc>
            </a:pPr>
            <a:endParaRPr lang="en-US" altLang="en-US" sz="2000"/>
          </a:p>
          <a:p>
            <a:pPr marL="342900" indent="-342900">
              <a:lnSpc>
                <a:spcPct val="80000"/>
              </a:lnSpc>
              <a:buFont typeface="Wingdings" panose="05000000000000000000" charset="0"/>
              <a:buChar char="ü"/>
            </a:pPr>
            <a:r>
              <a:rPr lang="en-US" altLang="en-US" sz="2000" b="1"/>
              <a:t>AI-Based Product Verification: </a:t>
            </a:r>
            <a:endParaRPr lang="en-US" altLang="en-US" sz="2000" b="1"/>
          </a:p>
          <a:p>
            <a:pPr>
              <a:lnSpc>
                <a:spcPct val="80000"/>
              </a:lnSpc>
            </a:pPr>
            <a:r>
              <a:rPr lang="en-US" altLang="en-US" sz="2000"/>
              <a:t>An onboard camera and computer vision identify and verify the required product before handling.</a:t>
            </a:r>
            <a:endParaRPr lang="en-US" altLang="en-US" sz="2000"/>
          </a:p>
          <a:p>
            <a:pPr>
              <a:lnSpc>
                <a:spcPct val="80000"/>
              </a:lnSpc>
            </a:pPr>
            <a:endParaRPr lang="en-US" altLang="en-US" sz="2000"/>
          </a:p>
          <a:p>
            <a:pPr marL="342900" indent="-342900">
              <a:lnSpc>
                <a:spcPct val="80000"/>
              </a:lnSpc>
              <a:buFont typeface="Wingdings" panose="05000000000000000000" charset="0"/>
              <a:buChar char="ü"/>
            </a:pPr>
            <a:r>
              <a:rPr lang="en-US" altLang="en-US" sz="2000" b="1"/>
              <a:t>Automated Product Handling: </a:t>
            </a:r>
            <a:endParaRPr lang="en-US" altLang="en-US" sz="2000" b="1"/>
          </a:p>
          <a:p>
            <a:pPr>
              <a:lnSpc>
                <a:spcPct val="80000"/>
              </a:lnSpc>
            </a:pPr>
            <a:r>
              <a:rPr lang="en-US" altLang="en-US" sz="2000"/>
              <a:t>A servo-driven pick-and-place mechanism collects the verified product and places it into the shopping basket.</a:t>
            </a:r>
            <a:endParaRPr lang="en-US" altLang="en-US" sz="2000"/>
          </a:p>
          <a:p>
            <a:pPr>
              <a:lnSpc>
                <a:spcPct val="80000"/>
              </a:lnSpc>
            </a:pPr>
            <a:endParaRPr lang="en-US" altLang="en-US" sz="2000"/>
          </a:p>
          <a:p>
            <a:pPr marL="342900" indent="-342900">
              <a:lnSpc>
                <a:spcPct val="80000"/>
              </a:lnSpc>
              <a:buFont typeface="Wingdings" panose="05000000000000000000" charset="0"/>
              <a:buChar char="ü"/>
            </a:pPr>
            <a:r>
              <a:rPr lang="en-US" altLang="en-US" sz="2000" b="1"/>
              <a:t>End-to-End Automation: </a:t>
            </a:r>
            <a:endParaRPr lang="en-US" altLang="en-US" sz="2000" b="1"/>
          </a:p>
          <a:p>
            <a:pPr>
              <a:lnSpc>
                <a:spcPct val="80000"/>
              </a:lnSpc>
            </a:pPr>
            <a:r>
              <a:rPr lang="en-US" altLang="en-US" sz="2000"/>
              <a:t>The robot repeats the process for all selected products, returns to the starting point, and synchronizes the completed order with the web application for billing.</a:t>
            </a: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11" name="TextBox 10"/>
          <p:cNvSpPr txBox="1"/>
          <p:nvPr/>
        </p:nvSpPr>
        <p:spPr>
          <a:xfrm>
            <a:off x="571500" y="666750"/>
            <a:ext cx="11601450" cy="507365"/>
          </a:xfrm>
          <a:prstGeom prst="rect">
            <a:avLst/>
          </a:prstGeom>
          <a:noFill/>
        </p:spPr>
        <p:txBody>
          <a:bodyPr wrap="square" lIns="0" tIns="0" rIns="0" bIns="0" anchor="t">
            <a:spAutoFit/>
          </a:bodyPr>
          <a:lstStyle/>
          <a:p>
            <a:pPr algn="l"/>
            <a:r>
              <a:rPr lang="en-US" sz="3300" b="0" i="0" u="none">
                <a:solidFill>
                  <a:schemeClr val="tx1"/>
                </a:solidFill>
                <a:latin typeface="Times New Roman" panose="02020603050405020304" charset="0"/>
                <a:cs typeface="Times New Roman" panose="02020603050405020304" charset="0"/>
              </a:rPr>
              <a:t>Block Diagram</a:t>
            </a:r>
            <a:endParaRPr lang="en-US" sz="3300" b="0" i="0" u="none">
              <a:solidFill>
                <a:schemeClr val="tx1"/>
              </a:solidFill>
              <a:latin typeface="Times New Roman" panose="02020603050405020304" charset="0"/>
              <a:cs typeface="Times New Roman" panose="02020603050405020304" charset="0"/>
            </a:endParaRPr>
          </a:p>
        </p:txBody>
      </p:sp>
      <p:pic>
        <p:nvPicPr>
          <p:cNvPr id="3" name="Picture 2" descr="flowchart_bw"/>
          <p:cNvPicPr>
            <a:picLocks noChangeAspect="1"/>
          </p:cNvPicPr>
          <p:nvPr/>
        </p:nvPicPr>
        <p:blipFill>
          <a:blip r:embed="rId2"/>
          <a:stretch>
            <a:fillRect/>
          </a:stretch>
        </p:blipFill>
        <p:spPr>
          <a:xfrm>
            <a:off x="1884680" y="1356995"/>
            <a:ext cx="8422640" cy="47377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2580" y="2644775"/>
            <a:ext cx="11546840" cy="1568450"/>
          </a:xfrm>
          <a:prstGeom prst="rect">
            <a:avLst/>
          </a:prstGeom>
          <a:noFill/>
        </p:spPr>
        <p:txBody>
          <a:bodyPr wrap="square" rtlCol="0">
            <a:spAutoFit/>
          </a:bodyPr>
          <a:p>
            <a:pPr algn="ctr"/>
            <a:r>
              <a:rPr lang="en-US" sz="9600">
                <a:latin typeface="Caladea" panose="02000506000000020000" charset="0"/>
                <a:cs typeface="Caladea" panose="02000506000000020000" charset="0"/>
              </a:rPr>
              <a:t>Thank You!</a:t>
            </a:r>
            <a:endParaRPr lang="en-US" sz="9600">
              <a:latin typeface="Caladea" panose="02000506000000020000" charset="0"/>
              <a:cs typeface="Caladea" panose="02000506000000020000"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13005</Words>
  <Application>WPS Presentation</Application>
  <PresentationFormat>On-screen Show (4:3)</PresentationFormat>
  <Paragraphs>235</Paragraphs>
  <Slides>15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SimSun</vt:lpstr>
      <vt:lpstr>Wingdings</vt:lpstr>
      <vt:lpstr>Arial</vt:lpstr>
      <vt:lpstr>Times New Roman</vt:lpstr>
      <vt:lpstr>Wingdings</vt:lpstr>
      <vt:lpstr>Caladea</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WPS_1761144824</cp:lastModifiedBy>
  <cp:revision>13</cp:revision>
  <dcterms:created xsi:type="dcterms:W3CDTF">2013-01-27T09:14:00Z</dcterms:created>
  <dcterms:modified xsi:type="dcterms:W3CDTF">2026-10-02T19:21:31Z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3DAC2F327FEF442E98B5ADBFCEE0D2E4_13</vt:lpwstr>
  </property>
</Properties>
</file>