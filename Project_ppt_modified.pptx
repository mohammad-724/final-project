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56" r:id="rId3"/>
    <p:sldId id="280" r:id="rId4"/>
    <p:sldId id="261" r:id="rId5"/>
    <p:sldId id="262" r:id="rId6"/>
    <p:sldId id="263" r:id="rId7"/>
    <p:sldId id="260" r:id="rId8"/>
    <p:sldId id="287" r:id="rId9"/>
    <p:sldId id="284" r:id="rId10"/>
    <p:sldId id="281" r:id="rId11"/>
    <p:sldId id="288" r:id="rId12"/>
    <p:sldId id="265" r:id="rId13"/>
    <p:sldId id="266" r:id="rId14"/>
    <p:sldId id="268" r:id="rId15"/>
    <p:sldId id="289" r:id="rId16"/>
    <p:sldId id="269" r:id="rId17"/>
    <p:sldId id="275" r:id="rId18"/>
    <p:sldId id="277" r:id="rId19"/>
    <p:sldId id="27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5" userDrawn="1">
          <p15:clr>
            <a:srgbClr val="A4A3A4"/>
          </p15:clr>
        </p15:guide>
        <p15:guide id="2" pos="28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085"/>
        <p:guide pos="283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330" cy="6858000"/>
          </a:xfrm>
          <a:prstGeom prst="rect">
            <a:avLst/>
          </a:prstGeom>
        </p:spPr>
      </p:pic>
      <p:sp>
        <p:nvSpPr>
          <p:cNvPr id="3" name="Shape 0"/>
          <p:cNvSpPr/>
          <p:nvPr/>
        </p:nvSpPr>
        <p:spPr>
          <a:xfrm>
            <a:off x="0" y="0"/>
            <a:ext cx="12192330" cy="68580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1077452" y="6558991"/>
            <a:ext cx="1071899"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jpe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3.png"/><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9.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youtu.be/KeyEe2Tt25Q?si=veBqklgdOQOgzv4R" TargetMode="Externa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46.png"/><Relationship Id="rId1" Type="http://schemas.openxmlformats.org/officeDocument/2006/relationships/image" Target="../media/image4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sp>
        <p:nvSpPr>
          <p:cNvPr id="3" name="TextBox 2"/>
          <p:cNvSpPr txBox="1"/>
          <p:nvPr/>
        </p:nvSpPr>
        <p:spPr>
          <a:xfrm>
            <a:off x="1095375" y="1266825"/>
            <a:ext cx="10001250" cy="1477010"/>
          </a:xfrm>
          <a:prstGeom prst="rect">
            <a:avLst/>
          </a:prstGeom>
          <a:noFill/>
        </p:spPr>
        <p:txBody>
          <a:bodyPr wrap="square" lIns="0" tIns="0" rIns="0" bIns="0" anchor="t">
            <a:spAutoFit/>
          </a:bodyPr>
          <a:lstStyle/>
          <a:p>
            <a:pPr algn="ctr">
              <a:lnSpc>
                <a:spcPts val="5760"/>
              </a:lnSpc>
            </a:pPr>
            <a:r>
              <a:rPr lang="en-US" altLang="en-US" sz="4800" b="1" i="0" u="none">
                <a:solidFill>
                  <a:srgbClr val="0F172A"/>
                </a:solidFill>
                <a:latin typeface="Times New Roman" panose="02020603050405020304" charset="0"/>
                <a:cs typeface="Times New Roman" panose="02020603050405020304" charset="0"/>
              </a:rPr>
              <a:t>AI-Driven Vision Robot for Automated Product Handling</a:t>
            </a:r>
            <a:endParaRPr lang="en-US" altLang="en-US" sz="4800" b="1" i="0" u="none">
              <a:solidFill>
                <a:srgbClr val="0F172A"/>
              </a:solidFill>
              <a:latin typeface="Times New Roman" panose="02020603050405020304" charset="0"/>
              <a:cs typeface="Times New Roman" panose="02020603050405020304" charset="0"/>
            </a:endParaRPr>
          </a:p>
        </p:txBody>
      </p:sp>
      <p:sp>
        <p:nvSpPr>
          <p:cNvPr id="4" name="TextBox 3"/>
          <p:cNvSpPr txBox="1"/>
          <p:nvPr/>
        </p:nvSpPr>
        <p:spPr>
          <a:xfrm>
            <a:off x="0" y="3318510"/>
            <a:ext cx="12191365" cy="419735"/>
          </a:xfrm>
          <a:prstGeom prst="rect">
            <a:avLst/>
          </a:prstGeom>
          <a:noFill/>
        </p:spPr>
        <p:txBody>
          <a:bodyPr wrap="square" lIns="0" tIns="0" rIns="0" bIns="0" anchor="t">
            <a:noAutofit/>
          </a:bodyPr>
          <a:lstStyle/>
          <a:p>
            <a:pPr algn="ctr">
              <a:lnSpc>
                <a:spcPts val="3120"/>
              </a:lnSpc>
            </a:pPr>
            <a:r>
              <a:rPr sz="1950" b="1" i="0">
                <a:solidFill>
                  <a:srgbClr val="475569"/>
                </a:solidFill>
                <a:latin typeface="Times New Roman" panose="02020603050405020304" charset="0"/>
                <a:cs typeface="Times New Roman" panose="02020603050405020304" charset="0"/>
              </a:rPr>
              <a:t>Final Year Project</a:t>
            </a:r>
            <a:endParaRPr lang="en-US" sz="1950" b="1" i="0">
              <a:solidFill>
                <a:srgbClr val="475569"/>
              </a:solidFill>
              <a:latin typeface="Times New Roman" panose="02020603050405020304" charset="0"/>
              <a:cs typeface="Times New Roman" panose="02020603050405020304" charset="0"/>
            </a:endParaRPr>
          </a:p>
        </p:txBody>
      </p:sp>
      <p:sp>
        <p:nvSpPr>
          <p:cNvPr id="17" name="TextBox 7"/>
          <p:cNvSpPr txBox="1"/>
          <p:nvPr/>
        </p:nvSpPr>
        <p:spPr>
          <a:xfrm>
            <a:off x="1095375" y="4166235"/>
            <a:ext cx="2727325" cy="250825"/>
          </a:xfrm>
          <a:prstGeom prst="rect">
            <a:avLst/>
          </a:prstGeom>
          <a:noFill/>
        </p:spPr>
        <p:txBody>
          <a:bodyPr wrap="square" lIns="0" tIns="0" rIns="0" bIns="0" anchor="t">
            <a:noAutofit/>
          </a:bodyPr>
          <a:lstStyle/>
          <a:p>
            <a:pPr algn="l"/>
            <a:r>
              <a:rPr lang="en-IN" sz="1500" b="1" i="0" u="none" dirty="0">
                <a:solidFill>
                  <a:schemeClr val="accent1"/>
                </a:solidFill>
                <a:latin typeface="Times New Roman" panose="02020603050405020304" charset="0"/>
                <a:cs typeface="Times New Roman" panose="02020603050405020304" charset="0"/>
              </a:rPr>
              <a:t>BATCH-</a:t>
            </a:r>
            <a:r>
              <a:rPr lang="en-US" altLang="en-IN" sz="1500" b="1" i="0" u="none" dirty="0">
                <a:solidFill>
                  <a:schemeClr val="accent1"/>
                </a:solidFill>
                <a:latin typeface="Times New Roman" panose="02020603050405020304" charset="0"/>
                <a:cs typeface="Times New Roman" panose="02020603050405020304" charset="0"/>
              </a:rPr>
              <a:t>3</a:t>
            </a:r>
            <a:r>
              <a:rPr lang="en-IN" sz="1500" b="1" i="0" u="none" dirty="0">
                <a:solidFill>
                  <a:schemeClr val="accent1"/>
                </a:solidFill>
                <a:latin typeface="Times New Roman" panose="02020603050405020304" charset="0"/>
                <a:cs typeface="Times New Roman" panose="02020603050405020304" charset="0"/>
              </a:rPr>
              <a:t>  TEAM MEMBERS:</a:t>
            </a:r>
            <a:endParaRPr lang="en-IN" sz="1500" b="1" i="0" u="none" dirty="0">
              <a:solidFill>
                <a:schemeClr val="accent1"/>
              </a:solidFill>
              <a:latin typeface="Times New Roman" panose="02020603050405020304" charset="0"/>
              <a:cs typeface="Times New Roman" panose="02020603050405020304" charset="0"/>
            </a:endParaRPr>
          </a:p>
        </p:txBody>
      </p:sp>
      <p:sp>
        <p:nvSpPr>
          <p:cNvPr id="18" name="TextBox 8"/>
          <p:cNvSpPr txBox="1"/>
          <p:nvPr/>
        </p:nvSpPr>
        <p:spPr>
          <a:xfrm>
            <a:off x="1095375" y="4435475"/>
            <a:ext cx="2900680" cy="1384935"/>
          </a:xfrm>
          <a:prstGeom prst="rect">
            <a:avLst/>
          </a:prstGeom>
          <a:noFill/>
        </p:spPr>
        <p:txBody>
          <a:bodyPr wrap="square" lIns="0" tIns="0" rIns="0" bIns="0" anchor="t">
            <a:spAutoFit/>
          </a:bodyPr>
          <a:lstStyle/>
          <a:p>
            <a:pPr algn="l">
              <a:lnSpc>
                <a:spcPts val="1800"/>
              </a:lnSpc>
            </a:pPr>
            <a:endParaRPr lang="en-US" altLang="en-IN" sz="1500" b="0" i="0" u="none" dirty="0">
              <a:solidFill>
                <a:schemeClr val="tx1"/>
              </a:solidFill>
              <a:latin typeface="Times New Roman" panose="02020603050405020304" charset="0"/>
              <a:cs typeface="Times New Roman" panose="02020603050405020304" charset="0"/>
            </a:endParaRPr>
          </a:p>
          <a:p>
            <a:pPr algn="l">
              <a:lnSpc>
                <a:spcPts val="1800"/>
              </a:lnSpc>
            </a:pPr>
            <a:r>
              <a:rPr lang="en-US" altLang="en-IN" sz="1500" b="0" i="0" u="none" dirty="0">
                <a:solidFill>
                  <a:schemeClr val="tx1"/>
                </a:solidFill>
                <a:latin typeface="Times New Roman" panose="02020603050405020304" charset="0"/>
                <a:cs typeface="Times New Roman" panose="02020603050405020304" charset="0"/>
              </a:rPr>
              <a:t>K. Jyothi (23331A0483)</a:t>
            </a:r>
            <a:endParaRPr lang="en-US" altLang="en-IN" sz="1500" b="0" i="0" u="none" dirty="0">
              <a:solidFill>
                <a:schemeClr val="tx1"/>
              </a:solidFill>
              <a:latin typeface="Times New Roman" panose="02020603050405020304" charset="0"/>
              <a:cs typeface="Times New Roman" panose="02020603050405020304" charset="0"/>
            </a:endParaRPr>
          </a:p>
          <a:p>
            <a:pPr algn="l">
              <a:lnSpc>
                <a:spcPts val="1800"/>
              </a:lnSpc>
            </a:pPr>
            <a:r>
              <a:rPr lang="en-US" altLang="en-IN" sz="1500" b="0" i="0" u="none" dirty="0">
                <a:solidFill>
                  <a:schemeClr val="tx1"/>
                </a:solidFill>
                <a:latin typeface="Times New Roman" panose="02020603050405020304" charset="0"/>
                <a:cs typeface="Times New Roman" panose="02020603050405020304" charset="0"/>
              </a:rPr>
              <a:t>Md. Azmath Ali (23331A04B0)</a:t>
            </a:r>
            <a:endParaRPr lang="en-US" altLang="en-IN" sz="1500" b="0" i="0" u="none" dirty="0">
              <a:solidFill>
                <a:schemeClr val="tx1"/>
              </a:solidFill>
              <a:latin typeface="Times New Roman" panose="02020603050405020304" charset="0"/>
              <a:cs typeface="Times New Roman" panose="02020603050405020304" charset="0"/>
            </a:endParaRPr>
          </a:p>
          <a:p>
            <a:pPr algn="l">
              <a:lnSpc>
                <a:spcPts val="1800"/>
              </a:lnSpc>
            </a:pPr>
            <a:r>
              <a:rPr lang="en-US" altLang="en-IN" sz="1500" b="0" i="0" u="none" dirty="0">
                <a:solidFill>
                  <a:schemeClr val="tx1"/>
                </a:solidFill>
                <a:latin typeface="Times New Roman" panose="02020603050405020304" charset="0"/>
                <a:cs typeface="Times New Roman" panose="02020603050405020304" charset="0"/>
              </a:rPr>
              <a:t>N. Naveen (23331A04B8)</a:t>
            </a:r>
            <a:endParaRPr lang="en-US" altLang="en-IN" sz="1500" b="0" i="0" u="none" dirty="0">
              <a:solidFill>
                <a:schemeClr val="tx1"/>
              </a:solidFill>
              <a:latin typeface="Times New Roman" panose="02020603050405020304" charset="0"/>
              <a:cs typeface="Times New Roman" panose="02020603050405020304" charset="0"/>
            </a:endParaRPr>
          </a:p>
          <a:p>
            <a:pPr algn="l">
              <a:lnSpc>
                <a:spcPts val="1800"/>
              </a:lnSpc>
            </a:pPr>
            <a:r>
              <a:rPr lang="en-US" altLang="en-IN" sz="1500" b="0" i="0" u="none" dirty="0">
                <a:solidFill>
                  <a:schemeClr val="tx1"/>
                </a:solidFill>
                <a:latin typeface="Times New Roman" panose="02020603050405020304" charset="0"/>
                <a:cs typeface="Times New Roman" panose="02020603050405020304" charset="0"/>
              </a:rPr>
              <a:t>K. Ganapathi Naidu (23331A0486)</a:t>
            </a:r>
            <a:endParaRPr lang="en-US" altLang="en-IN" sz="1500" b="0" i="0" u="none" dirty="0">
              <a:solidFill>
                <a:schemeClr val="tx1"/>
              </a:solidFill>
              <a:latin typeface="Times New Roman" panose="02020603050405020304" charset="0"/>
              <a:cs typeface="Times New Roman" panose="02020603050405020304" charset="0"/>
            </a:endParaRPr>
          </a:p>
          <a:p>
            <a:pPr algn="l">
              <a:lnSpc>
                <a:spcPts val="1800"/>
              </a:lnSpc>
            </a:pPr>
            <a:endParaRPr lang="en-US" altLang="en-IN" sz="1500" b="0" i="0" u="none" dirty="0">
              <a:solidFill>
                <a:schemeClr val="tx1"/>
              </a:solidFill>
              <a:latin typeface="Times New Roman" panose="02020603050405020304" charset="0"/>
              <a:cs typeface="Times New Roman" panose="02020603050405020304" charset="0"/>
            </a:endParaRPr>
          </a:p>
        </p:txBody>
      </p:sp>
      <p:sp>
        <p:nvSpPr>
          <p:cNvPr id="19" name="TextBox 9"/>
          <p:cNvSpPr txBox="1"/>
          <p:nvPr/>
        </p:nvSpPr>
        <p:spPr>
          <a:xfrm>
            <a:off x="7774305" y="4171950"/>
            <a:ext cx="2726690" cy="283845"/>
          </a:xfrm>
          <a:prstGeom prst="rect">
            <a:avLst/>
          </a:prstGeom>
          <a:noFill/>
        </p:spPr>
        <p:txBody>
          <a:bodyPr wrap="square" lIns="0" tIns="0" rIns="0" bIns="0" anchor="t">
            <a:noAutofit/>
          </a:bodyPr>
          <a:lstStyle/>
          <a:p>
            <a:pPr algn="l"/>
            <a:r>
              <a:rPr lang="en-US" sz="1400" b="1" i="0" u="none" dirty="0">
                <a:solidFill>
                  <a:schemeClr val="accent1"/>
                </a:solidFill>
                <a:latin typeface="Times New Roman" panose="02020603050405020304" charset="0"/>
                <a:cs typeface="Times New Roman" panose="02020603050405020304" charset="0"/>
              </a:rPr>
              <a:t>UNDER THE GUIDANCE OF:</a:t>
            </a:r>
            <a:endParaRPr lang="en-US" sz="1400" b="1" i="0" u="none" dirty="0">
              <a:solidFill>
                <a:schemeClr val="accent1"/>
              </a:solidFill>
              <a:latin typeface="Times New Roman" panose="02020603050405020304" charset="0"/>
              <a:cs typeface="Times New Roman" panose="02020603050405020304" charset="0"/>
            </a:endParaRPr>
          </a:p>
        </p:txBody>
      </p:sp>
      <p:sp>
        <p:nvSpPr>
          <p:cNvPr id="20" name="TextBox 10"/>
          <p:cNvSpPr txBox="1"/>
          <p:nvPr/>
        </p:nvSpPr>
        <p:spPr>
          <a:xfrm>
            <a:off x="7774305" y="4371975"/>
            <a:ext cx="2726690" cy="1384935"/>
          </a:xfrm>
          <a:prstGeom prst="rect">
            <a:avLst/>
          </a:prstGeom>
          <a:noFill/>
        </p:spPr>
        <p:txBody>
          <a:bodyPr wrap="square" lIns="0" tIns="0" rIns="0" bIns="0" anchor="t">
            <a:spAutoFit/>
          </a:bodyPr>
          <a:lstStyle/>
          <a:p>
            <a:pPr algn="l">
              <a:lnSpc>
                <a:spcPts val="1800"/>
              </a:lnSpc>
            </a:pPr>
            <a:endParaRPr sz="1500" i="0" u="none" dirty="0">
              <a:solidFill>
                <a:schemeClr val="tx1"/>
              </a:solidFill>
              <a:latin typeface="Times New Roman" panose="02020603050405020304" charset="0"/>
              <a:cs typeface="Times New Roman" panose="02020603050405020304" charset="0"/>
            </a:endParaRPr>
          </a:p>
          <a:p>
            <a:pPr algn="l">
              <a:lnSpc>
                <a:spcPts val="1800"/>
              </a:lnSpc>
            </a:pPr>
            <a:r>
              <a:rPr sz="1500" i="0" u="none" dirty="0">
                <a:solidFill>
                  <a:schemeClr val="tx1"/>
                </a:solidFill>
                <a:latin typeface="Times New Roman" panose="02020603050405020304" charset="0"/>
                <a:cs typeface="Times New Roman" panose="02020603050405020304" charset="0"/>
              </a:rPr>
              <a:t>Dr. T.A.N. Surya Narayana Varma</a:t>
            </a:r>
            <a:endParaRPr lang="en-IN" sz="1500" i="0" u="none" dirty="0">
              <a:solidFill>
                <a:schemeClr val="tx1"/>
              </a:solidFill>
              <a:latin typeface="Times New Roman" panose="02020603050405020304" charset="0"/>
              <a:cs typeface="Times New Roman" panose="02020603050405020304" charset="0"/>
            </a:endParaRPr>
          </a:p>
          <a:p>
            <a:pPr algn="l">
              <a:lnSpc>
                <a:spcPts val="1800"/>
              </a:lnSpc>
            </a:pPr>
            <a:r>
              <a:rPr lang="en-IN" sz="1500" dirty="0">
                <a:solidFill>
                  <a:schemeClr val="tx1"/>
                </a:solidFill>
                <a:latin typeface="Times New Roman" panose="02020603050405020304" charset="0"/>
                <a:cs typeface="Times New Roman" panose="02020603050405020304" charset="0"/>
              </a:rPr>
              <a:t>M.Tech.,</a:t>
            </a:r>
            <a:r>
              <a:rPr lang="en-US" altLang="en-IN" sz="1500" dirty="0">
                <a:solidFill>
                  <a:schemeClr val="tx1"/>
                </a:solidFill>
                <a:latin typeface="Times New Roman" panose="02020603050405020304" charset="0"/>
                <a:cs typeface="Times New Roman" panose="02020603050405020304" charset="0"/>
              </a:rPr>
              <a:t> </a:t>
            </a:r>
            <a:r>
              <a:rPr lang="en-IN" sz="1500" dirty="0" err="1">
                <a:solidFill>
                  <a:schemeClr val="tx1"/>
                </a:solidFill>
                <a:latin typeface="Times New Roman" panose="02020603050405020304" charset="0"/>
                <a:cs typeface="Times New Roman" panose="02020603050405020304" charset="0"/>
              </a:rPr>
              <a:t>Ph.D</a:t>
            </a:r>
            <a:r>
              <a:rPr lang="en-IN" sz="1500" dirty="0">
                <a:solidFill>
                  <a:schemeClr val="tx1"/>
                </a:solidFill>
                <a:latin typeface="Times New Roman" panose="02020603050405020304" charset="0"/>
                <a:cs typeface="Times New Roman" panose="02020603050405020304" charset="0"/>
              </a:rPr>
              <a:t>.</a:t>
            </a:r>
            <a:endParaRPr lang="en-IN" sz="1500" dirty="0">
              <a:solidFill>
                <a:schemeClr val="tx1"/>
              </a:solidFill>
              <a:latin typeface="Times New Roman" panose="02020603050405020304" charset="0"/>
              <a:cs typeface="Times New Roman" panose="02020603050405020304" charset="0"/>
            </a:endParaRPr>
          </a:p>
          <a:p>
            <a:pPr algn="l">
              <a:lnSpc>
                <a:spcPts val="1800"/>
              </a:lnSpc>
            </a:pPr>
            <a:r>
              <a:rPr lang="en-IN" sz="1500" dirty="0">
                <a:solidFill>
                  <a:schemeClr val="tx1"/>
                </a:solidFill>
                <a:latin typeface="Times New Roman" panose="02020603050405020304" charset="0"/>
                <a:cs typeface="Times New Roman" panose="02020603050405020304" charset="0"/>
              </a:rPr>
              <a:t>Professor,</a:t>
            </a:r>
            <a:r>
              <a:rPr sz="1500" dirty="0">
                <a:solidFill>
                  <a:schemeClr val="tx1"/>
                </a:solidFill>
                <a:latin typeface="Times New Roman" panose="02020603050405020304" charset="0"/>
                <a:cs typeface="Times New Roman" panose="02020603050405020304" charset="0"/>
              </a:rPr>
              <a:t>
</a:t>
            </a:r>
            <a:r>
              <a:rPr sz="1500" i="0" u="none" dirty="0">
                <a:solidFill>
                  <a:schemeClr val="tx1"/>
                </a:solidFill>
                <a:latin typeface="Times New Roman" panose="02020603050405020304" charset="0"/>
                <a:cs typeface="Times New Roman" panose="02020603050405020304" charset="0"/>
              </a:rPr>
              <a:t>Department of Electronics and Communication Engineering</a:t>
            </a:r>
            <a:r>
              <a:rPr lang="en-IN" sz="1500" i="0" u="none" dirty="0">
                <a:solidFill>
                  <a:schemeClr val="tx1"/>
                </a:solidFill>
                <a:latin typeface="Times New Roman" panose="02020603050405020304" charset="0"/>
                <a:cs typeface="Times New Roman" panose="02020603050405020304" charset="0"/>
              </a:rPr>
              <a:t>(A)</a:t>
            </a:r>
            <a:endParaRPr lang="en-IN" sz="1500" i="0" u="none" dirty="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571500" y="1438275"/>
            <a:ext cx="10922000" cy="5179060"/>
          </a:xfrm>
          <a:prstGeom prst="rect">
            <a:avLst/>
          </a:prstGeom>
          <a:noFill/>
        </p:spPr>
        <p:txBody>
          <a:bodyPr wrap="square" rtlCol="0">
            <a:noAutofit/>
          </a:bodyPr>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The AI-Driven Autonomous Vision Robot for Product Handling is a smart robotic system designed to automate product collection and billing.</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Customers select the required products and quantities through the web application, and the order is sent to the robot.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The selected product information is transmitted to the ESP32-based robot, which uses IR sensors to follow the predefined path and reach the corresponding product location.</a:t>
            </a: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The robot uses a camera, computer vision, and a pick-and-place mechanism to locate, identify, and collect the required products into a shopping basket.</a:t>
            </a: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The robot repeats this process for all selected products and then returns to the starting position. The completed order is synchronized with the web application, which calculates the total cost and generates a digital bill.</a:t>
            </a:r>
            <a:endParaRPr lang="en-US" altLang="en-US">
              <a:latin typeface="Times New Roman" panose="02020603050405020304" charset="0"/>
              <a:cs typeface="Times New Roman" panose="02020603050405020304" charset="0"/>
            </a:endParaRPr>
          </a:p>
        </p:txBody>
      </p:sp>
      <p:sp>
        <p:nvSpPr>
          <p:cNvPr id="15"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Project Abstract</a:t>
            </a:r>
            <a:endParaRPr lang="en-US" sz="3200" b="0" i="0" u="none">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2"/>
          <a:stretch>
            <a:fillRect/>
          </a:stretch>
        </p:blipFill>
        <p:spPr>
          <a:xfrm>
            <a:off x="1242060" y="1731168"/>
            <a:ext cx="9525000" cy="4395787"/>
          </a:xfrm>
          <a:prstGeom prst="rect">
            <a:avLst/>
          </a:prstGeom>
        </p:spPr>
      </p:pic>
      <p:sp>
        <p:nvSpPr>
          <p:cNvPr id="4" name="TextBox 3"/>
          <p:cNvSpPr txBox="1"/>
          <p:nvPr/>
        </p:nvSpPr>
        <p:spPr>
          <a:xfrm>
            <a:off x="2190750" y="2112168"/>
            <a:ext cx="8286750" cy="676910"/>
          </a:xfrm>
          <a:prstGeom prst="rect">
            <a:avLst/>
          </a:prstGeom>
          <a:noFill/>
        </p:spPr>
        <p:txBody>
          <a:bodyPr wrap="square" lIns="0" tIns="0" rIns="0" bIns="0" anchor="t">
            <a:spAutoFit/>
          </a:bodyPr>
          <a:lstStyle/>
          <a:p>
            <a:pPr algn="l">
              <a:lnSpc>
                <a:spcPts val="2640"/>
              </a:lnSpc>
            </a:pPr>
            <a:r>
              <a:rPr b="1" i="0" u="none">
                <a:solidFill>
                  <a:srgbClr val="0F172A"/>
                </a:solidFill>
                <a:latin typeface="Times New Roman" panose="02020603050405020304" charset="0"/>
                <a:cs typeface="Times New Roman" panose="02020603050405020304" charset="0"/>
              </a:rPr>
              <a:t>End-to-End Automation:</a:t>
            </a:r>
            <a:r>
              <a:rPr b="0" i="0" u="none">
                <a:solidFill>
                  <a:srgbClr val="334155"/>
                </a:solidFill>
                <a:latin typeface="Times New Roman" panose="02020603050405020304" charset="0"/>
                <a:cs typeface="Times New Roman" panose="02020603050405020304" charset="0"/>
              </a:rPr>
              <a:t> Design an AI-driven robot capable of receiving a digital shopping list.</a:t>
            </a:r>
            <a:endParaRPr b="0" i="0" u="none">
              <a:solidFill>
                <a:srgbClr val="334155"/>
              </a:solidFill>
              <a:latin typeface="Times New Roman" panose="02020603050405020304" charset="0"/>
              <a:cs typeface="Times New Roman" panose="02020603050405020304" charset="0"/>
            </a:endParaRPr>
          </a:p>
        </p:txBody>
      </p:sp>
      <p:sp>
        <p:nvSpPr>
          <p:cNvPr id="5" name="TextBox 4"/>
          <p:cNvSpPr txBox="1"/>
          <p:nvPr/>
        </p:nvSpPr>
        <p:spPr>
          <a:xfrm>
            <a:off x="2190750" y="3020615"/>
            <a:ext cx="8286750" cy="676910"/>
          </a:xfrm>
          <a:prstGeom prst="rect">
            <a:avLst/>
          </a:prstGeom>
          <a:noFill/>
        </p:spPr>
        <p:txBody>
          <a:bodyPr wrap="square" lIns="0" tIns="0" rIns="0" bIns="0" anchor="t">
            <a:spAutoFit/>
          </a:bodyPr>
          <a:lstStyle/>
          <a:p>
            <a:pPr algn="l">
              <a:lnSpc>
                <a:spcPts val="2640"/>
              </a:lnSpc>
            </a:pPr>
            <a:r>
              <a:rPr b="1" i="0" u="none">
                <a:solidFill>
                  <a:srgbClr val="0F172A"/>
                </a:solidFill>
                <a:latin typeface="Times New Roman" panose="02020603050405020304" charset="0"/>
                <a:cs typeface="Times New Roman" panose="02020603050405020304" charset="0"/>
              </a:rPr>
              <a:t>Autonomous Navigation:</a:t>
            </a:r>
            <a:r>
              <a:rPr b="0" i="0" u="none">
                <a:solidFill>
                  <a:srgbClr val="334155"/>
                </a:solidFill>
                <a:latin typeface="Times New Roman" panose="02020603050405020304" charset="0"/>
                <a:cs typeface="Times New Roman" panose="02020603050405020304" charset="0"/>
              </a:rPr>
              <a:t> E</a:t>
            </a:r>
            <a:r>
              <a:rPr lang="en-US" altLang="en-US" b="0" i="0" u="none">
                <a:solidFill>
                  <a:srgbClr val="334155"/>
                </a:solidFill>
                <a:latin typeface="Times New Roman" panose="02020603050405020304" charset="0"/>
                <a:cs typeface="Times New Roman" panose="02020603050405020304" charset="0"/>
              </a:rPr>
              <a:t>nable the robot to follow a predefined path and reach the designated product locations within the store.</a:t>
            </a:r>
            <a:endParaRPr lang="en-US" altLang="en-US" b="0" i="0" u="none">
              <a:solidFill>
                <a:srgbClr val="334155"/>
              </a:solidFill>
              <a:latin typeface="Times New Roman" panose="02020603050405020304" charset="0"/>
              <a:cs typeface="Times New Roman" panose="02020603050405020304" charset="0"/>
            </a:endParaRPr>
          </a:p>
        </p:txBody>
      </p:sp>
      <p:sp>
        <p:nvSpPr>
          <p:cNvPr id="6" name="TextBox 5"/>
          <p:cNvSpPr txBox="1"/>
          <p:nvPr/>
        </p:nvSpPr>
        <p:spPr>
          <a:xfrm>
            <a:off x="2190750" y="3929062"/>
            <a:ext cx="8286750" cy="676910"/>
          </a:xfrm>
          <a:prstGeom prst="rect">
            <a:avLst/>
          </a:prstGeom>
          <a:noFill/>
        </p:spPr>
        <p:txBody>
          <a:bodyPr wrap="square" lIns="0" tIns="0" rIns="0" bIns="0" anchor="t">
            <a:spAutoFit/>
          </a:bodyPr>
          <a:lstStyle/>
          <a:p>
            <a:pPr algn="l">
              <a:lnSpc>
                <a:spcPts val="2640"/>
              </a:lnSpc>
            </a:pPr>
            <a:r>
              <a:rPr b="1" i="0" u="none">
                <a:solidFill>
                  <a:srgbClr val="0F172A"/>
                </a:solidFill>
                <a:latin typeface="Times New Roman" panose="02020603050405020304" charset="0"/>
                <a:cs typeface="Times New Roman" panose="02020603050405020304" charset="0"/>
              </a:rPr>
              <a:t>Vision-Based Verification:</a:t>
            </a:r>
            <a:r>
              <a:rPr b="0" i="0" u="none">
                <a:solidFill>
                  <a:srgbClr val="334155"/>
                </a:solidFill>
                <a:latin typeface="Times New Roman" panose="02020603050405020304" charset="0"/>
                <a:cs typeface="Times New Roman" panose="02020603050405020304" charset="0"/>
              </a:rPr>
              <a:t> Utilize computer vision algorithms to accurately identify products.</a:t>
            </a:r>
            <a:endParaRPr b="0" i="0" u="none">
              <a:solidFill>
                <a:srgbClr val="334155"/>
              </a:solidFill>
              <a:latin typeface="Times New Roman" panose="02020603050405020304" charset="0"/>
              <a:cs typeface="Times New Roman" panose="02020603050405020304" charset="0"/>
            </a:endParaRPr>
          </a:p>
        </p:txBody>
      </p:sp>
      <p:sp>
        <p:nvSpPr>
          <p:cNvPr id="7" name="TextBox 6"/>
          <p:cNvSpPr txBox="1"/>
          <p:nvPr/>
        </p:nvSpPr>
        <p:spPr>
          <a:xfrm>
            <a:off x="2190750" y="4837509"/>
            <a:ext cx="8286750" cy="676910"/>
          </a:xfrm>
          <a:prstGeom prst="rect">
            <a:avLst/>
          </a:prstGeom>
          <a:noFill/>
        </p:spPr>
        <p:txBody>
          <a:bodyPr wrap="square" lIns="0" tIns="0" rIns="0" bIns="0" anchor="t">
            <a:spAutoFit/>
          </a:bodyPr>
          <a:lstStyle/>
          <a:p>
            <a:pPr algn="l">
              <a:lnSpc>
                <a:spcPts val="2640"/>
              </a:lnSpc>
            </a:pPr>
            <a:r>
              <a:rPr b="1" i="0" u="none">
                <a:solidFill>
                  <a:srgbClr val="0F172A"/>
                </a:solidFill>
                <a:latin typeface="Times New Roman" panose="02020603050405020304" charset="0"/>
                <a:cs typeface="Times New Roman" panose="02020603050405020304" charset="0"/>
              </a:rPr>
              <a:t>Physical </a:t>
            </a:r>
            <a:r>
              <a:rPr lang="en-US" b="1" i="0" u="none">
                <a:solidFill>
                  <a:srgbClr val="0F172A"/>
                </a:solidFill>
                <a:latin typeface="Times New Roman" panose="02020603050405020304" charset="0"/>
                <a:cs typeface="Times New Roman" panose="02020603050405020304" charset="0"/>
              </a:rPr>
              <a:t>Movement</a:t>
            </a:r>
            <a:r>
              <a:rPr b="1" i="0" u="none">
                <a:solidFill>
                  <a:srgbClr val="0F172A"/>
                </a:solidFill>
                <a:latin typeface="Times New Roman" panose="02020603050405020304" charset="0"/>
                <a:cs typeface="Times New Roman" panose="02020603050405020304" charset="0"/>
              </a:rPr>
              <a:t>:</a:t>
            </a:r>
            <a:r>
              <a:rPr b="0" i="0" u="none">
                <a:solidFill>
                  <a:srgbClr val="334155"/>
                </a:solidFill>
                <a:latin typeface="Times New Roman" panose="02020603050405020304" charset="0"/>
                <a:cs typeface="Times New Roman" panose="02020603050405020304" charset="0"/>
              </a:rPr>
              <a:t> Autonomously pick up the verified objects and place them into a shopping basket.</a:t>
            </a:r>
            <a:endParaRPr b="0" i="0" u="none">
              <a:solidFill>
                <a:srgbClr val="334155"/>
              </a:solidFill>
              <a:latin typeface="Times New Roman" panose="02020603050405020304" charset="0"/>
              <a:cs typeface="Times New Roman" panose="02020603050405020304" charset="0"/>
            </a:endParaRPr>
          </a:p>
        </p:txBody>
      </p:sp>
      <p:pic>
        <p:nvPicPr>
          <p:cNvPr id="8" name="Picture 7" descr="image.png"/>
          <p:cNvPicPr>
            <a:picLocks noChangeAspect="1"/>
          </p:cNvPicPr>
          <p:nvPr/>
        </p:nvPicPr>
        <p:blipFill>
          <a:blip r:embed="rId3"/>
          <a:stretch>
            <a:fillRect/>
          </a:stretch>
        </p:blipFill>
        <p:spPr>
          <a:xfrm>
            <a:off x="1714500" y="2167096"/>
            <a:ext cx="266700" cy="276225"/>
          </a:xfrm>
          <a:prstGeom prst="rect">
            <a:avLst/>
          </a:prstGeom>
        </p:spPr>
      </p:pic>
      <p:pic>
        <p:nvPicPr>
          <p:cNvPr id="9" name="Picture 8" descr="image.png"/>
          <p:cNvPicPr>
            <a:picLocks noChangeAspect="1"/>
          </p:cNvPicPr>
          <p:nvPr/>
        </p:nvPicPr>
        <p:blipFill>
          <a:blip r:embed="rId4"/>
          <a:stretch>
            <a:fillRect/>
          </a:stretch>
        </p:blipFill>
        <p:spPr>
          <a:xfrm>
            <a:off x="1714500" y="3075543"/>
            <a:ext cx="266700" cy="276225"/>
          </a:xfrm>
          <a:prstGeom prst="rect">
            <a:avLst/>
          </a:prstGeom>
        </p:spPr>
      </p:pic>
      <p:pic>
        <p:nvPicPr>
          <p:cNvPr id="10" name="Picture 9" descr="image.png"/>
          <p:cNvPicPr>
            <a:picLocks noChangeAspect="1"/>
          </p:cNvPicPr>
          <p:nvPr/>
        </p:nvPicPr>
        <p:blipFill>
          <a:blip r:embed="rId5"/>
          <a:stretch>
            <a:fillRect/>
          </a:stretch>
        </p:blipFill>
        <p:spPr>
          <a:xfrm>
            <a:off x="1714500" y="3983990"/>
            <a:ext cx="304800" cy="276225"/>
          </a:xfrm>
          <a:prstGeom prst="rect">
            <a:avLst/>
          </a:prstGeom>
        </p:spPr>
      </p:pic>
      <p:pic>
        <p:nvPicPr>
          <p:cNvPr id="11" name="Picture 10" descr="image.png"/>
          <p:cNvPicPr>
            <a:picLocks noChangeAspect="1"/>
          </p:cNvPicPr>
          <p:nvPr/>
        </p:nvPicPr>
        <p:blipFill>
          <a:blip r:embed="rId6"/>
          <a:stretch>
            <a:fillRect/>
          </a:stretch>
        </p:blipFill>
        <p:spPr>
          <a:xfrm>
            <a:off x="1714500" y="4892436"/>
            <a:ext cx="333375" cy="276225"/>
          </a:xfrm>
          <a:prstGeom prst="rect">
            <a:avLst/>
          </a:prstGeom>
        </p:spPr>
      </p:pic>
      <p:sp>
        <p:nvSpPr>
          <p:cNvPr id="13"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Primary Aim</a:t>
            </a:r>
            <a:endParaRPr lang="en-US" sz="3200" b="0" i="0" u="none">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2"/>
          <a:stretch>
            <a:fillRect/>
          </a:stretch>
        </p:blipFill>
        <p:spPr>
          <a:xfrm>
            <a:off x="571500" y="2143125"/>
            <a:ext cx="3429000" cy="3571875"/>
          </a:xfrm>
          <a:prstGeom prst="rect">
            <a:avLst/>
          </a:prstGeom>
        </p:spPr>
      </p:pic>
      <p:pic>
        <p:nvPicPr>
          <p:cNvPr id="4" name="Picture 3" descr="image.png"/>
          <p:cNvPicPr>
            <a:picLocks noChangeAspect="1"/>
          </p:cNvPicPr>
          <p:nvPr/>
        </p:nvPicPr>
        <p:blipFill>
          <a:blip r:embed="rId3"/>
          <a:stretch>
            <a:fillRect/>
          </a:stretch>
        </p:blipFill>
        <p:spPr>
          <a:xfrm>
            <a:off x="4381500" y="2143125"/>
            <a:ext cx="3429000" cy="3571875"/>
          </a:xfrm>
          <a:prstGeom prst="rect">
            <a:avLst/>
          </a:prstGeom>
        </p:spPr>
      </p:pic>
      <p:pic>
        <p:nvPicPr>
          <p:cNvPr id="5" name="Picture 4" descr="image.png"/>
          <p:cNvPicPr>
            <a:picLocks noChangeAspect="1"/>
          </p:cNvPicPr>
          <p:nvPr/>
        </p:nvPicPr>
        <p:blipFill>
          <a:blip r:embed="rId3"/>
          <a:stretch>
            <a:fillRect/>
          </a:stretch>
        </p:blipFill>
        <p:spPr>
          <a:xfrm>
            <a:off x="8191500" y="2143125"/>
            <a:ext cx="3429000" cy="3571875"/>
          </a:xfrm>
          <a:prstGeom prst="rect">
            <a:avLst/>
          </a:prstGeom>
        </p:spPr>
      </p:pic>
      <p:sp>
        <p:nvSpPr>
          <p:cNvPr id="6" name="TextBox 5"/>
          <p:cNvSpPr txBox="1"/>
          <p:nvPr/>
        </p:nvSpPr>
        <p:spPr>
          <a:xfrm>
            <a:off x="1635918" y="3419475"/>
            <a:ext cx="1300162" cy="322580"/>
          </a:xfrm>
          <a:prstGeom prst="rect">
            <a:avLst/>
          </a:prstGeom>
          <a:noFill/>
        </p:spPr>
        <p:txBody>
          <a:bodyPr wrap="square" lIns="0" tIns="0" rIns="0" bIns="0" anchor="t">
            <a:spAutoFit/>
          </a:bodyPr>
          <a:lstStyle/>
          <a:p>
            <a:pPr algn="ctr"/>
            <a:r>
              <a:rPr sz="2100" b="0" i="0" u="none">
                <a:solidFill>
                  <a:srgbClr val="2563EB"/>
                </a:solidFill>
                <a:latin typeface="Times New Roman" panose="02020603050405020304" charset="0"/>
                <a:cs typeface="Times New Roman" panose="02020603050405020304" charset="0"/>
              </a:rPr>
              <a:t>Web App</a:t>
            </a:r>
            <a:endParaRPr sz="2100" b="0" i="0" u="none">
              <a:solidFill>
                <a:srgbClr val="2563EB"/>
              </a:solidFill>
              <a:latin typeface="Times New Roman" panose="02020603050405020304" charset="0"/>
              <a:cs typeface="Times New Roman" panose="02020603050405020304" charset="0"/>
            </a:endParaRPr>
          </a:p>
        </p:txBody>
      </p:sp>
      <p:sp>
        <p:nvSpPr>
          <p:cNvPr id="7" name="TextBox 6"/>
          <p:cNvSpPr txBox="1"/>
          <p:nvPr/>
        </p:nvSpPr>
        <p:spPr>
          <a:xfrm>
            <a:off x="866775" y="3962400"/>
            <a:ext cx="2838450" cy="923290"/>
          </a:xfrm>
          <a:prstGeom prst="rect">
            <a:avLst/>
          </a:prstGeom>
          <a:noFill/>
        </p:spPr>
        <p:txBody>
          <a:bodyPr wrap="square" lIns="0" tIns="0" rIns="0" bIns="0" anchor="t">
            <a:spAutoFit/>
          </a:bodyPr>
          <a:lstStyle/>
          <a:p>
            <a:pPr algn="ctr">
              <a:lnSpc>
                <a:spcPts val="2400"/>
              </a:lnSpc>
            </a:pPr>
            <a:r>
              <a:rPr sz="1700" b="0" i="0" u="none">
                <a:solidFill>
                  <a:srgbClr val="334155"/>
                </a:solidFill>
                <a:latin typeface="Times New Roman" panose="02020603050405020304" charset="0"/>
                <a:cs typeface="Times New Roman" panose="02020603050405020304" charset="0"/>
              </a:rPr>
              <a:t>Develop an interactive interface for users to intuitively select products and desired quantities.</a:t>
            </a:r>
            <a:endParaRPr sz="1700" b="0" i="0" u="none">
              <a:solidFill>
                <a:srgbClr val="334155"/>
              </a:solidFill>
              <a:latin typeface="Times New Roman" panose="02020603050405020304" charset="0"/>
              <a:cs typeface="Times New Roman" panose="02020603050405020304" charset="0"/>
            </a:endParaRPr>
          </a:p>
        </p:txBody>
      </p:sp>
      <p:sp>
        <p:nvSpPr>
          <p:cNvPr id="8" name="TextBox 7"/>
          <p:cNvSpPr txBox="1"/>
          <p:nvPr/>
        </p:nvSpPr>
        <p:spPr>
          <a:xfrm>
            <a:off x="5395912" y="3419475"/>
            <a:ext cx="1400175" cy="400050"/>
          </a:xfrm>
          <a:prstGeom prst="rect">
            <a:avLst/>
          </a:prstGeom>
          <a:noFill/>
        </p:spPr>
        <p:txBody>
          <a:bodyPr wrap="square" lIns="0" tIns="0" rIns="0" bIns="0" anchor="t">
            <a:spAutoFit/>
          </a:bodyPr>
          <a:lstStyle/>
          <a:p>
            <a:pPr algn="ctr"/>
            <a:r>
              <a:rPr sz="2100" b="0" i="0" u="none">
                <a:solidFill>
                  <a:srgbClr val="2563EB"/>
                </a:solidFill>
                <a:latin typeface="Times New Roman" panose="02020603050405020304" charset="0"/>
                <a:cs typeface="Times New Roman" panose="02020603050405020304" charset="0"/>
              </a:rPr>
              <a:t>Database</a:t>
            </a:r>
            <a:endParaRPr sz="2100" b="0" i="0" u="none">
              <a:solidFill>
                <a:srgbClr val="2563EB"/>
              </a:solidFill>
              <a:latin typeface="Times New Roman" panose="02020603050405020304" charset="0"/>
              <a:cs typeface="Times New Roman" panose="02020603050405020304" charset="0"/>
            </a:endParaRPr>
          </a:p>
        </p:txBody>
      </p:sp>
      <p:sp>
        <p:nvSpPr>
          <p:cNvPr id="9" name="TextBox 8"/>
          <p:cNvSpPr txBox="1"/>
          <p:nvPr/>
        </p:nvSpPr>
        <p:spPr>
          <a:xfrm>
            <a:off x="4676775" y="3962400"/>
            <a:ext cx="2838450" cy="1230630"/>
          </a:xfrm>
          <a:prstGeom prst="rect">
            <a:avLst/>
          </a:prstGeom>
          <a:noFill/>
        </p:spPr>
        <p:txBody>
          <a:bodyPr wrap="square" lIns="0" tIns="0" rIns="0" bIns="0" anchor="t">
            <a:spAutoFit/>
          </a:bodyPr>
          <a:lstStyle/>
          <a:p>
            <a:pPr algn="ctr">
              <a:lnSpc>
                <a:spcPts val="2400"/>
              </a:lnSpc>
            </a:pPr>
            <a:r>
              <a:rPr sz="1700" b="0" i="0" u="none">
                <a:solidFill>
                  <a:srgbClr val="334155"/>
                </a:solidFill>
                <a:latin typeface="Times New Roman" panose="02020603050405020304" charset="0"/>
                <a:cs typeface="Times New Roman" panose="02020603050405020304" charset="0"/>
              </a:rPr>
              <a:t>Maintain and securely store selected shopping information and product locations using a backend database.</a:t>
            </a:r>
            <a:endParaRPr sz="1700" b="0" i="0" u="none">
              <a:solidFill>
                <a:srgbClr val="334155"/>
              </a:solidFill>
              <a:latin typeface="Times New Roman" panose="02020603050405020304" charset="0"/>
              <a:cs typeface="Times New Roman" panose="02020603050405020304" charset="0"/>
            </a:endParaRPr>
          </a:p>
        </p:txBody>
      </p:sp>
      <p:sp>
        <p:nvSpPr>
          <p:cNvPr id="10" name="TextBox 9"/>
          <p:cNvSpPr txBox="1"/>
          <p:nvPr/>
        </p:nvSpPr>
        <p:spPr>
          <a:xfrm>
            <a:off x="8720851" y="3419475"/>
            <a:ext cx="2370296" cy="400050"/>
          </a:xfrm>
          <a:prstGeom prst="rect">
            <a:avLst/>
          </a:prstGeom>
          <a:noFill/>
        </p:spPr>
        <p:txBody>
          <a:bodyPr wrap="square" lIns="0" tIns="0" rIns="0" bIns="0" anchor="t">
            <a:spAutoFit/>
          </a:bodyPr>
          <a:lstStyle/>
          <a:p>
            <a:pPr algn="ctr"/>
            <a:r>
              <a:rPr sz="2100" b="0" i="0" u="none">
                <a:solidFill>
                  <a:srgbClr val="2563EB"/>
                </a:solidFill>
                <a:latin typeface="Times New Roman" panose="02020603050405020304" charset="0"/>
                <a:cs typeface="Times New Roman" panose="02020603050405020304" charset="0"/>
              </a:rPr>
              <a:t>Communication</a:t>
            </a:r>
            <a:endParaRPr sz="2100" b="0" i="0" u="none">
              <a:solidFill>
                <a:srgbClr val="2563EB"/>
              </a:solidFill>
              <a:latin typeface="Times New Roman" panose="02020603050405020304" charset="0"/>
              <a:cs typeface="Times New Roman" panose="02020603050405020304" charset="0"/>
            </a:endParaRPr>
          </a:p>
        </p:txBody>
      </p:sp>
      <p:sp>
        <p:nvSpPr>
          <p:cNvPr id="11" name="TextBox 10"/>
          <p:cNvSpPr txBox="1"/>
          <p:nvPr/>
        </p:nvSpPr>
        <p:spPr>
          <a:xfrm>
            <a:off x="8486775" y="3962400"/>
            <a:ext cx="2838450" cy="1230630"/>
          </a:xfrm>
          <a:prstGeom prst="rect">
            <a:avLst/>
          </a:prstGeom>
          <a:noFill/>
        </p:spPr>
        <p:txBody>
          <a:bodyPr wrap="square" lIns="0" tIns="0" rIns="0" bIns="0" anchor="t">
            <a:spAutoFit/>
          </a:bodyPr>
          <a:lstStyle/>
          <a:p>
            <a:pPr algn="ctr">
              <a:lnSpc>
                <a:spcPts val="2400"/>
              </a:lnSpc>
            </a:pPr>
            <a:r>
              <a:rPr sz="1700" b="0" i="0" u="none">
                <a:solidFill>
                  <a:srgbClr val="334155"/>
                </a:solidFill>
                <a:latin typeface="Times New Roman" panose="02020603050405020304" charset="0"/>
                <a:cs typeface="Times New Roman" panose="02020603050405020304" charset="0"/>
              </a:rPr>
              <a:t>Establish seamless, real-time wireless communication between the web application and the mobile robot.</a:t>
            </a:r>
            <a:endParaRPr sz="1700" b="0" i="0" u="none">
              <a:solidFill>
                <a:srgbClr val="334155"/>
              </a:solidFill>
              <a:latin typeface="Times New Roman" panose="02020603050405020304" charset="0"/>
              <a:cs typeface="Times New Roman" panose="02020603050405020304" charset="0"/>
            </a:endParaRPr>
          </a:p>
        </p:txBody>
      </p:sp>
      <p:pic>
        <p:nvPicPr>
          <p:cNvPr id="12" name="Picture 11" descr="image.png"/>
          <p:cNvPicPr>
            <a:picLocks noChangeAspect="1"/>
          </p:cNvPicPr>
          <p:nvPr/>
        </p:nvPicPr>
        <p:blipFill>
          <a:blip r:embed="rId4"/>
          <a:stretch>
            <a:fillRect/>
          </a:stretch>
        </p:blipFill>
        <p:spPr>
          <a:xfrm>
            <a:off x="1952625" y="2581275"/>
            <a:ext cx="666750" cy="533400"/>
          </a:xfrm>
          <a:prstGeom prst="rect">
            <a:avLst/>
          </a:prstGeom>
        </p:spPr>
      </p:pic>
      <p:pic>
        <p:nvPicPr>
          <p:cNvPr id="13" name="Picture 12" descr="image.png"/>
          <p:cNvPicPr>
            <a:picLocks noChangeAspect="1"/>
          </p:cNvPicPr>
          <p:nvPr/>
        </p:nvPicPr>
        <p:blipFill>
          <a:blip r:embed="rId5"/>
          <a:stretch>
            <a:fillRect/>
          </a:stretch>
        </p:blipFill>
        <p:spPr>
          <a:xfrm>
            <a:off x="5862637" y="2581275"/>
            <a:ext cx="466725" cy="533400"/>
          </a:xfrm>
          <a:prstGeom prst="rect">
            <a:avLst/>
          </a:prstGeom>
        </p:spPr>
      </p:pic>
      <p:pic>
        <p:nvPicPr>
          <p:cNvPr id="14" name="Picture 13" descr="image.png"/>
          <p:cNvPicPr>
            <a:picLocks noChangeAspect="1"/>
          </p:cNvPicPr>
          <p:nvPr/>
        </p:nvPicPr>
        <p:blipFill>
          <a:blip r:embed="rId6"/>
          <a:stretch>
            <a:fillRect/>
          </a:stretch>
        </p:blipFill>
        <p:spPr>
          <a:xfrm>
            <a:off x="9572625" y="2581275"/>
            <a:ext cx="666750" cy="533400"/>
          </a:xfrm>
          <a:prstGeom prst="rect">
            <a:avLst/>
          </a:prstGeom>
        </p:spPr>
      </p:pic>
      <p:sp>
        <p:nvSpPr>
          <p:cNvPr id="15" name="TextBox 14"/>
          <p:cNvSpPr txBox="1"/>
          <p:nvPr/>
        </p:nvSpPr>
        <p:spPr>
          <a:xfrm>
            <a:off x="571500" y="571500"/>
            <a:ext cx="11601450" cy="492125"/>
          </a:xfrm>
          <a:prstGeom prst="rect">
            <a:avLst/>
          </a:prstGeom>
          <a:noFill/>
        </p:spPr>
        <p:txBody>
          <a:bodyPr wrap="square" lIns="0" tIns="0" rIns="0" bIns="0" anchor="t">
            <a:spAutoFit/>
          </a:bodyPr>
          <a:lstStyle/>
          <a:p>
            <a:pPr algn="l"/>
            <a:r>
              <a:rPr sz="3200" b="0" i="0" u="none">
                <a:solidFill>
                  <a:schemeClr val="tx1"/>
                </a:solidFill>
                <a:latin typeface="Times New Roman" panose="02020603050405020304" charset="0"/>
                <a:cs typeface="Times New Roman" panose="02020603050405020304" charset="0"/>
              </a:rPr>
              <a:t>Objectives: Digital Interface</a:t>
            </a:r>
            <a:endParaRPr sz="3200" b="0" i="0" u="none">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2"/>
          <a:stretch>
            <a:fillRect/>
          </a:stretch>
        </p:blipFill>
        <p:spPr>
          <a:xfrm>
            <a:off x="571500" y="2143125"/>
            <a:ext cx="3429000" cy="3571875"/>
          </a:xfrm>
          <a:prstGeom prst="rect">
            <a:avLst/>
          </a:prstGeom>
        </p:spPr>
      </p:pic>
      <p:pic>
        <p:nvPicPr>
          <p:cNvPr id="4" name="Picture 3" descr="image.png"/>
          <p:cNvPicPr>
            <a:picLocks noChangeAspect="1"/>
          </p:cNvPicPr>
          <p:nvPr/>
        </p:nvPicPr>
        <p:blipFill>
          <a:blip r:embed="rId3"/>
          <a:stretch>
            <a:fillRect/>
          </a:stretch>
        </p:blipFill>
        <p:spPr>
          <a:xfrm>
            <a:off x="4381500" y="2143125"/>
            <a:ext cx="3429000" cy="3571875"/>
          </a:xfrm>
          <a:prstGeom prst="rect">
            <a:avLst/>
          </a:prstGeom>
        </p:spPr>
      </p:pic>
      <p:pic>
        <p:nvPicPr>
          <p:cNvPr id="5" name="Picture 4" descr="image.png"/>
          <p:cNvPicPr>
            <a:picLocks noChangeAspect="1"/>
          </p:cNvPicPr>
          <p:nvPr/>
        </p:nvPicPr>
        <p:blipFill>
          <a:blip r:embed="rId3"/>
          <a:stretch>
            <a:fillRect/>
          </a:stretch>
        </p:blipFill>
        <p:spPr>
          <a:xfrm>
            <a:off x="8191500" y="2143125"/>
            <a:ext cx="3429000" cy="3571875"/>
          </a:xfrm>
          <a:prstGeom prst="rect">
            <a:avLst/>
          </a:prstGeom>
        </p:spPr>
      </p:pic>
      <p:sp>
        <p:nvSpPr>
          <p:cNvPr id="6" name="TextBox 5"/>
          <p:cNvSpPr txBox="1"/>
          <p:nvPr/>
        </p:nvSpPr>
        <p:spPr>
          <a:xfrm>
            <a:off x="1490900" y="3419475"/>
            <a:ext cx="1590198" cy="322580"/>
          </a:xfrm>
          <a:prstGeom prst="rect">
            <a:avLst/>
          </a:prstGeom>
          <a:noFill/>
        </p:spPr>
        <p:txBody>
          <a:bodyPr wrap="square" lIns="0" tIns="0" rIns="0" bIns="0" anchor="t">
            <a:spAutoFit/>
          </a:bodyPr>
          <a:lstStyle/>
          <a:p>
            <a:pPr algn="ctr"/>
            <a:r>
              <a:rPr sz="2100" b="0" i="0" u="none">
                <a:solidFill>
                  <a:srgbClr val="2563EB"/>
                </a:solidFill>
                <a:latin typeface="Times New Roman" panose="02020603050405020304" charset="0"/>
                <a:cs typeface="Times New Roman" panose="02020603050405020304" charset="0"/>
              </a:rPr>
              <a:t>Navigation</a:t>
            </a:r>
            <a:endParaRPr sz="2100" b="0" i="0" u="none">
              <a:solidFill>
                <a:srgbClr val="2563EB"/>
              </a:solidFill>
              <a:latin typeface="Times New Roman" panose="02020603050405020304" charset="0"/>
              <a:cs typeface="Times New Roman" panose="02020603050405020304" charset="0"/>
            </a:endParaRPr>
          </a:p>
        </p:txBody>
      </p:sp>
      <p:sp>
        <p:nvSpPr>
          <p:cNvPr id="7" name="TextBox 6"/>
          <p:cNvSpPr txBox="1"/>
          <p:nvPr/>
        </p:nvSpPr>
        <p:spPr>
          <a:xfrm>
            <a:off x="866775" y="3962400"/>
            <a:ext cx="2838450" cy="1230630"/>
          </a:xfrm>
          <a:prstGeom prst="rect">
            <a:avLst/>
          </a:prstGeom>
          <a:noFill/>
        </p:spPr>
        <p:txBody>
          <a:bodyPr wrap="square" lIns="0" tIns="0" rIns="0" bIns="0" anchor="t">
            <a:spAutoFit/>
          </a:bodyPr>
          <a:lstStyle/>
          <a:p>
            <a:pPr algn="ctr">
              <a:lnSpc>
                <a:spcPts val="2400"/>
              </a:lnSpc>
            </a:pPr>
            <a:r>
              <a:rPr sz="1700" b="0" i="0" u="none">
                <a:solidFill>
                  <a:srgbClr val="334155"/>
                </a:solidFill>
                <a:latin typeface="Times New Roman" panose="02020603050405020304" charset="0"/>
                <a:cs typeface="Times New Roman" panose="02020603050405020304" charset="0"/>
              </a:rPr>
              <a:t>Enable the robot to maneuver autonomously and safely through a predefined supermarket path grid.</a:t>
            </a:r>
            <a:endParaRPr sz="1700" b="0" i="0" u="none">
              <a:solidFill>
                <a:srgbClr val="334155"/>
              </a:solidFill>
              <a:latin typeface="Times New Roman" panose="02020603050405020304" charset="0"/>
              <a:cs typeface="Times New Roman" panose="02020603050405020304" charset="0"/>
            </a:endParaRPr>
          </a:p>
        </p:txBody>
      </p:sp>
      <p:sp>
        <p:nvSpPr>
          <p:cNvPr id="8" name="TextBox 7"/>
          <p:cNvSpPr txBox="1"/>
          <p:nvPr/>
        </p:nvSpPr>
        <p:spPr>
          <a:xfrm>
            <a:off x="4885848" y="3419475"/>
            <a:ext cx="2420302" cy="400050"/>
          </a:xfrm>
          <a:prstGeom prst="rect">
            <a:avLst/>
          </a:prstGeom>
          <a:noFill/>
        </p:spPr>
        <p:txBody>
          <a:bodyPr wrap="square" lIns="0" tIns="0" rIns="0" bIns="0" anchor="t">
            <a:spAutoFit/>
          </a:bodyPr>
          <a:lstStyle/>
          <a:p>
            <a:pPr algn="ctr"/>
            <a:r>
              <a:rPr sz="2100" b="0" i="0" u="none">
                <a:solidFill>
                  <a:srgbClr val="2563EB"/>
                </a:solidFill>
                <a:latin typeface="Times New Roman" panose="02020603050405020304" charset="0"/>
                <a:cs typeface="Times New Roman" panose="02020603050405020304" charset="0"/>
              </a:rPr>
              <a:t>Computer Vision</a:t>
            </a:r>
            <a:endParaRPr sz="2100" b="0" i="0" u="none">
              <a:solidFill>
                <a:srgbClr val="2563EB"/>
              </a:solidFill>
              <a:latin typeface="Times New Roman" panose="02020603050405020304" charset="0"/>
              <a:cs typeface="Times New Roman" panose="02020603050405020304" charset="0"/>
            </a:endParaRPr>
          </a:p>
        </p:txBody>
      </p:sp>
      <p:sp>
        <p:nvSpPr>
          <p:cNvPr id="9" name="TextBox 8"/>
          <p:cNvSpPr txBox="1"/>
          <p:nvPr/>
        </p:nvSpPr>
        <p:spPr>
          <a:xfrm>
            <a:off x="4676775" y="3962400"/>
            <a:ext cx="2838450" cy="1230630"/>
          </a:xfrm>
          <a:prstGeom prst="rect">
            <a:avLst/>
          </a:prstGeom>
          <a:noFill/>
        </p:spPr>
        <p:txBody>
          <a:bodyPr wrap="square" lIns="0" tIns="0" rIns="0" bIns="0" anchor="t">
            <a:spAutoFit/>
          </a:bodyPr>
          <a:lstStyle/>
          <a:p>
            <a:pPr algn="ctr">
              <a:lnSpc>
                <a:spcPts val="2400"/>
              </a:lnSpc>
            </a:pPr>
            <a:r>
              <a:rPr sz="1700" b="0" i="0" u="none">
                <a:solidFill>
                  <a:srgbClr val="334155"/>
                </a:solidFill>
                <a:latin typeface="Times New Roman" panose="02020603050405020304" charset="0"/>
                <a:cs typeface="Times New Roman" panose="02020603050405020304" charset="0"/>
              </a:rPr>
              <a:t>Deploy an onboard camera system to visually identify and verify the target product before interaction.</a:t>
            </a:r>
            <a:endParaRPr sz="1700" b="0" i="0" u="none">
              <a:solidFill>
                <a:srgbClr val="334155"/>
              </a:solidFill>
              <a:latin typeface="Times New Roman" panose="02020603050405020304" charset="0"/>
              <a:cs typeface="Times New Roman" panose="02020603050405020304" charset="0"/>
            </a:endParaRPr>
          </a:p>
        </p:txBody>
      </p:sp>
      <p:sp>
        <p:nvSpPr>
          <p:cNvPr id="10" name="TextBox 9"/>
          <p:cNvSpPr txBox="1"/>
          <p:nvPr/>
        </p:nvSpPr>
        <p:spPr>
          <a:xfrm>
            <a:off x="9040891" y="3419475"/>
            <a:ext cx="1730216" cy="400050"/>
          </a:xfrm>
          <a:prstGeom prst="rect">
            <a:avLst/>
          </a:prstGeom>
          <a:noFill/>
        </p:spPr>
        <p:txBody>
          <a:bodyPr wrap="square" lIns="0" tIns="0" rIns="0" bIns="0" anchor="t">
            <a:spAutoFit/>
          </a:bodyPr>
          <a:lstStyle/>
          <a:p>
            <a:pPr algn="ctr"/>
            <a:r>
              <a:rPr sz="2100" b="0" i="0" u="none">
                <a:solidFill>
                  <a:srgbClr val="2563EB"/>
                </a:solidFill>
                <a:latin typeface="Times New Roman" panose="02020603050405020304" charset="0"/>
                <a:cs typeface="Times New Roman" panose="02020603050405020304" charset="0"/>
              </a:rPr>
              <a:t>Pick &amp; Place</a:t>
            </a:r>
            <a:endParaRPr sz="2100" b="0" i="0" u="none">
              <a:solidFill>
                <a:srgbClr val="2563EB"/>
              </a:solidFill>
              <a:latin typeface="Times New Roman" panose="02020603050405020304" charset="0"/>
              <a:cs typeface="Times New Roman" panose="02020603050405020304" charset="0"/>
            </a:endParaRPr>
          </a:p>
        </p:txBody>
      </p:sp>
      <p:sp>
        <p:nvSpPr>
          <p:cNvPr id="11" name="TextBox 10"/>
          <p:cNvSpPr txBox="1"/>
          <p:nvPr/>
        </p:nvSpPr>
        <p:spPr>
          <a:xfrm>
            <a:off x="8486775" y="3962400"/>
            <a:ext cx="2838450" cy="1230630"/>
          </a:xfrm>
          <a:prstGeom prst="rect">
            <a:avLst/>
          </a:prstGeom>
          <a:noFill/>
        </p:spPr>
        <p:txBody>
          <a:bodyPr wrap="square" lIns="0" tIns="0" rIns="0" bIns="0" anchor="t">
            <a:spAutoFit/>
          </a:bodyPr>
          <a:lstStyle/>
          <a:p>
            <a:pPr algn="ctr">
              <a:lnSpc>
                <a:spcPts val="2400"/>
              </a:lnSpc>
            </a:pPr>
            <a:r>
              <a:rPr sz="1700" b="0" i="0" u="none">
                <a:solidFill>
                  <a:srgbClr val="334155"/>
                </a:solidFill>
                <a:latin typeface="Times New Roman" panose="02020603050405020304" charset="0"/>
                <a:cs typeface="Times New Roman" panose="02020603050405020304" charset="0"/>
              </a:rPr>
              <a:t>Engineer a dependable autonomous robotic manipulation mechanism for collecting products.</a:t>
            </a:r>
            <a:endParaRPr sz="1700" b="0" i="0" u="none">
              <a:solidFill>
                <a:srgbClr val="334155"/>
              </a:solidFill>
              <a:latin typeface="Times New Roman" panose="02020603050405020304" charset="0"/>
              <a:cs typeface="Times New Roman" panose="02020603050405020304" charset="0"/>
            </a:endParaRPr>
          </a:p>
        </p:txBody>
      </p:sp>
      <p:pic>
        <p:nvPicPr>
          <p:cNvPr id="12" name="Picture 11" descr="image.png"/>
          <p:cNvPicPr>
            <a:picLocks noChangeAspect="1"/>
          </p:cNvPicPr>
          <p:nvPr/>
        </p:nvPicPr>
        <p:blipFill>
          <a:blip r:embed="rId4"/>
          <a:stretch>
            <a:fillRect/>
          </a:stretch>
        </p:blipFill>
        <p:spPr>
          <a:xfrm>
            <a:off x="1985962" y="2581275"/>
            <a:ext cx="600075" cy="533400"/>
          </a:xfrm>
          <a:prstGeom prst="rect">
            <a:avLst/>
          </a:prstGeom>
        </p:spPr>
      </p:pic>
      <p:pic>
        <p:nvPicPr>
          <p:cNvPr id="13" name="Picture 12" descr="image.png"/>
          <p:cNvPicPr>
            <a:picLocks noChangeAspect="1"/>
          </p:cNvPicPr>
          <p:nvPr/>
        </p:nvPicPr>
        <p:blipFill>
          <a:blip r:embed="rId5"/>
          <a:stretch>
            <a:fillRect/>
          </a:stretch>
        </p:blipFill>
        <p:spPr>
          <a:xfrm>
            <a:off x="5829300" y="2581275"/>
            <a:ext cx="533400" cy="533400"/>
          </a:xfrm>
          <a:prstGeom prst="rect">
            <a:avLst/>
          </a:prstGeom>
        </p:spPr>
      </p:pic>
      <p:pic>
        <p:nvPicPr>
          <p:cNvPr id="14" name="Picture 13" descr="image.png"/>
          <p:cNvPicPr>
            <a:picLocks noChangeAspect="1"/>
          </p:cNvPicPr>
          <p:nvPr/>
        </p:nvPicPr>
        <p:blipFill>
          <a:blip r:embed="rId6"/>
          <a:stretch>
            <a:fillRect/>
          </a:stretch>
        </p:blipFill>
        <p:spPr>
          <a:xfrm>
            <a:off x="9605962" y="2581275"/>
            <a:ext cx="600075" cy="533400"/>
          </a:xfrm>
          <a:prstGeom prst="rect">
            <a:avLst/>
          </a:prstGeom>
        </p:spPr>
      </p:pic>
      <p:sp>
        <p:nvSpPr>
          <p:cNvPr id="15" name="TextBox 14"/>
          <p:cNvSpPr txBox="1"/>
          <p:nvPr/>
        </p:nvSpPr>
        <p:spPr>
          <a:xfrm>
            <a:off x="571500" y="571500"/>
            <a:ext cx="11601450" cy="492125"/>
          </a:xfrm>
          <a:prstGeom prst="rect">
            <a:avLst/>
          </a:prstGeom>
          <a:noFill/>
        </p:spPr>
        <p:txBody>
          <a:bodyPr wrap="square" lIns="0" tIns="0" rIns="0" bIns="0" anchor="t">
            <a:spAutoFit/>
          </a:bodyPr>
          <a:lstStyle/>
          <a:p>
            <a:pPr algn="l"/>
            <a:r>
              <a:rPr sz="3200" b="0" i="0" u="none">
                <a:solidFill>
                  <a:schemeClr val="tx1"/>
                </a:solidFill>
                <a:latin typeface="Times New Roman" panose="02020603050405020304" charset="0"/>
                <a:cs typeface="Times New Roman" panose="02020603050405020304" charset="0"/>
              </a:rPr>
              <a:t>Objectives: Robotics Core</a:t>
            </a:r>
            <a:endParaRPr sz="3200" b="0" i="0" u="none">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pic>
        <p:nvPicPr>
          <p:cNvPr id="37" name="Picture 36" descr="image.png"/>
          <p:cNvPicPr>
            <a:picLocks noChangeAspect="1"/>
          </p:cNvPicPr>
          <p:nvPr/>
        </p:nvPicPr>
        <p:blipFill>
          <a:blip r:embed="rId2"/>
          <a:stretch>
            <a:fillRect/>
          </a:stretch>
        </p:blipFill>
        <p:spPr>
          <a:xfrm>
            <a:off x="0" y="0"/>
            <a:ext cx="12192000" cy="6858000"/>
          </a:xfrm>
          <a:prstGeom prst="rect">
            <a:avLst/>
          </a:prstGeom>
        </p:spPr>
      </p:pic>
      <p:sp>
        <p:nvSpPr>
          <p:cNvPr id="53" name="Text Box 52"/>
          <p:cNvSpPr txBox="1"/>
          <p:nvPr/>
        </p:nvSpPr>
        <p:spPr>
          <a:xfrm>
            <a:off x="530225" y="1363345"/>
            <a:ext cx="6381750" cy="5285105"/>
          </a:xfrm>
          <a:prstGeom prst="rect">
            <a:avLst/>
          </a:prstGeom>
        </p:spPr>
        <p:txBody>
          <a:bodyPr wrap="square">
            <a:noAutofit/>
          </a:bodyPr>
          <a:p>
            <a:pPr marL="285750" indent="-285750">
              <a:buFont typeface="Wingdings" panose="05000000000000000000" charset="0"/>
              <a:buChar char="Ø"/>
            </a:pPr>
            <a:r>
              <a:rPr sz="1700">
                <a:solidFill>
                  <a:schemeClr val="accent1"/>
                </a:solidFill>
                <a:latin typeface="Times New Roman" panose="02020603050405020304" charset="0"/>
                <a:cs typeface="Times New Roman" panose="02020603050405020304" charset="0"/>
              </a:rPr>
              <a:t> </a:t>
            </a:r>
            <a:r>
              <a:rPr sz="1700" b="1">
                <a:solidFill>
                  <a:schemeClr val="accent1"/>
                </a:solidFill>
                <a:latin typeface="Times New Roman" panose="02020603050405020304" charset="0"/>
                <a:cs typeface="Times New Roman" panose="02020603050405020304" charset="0"/>
              </a:rPr>
              <a:t>Smart Retail Automation</a:t>
            </a:r>
            <a:endParaRPr sz="1700">
              <a:solidFill>
                <a:schemeClr val="accent1"/>
              </a:solidFill>
              <a:latin typeface="Times New Roman" panose="02020603050405020304" charset="0"/>
              <a:cs typeface="Times New Roman" panose="02020603050405020304" charset="0"/>
            </a:endParaRPr>
          </a:p>
          <a:p>
            <a:pPr indent="0">
              <a:buFont typeface="Wingdings" panose="05000000000000000000" charset="0"/>
              <a:buNone/>
            </a:pPr>
            <a:r>
              <a:rPr lang="en-US" sz="1700">
                <a:latin typeface="Times New Roman" panose="02020603050405020304" charset="0"/>
                <a:cs typeface="Times New Roman" panose="02020603050405020304" charset="0"/>
              </a:rPr>
              <a:t>       </a:t>
            </a:r>
            <a:r>
              <a:rPr sz="1700">
                <a:latin typeface="Times New Roman" panose="02020603050405020304" charset="0"/>
                <a:cs typeface="Times New Roman" panose="02020603050405020304" charset="0"/>
              </a:rPr>
              <a:t>AI, computer vision, IoT, and robotics are creating new</a:t>
            </a:r>
            <a:endParaRPr sz="1700">
              <a:latin typeface="Times New Roman" panose="02020603050405020304" charset="0"/>
              <a:cs typeface="Times New Roman" panose="02020603050405020304" charset="0"/>
            </a:endParaRPr>
          </a:p>
          <a:p>
            <a:pPr indent="0">
              <a:buFont typeface="Wingdings" panose="05000000000000000000" charset="0"/>
              <a:buNone/>
            </a:pPr>
            <a:r>
              <a:rPr sz="1700">
                <a:latin typeface="Times New Roman" panose="02020603050405020304" charset="0"/>
                <a:cs typeface="Times New Roman" panose="02020603050405020304" charset="0"/>
              </a:rPr>
              <a:t> </a:t>
            </a:r>
            <a:r>
              <a:rPr lang="en-US" sz="1700">
                <a:latin typeface="Times New Roman" panose="02020603050405020304" charset="0"/>
                <a:cs typeface="Times New Roman" panose="02020603050405020304" charset="0"/>
              </a:rPr>
              <a:t>    </a:t>
            </a:r>
            <a:r>
              <a:rPr sz="1700">
                <a:latin typeface="Times New Roman" panose="02020603050405020304" charset="0"/>
                <a:cs typeface="Times New Roman" panose="02020603050405020304" charset="0"/>
              </a:rPr>
              <a:t> opportunities </a:t>
            </a:r>
            <a:r>
              <a:rPr lang="en-US" sz="1700">
                <a:latin typeface="Times New Roman" panose="02020603050405020304" charset="0"/>
                <a:cs typeface="Times New Roman" panose="02020603050405020304" charset="0"/>
              </a:rPr>
              <a:t>to </a:t>
            </a:r>
            <a:r>
              <a:rPr sz="1700">
                <a:latin typeface="Times New Roman" panose="02020603050405020304" charset="0"/>
                <a:cs typeface="Times New Roman" panose="02020603050405020304" charset="0"/>
              </a:rPr>
              <a:t>automate conventional supermarket activities.</a:t>
            </a:r>
            <a:endParaRPr sz="1700">
              <a:latin typeface="Times New Roman" panose="02020603050405020304" charset="0"/>
              <a:cs typeface="Times New Roman" panose="02020603050405020304" charset="0"/>
            </a:endParaRPr>
          </a:p>
          <a:p>
            <a:pPr indent="0">
              <a:buFont typeface="Wingdings" panose="05000000000000000000" charset="0"/>
              <a:buNone/>
            </a:pPr>
            <a:endParaRPr sz="1700">
              <a:latin typeface="Times New Roman" panose="02020603050405020304" charset="0"/>
              <a:cs typeface="Times New Roman" panose="02020603050405020304" charset="0"/>
            </a:endParaRPr>
          </a:p>
          <a:p>
            <a:pPr marL="285750" indent="-285750">
              <a:buFont typeface="Wingdings" panose="05000000000000000000" charset="0"/>
              <a:buChar char="Ø"/>
            </a:pPr>
            <a:r>
              <a:rPr sz="1700" b="1">
                <a:solidFill>
                  <a:schemeClr val="accent1"/>
                </a:solidFill>
                <a:latin typeface="Times New Roman" panose="02020603050405020304" charset="0"/>
                <a:cs typeface="Times New Roman" panose="02020603050405020304" charset="0"/>
              </a:rPr>
              <a:t> Problem with Traditional Shopping</a:t>
            </a:r>
            <a:r>
              <a:rPr lang="en-US" sz="1700" b="1">
                <a:solidFill>
                  <a:schemeClr val="accent1"/>
                </a:solidFill>
                <a:latin typeface="Times New Roman" panose="02020603050405020304" charset="0"/>
                <a:cs typeface="Times New Roman" panose="02020603050405020304" charset="0"/>
              </a:rPr>
              <a:t> </a:t>
            </a:r>
            <a:endParaRPr lang="en-US" sz="1700" b="1">
              <a:solidFill>
                <a:schemeClr val="accent1"/>
              </a:solidFill>
              <a:latin typeface="Times New Roman" panose="02020603050405020304" charset="0"/>
              <a:cs typeface="Times New Roman" panose="02020603050405020304" charset="0"/>
            </a:endParaRPr>
          </a:p>
          <a:p>
            <a:pPr indent="0">
              <a:buFont typeface="Wingdings" panose="05000000000000000000" charset="0"/>
              <a:buNone/>
            </a:pPr>
            <a:r>
              <a:rPr lang="en-US" sz="1700">
                <a:latin typeface="Times New Roman" panose="02020603050405020304" charset="0"/>
                <a:cs typeface="Times New Roman" panose="02020603050405020304" charset="0"/>
              </a:rPr>
              <a:t>       </a:t>
            </a:r>
            <a:r>
              <a:rPr sz="1700">
                <a:latin typeface="Times New Roman" panose="02020603050405020304" charset="0"/>
                <a:cs typeface="Times New Roman" panose="02020603050405020304" charset="0"/>
              </a:rPr>
              <a:t>Customers must manually search for products, walk through aisles,</a:t>
            </a:r>
            <a:endParaRPr sz="1700">
              <a:latin typeface="Times New Roman" panose="02020603050405020304" charset="0"/>
              <a:cs typeface="Times New Roman" panose="02020603050405020304" charset="0"/>
            </a:endParaRPr>
          </a:p>
          <a:p>
            <a:pPr indent="0">
              <a:buFont typeface="Wingdings" panose="05000000000000000000" charset="0"/>
              <a:buNone/>
            </a:pPr>
            <a:r>
              <a:rPr sz="1700">
                <a:latin typeface="Times New Roman" panose="02020603050405020304" charset="0"/>
                <a:cs typeface="Times New Roman" panose="02020603050405020304" charset="0"/>
              </a:rPr>
              <a:t> </a:t>
            </a:r>
            <a:r>
              <a:rPr lang="en-US" sz="1700">
                <a:latin typeface="Times New Roman" panose="02020603050405020304" charset="0"/>
                <a:cs typeface="Times New Roman" panose="02020603050405020304" charset="0"/>
              </a:rPr>
              <a:t>     </a:t>
            </a:r>
            <a:r>
              <a:rPr sz="1700">
                <a:latin typeface="Times New Roman" panose="02020603050405020304" charset="0"/>
                <a:cs typeface="Times New Roman" panose="02020603050405020304" charset="0"/>
              </a:rPr>
              <a:t> collect items, carry the basket, and complete billing.</a:t>
            </a:r>
            <a:endParaRPr sz="1700">
              <a:latin typeface="Times New Roman" panose="02020603050405020304" charset="0"/>
              <a:cs typeface="Times New Roman" panose="02020603050405020304" charset="0"/>
            </a:endParaRPr>
          </a:p>
          <a:p>
            <a:pPr indent="0">
              <a:buFont typeface="Wingdings" panose="05000000000000000000" charset="0"/>
              <a:buNone/>
            </a:pPr>
            <a:endParaRPr sz="1700">
              <a:latin typeface="Times New Roman" panose="02020603050405020304" charset="0"/>
              <a:cs typeface="Times New Roman" panose="02020603050405020304" charset="0"/>
            </a:endParaRPr>
          </a:p>
          <a:p>
            <a:pPr marL="285750" indent="-285750">
              <a:buFont typeface="Wingdings" panose="05000000000000000000" charset="0"/>
              <a:buChar char="Ø"/>
            </a:pPr>
            <a:r>
              <a:rPr sz="1700" b="1">
                <a:solidFill>
                  <a:schemeClr val="accent1"/>
                </a:solidFill>
                <a:latin typeface="Times New Roman" panose="02020603050405020304" charset="0"/>
                <a:cs typeface="Times New Roman" panose="02020603050405020304" charset="0"/>
              </a:rPr>
              <a:t>Proposed Solution</a:t>
            </a:r>
            <a:endParaRPr sz="1700" b="1">
              <a:solidFill>
                <a:schemeClr val="accent1"/>
              </a:solidFill>
              <a:latin typeface="Times New Roman" panose="02020603050405020304" charset="0"/>
              <a:cs typeface="Times New Roman" panose="02020603050405020304" charset="0"/>
            </a:endParaRPr>
          </a:p>
          <a:p>
            <a:r>
              <a:rPr sz="1700">
                <a:latin typeface="Times New Roman" panose="02020603050405020304" charset="0"/>
                <a:cs typeface="Times New Roman" panose="02020603050405020304" charset="0"/>
              </a:rPr>
              <a:t> </a:t>
            </a:r>
            <a:r>
              <a:rPr lang="en-US" sz="1700">
                <a:latin typeface="Times New Roman" panose="02020603050405020304" charset="0"/>
                <a:cs typeface="Times New Roman" panose="02020603050405020304" charset="0"/>
              </a:rPr>
              <a:t>     </a:t>
            </a:r>
            <a:r>
              <a:rPr sz="1700">
                <a:latin typeface="Times New Roman" panose="02020603050405020304" charset="0"/>
                <a:cs typeface="Times New Roman" panose="02020603050405020304" charset="0"/>
              </a:rPr>
              <a:t>Our project introduces an autonomous vision-based robot</a:t>
            </a:r>
            <a:endParaRPr sz="1700">
              <a:latin typeface="Times New Roman" panose="02020603050405020304" charset="0"/>
              <a:cs typeface="Times New Roman" panose="02020603050405020304" charset="0"/>
            </a:endParaRPr>
          </a:p>
          <a:p>
            <a:r>
              <a:rPr sz="1700">
                <a:latin typeface="Times New Roman" panose="02020603050405020304" charset="0"/>
                <a:cs typeface="Times New Roman" panose="02020603050405020304" charset="0"/>
              </a:rPr>
              <a:t> </a:t>
            </a:r>
            <a:r>
              <a:rPr lang="en-US" sz="1700">
                <a:latin typeface="Times New Roman" panose="02020603050405020304" charset="0"/>
                <a:cs typeface="Times New Roman" panose="02020603050405020304" charset="0"/>
              </a:rPr>
              <a:t>    </a:t>
            </a:r>
            <a:r>
              <a:rPr sz="1700">
                <a:latin typeface="Times New Roman" panose="02020603050405020304" charset="0"/>
                <a:cs typeface="Times New Roman" panose="02020603050405020304" charset="0"/>
              </a:rPr>
              <a:t> integrated with an interactive web-based shopping system.</a:t>
            </a:r>
            <a:endParaRPr sz="1700">
              <a:latin typeface="Times New Roman" panose="02020603050405020304" charset="0"/>
              <a:cs typeface="Times New Roman" panose="02020603050405020304" charset="0"/>
            </a:endParaRPr>
          </a:p>
          <a:p>
            <a:endParaRPr sz="1700">
              <a:latin typeface="Times New Roman" panose="02020603050405020304" charset="0"/>
              <a:cs typeface="Times New Roman" panose="02020603050405020304" charset="0"/>
            </a:endParaRPr>
          </a:p>
          <a:p>
            <a:pPr marL="285750" indent="-285750">
              <a:buFont typeface="Wingdings" panose="05000000000000000000" charset="0"/>
              <a:buChar char="Ø"/>
            </a:pPr>
            <a:r>
              <a:rPr sz="1700" b="1">
                <a:solidFill>
                  <a:schemeClr val="accent1"/>
                </a:solidFill>
                <a:latin typeface="Times New Roman" panose="02020603050405020304" charset="0"/>
                <a:cs typeface="Times New Roman" panose="02020603050405020304" charset="0"/>
              </a:rPr>
              <a:t>Intelligent Operation</a:t>
            </a:r>
            <a:endParaRPr sz="1700" b="1">
              <a:solidFill>
                <a:schemeClr val="accent1"/>
              </a:solidFill>
              <a:latin typeface="Times New Roman" panose="02020603050405020304" charset="0"/>
              <a:cs typeface="Times New Roman" panose="02020603050405020304" charset="0"/>
            </a:endParaRPr>
          </a:p>
          <a:p>
            <a:r>
              <a:rPr sz="1700">
                <a:latin typeface="Times New Roman" panose="02020603050405020304" charset="0"/>
                <a:cs typeface="Times New Roman" panose="02020603050405020304" charset="0"/>
              </a:rPr>
              <a:t> </a:t>
            </a:r>
            <a:r>
              <a:rPr lang="en-US" sz="1700">
                <a:latin typeface="Times New Roman" panose="02020603050405020304" charset="0"/>
                <a:cs typeface="Times New Roman" panose="02020603050405020304" charset="0"/>
              </a:rPr>
              <a:t>     </a:t>
            </a:r>
            <a:r>
              <a:rPr sz="1700">
                <a:latin typeface="Times New Roman" panose="02020603050405020304" charset="0"/>
                <a:cs typeface="Times New Roman" panose="02020603050405020304" charset="0"/>
              </a:rPr>
              <a:t>The robot receives the customer’s order, navigates to product</a:t>
            </a:r>
            <a:endParaRPr sz="1700">
              <a:latin typeface="Times New Roman" panose="02020603050405020304" charset="0"/>
              <a:cs typeface="Times New Roman" panose="02020603050405020304" charset="0"/>
            </a:endParaRPr>
          </a:p>
          <a:p>
            <a:r>
              <a:rPr sz="1700">
                <a:latin typeface="Times New Roman" panose="02020603050405020304" charset="0"/>
                <a:cs typeface="Times New Roman" panose="02020603050405020304" charset="0"/>
              </a:rPr>
              <a:t> </a:t>
            </a:r>
            <a:r>
              <a:rPr lang="en-US" sz="1700">
                <a:latin typeface="Times New Roman" panose="02020603050405020304" charset="0"/>
                <a:cs typeface="Times New Roman" panose="02020603050405020304" charset="0"/>
              </a:rPr>
              <a:t>    </a:t>
            </a:r>
            <a:r>
              <a:rPr sz="1700">
                <a:latin typeface="Times New Roman" panose="02020603050405020304" charset="0"/>
                <a:cs typeface="Times New Roman" panose="02020603050405020304" charset="0"/>
              </a:rPr>
              <a:t> locations</a:t>
            </a:r>
            <a:r>
              <a:rPr lang="en-US" sz="1700">
                <a:latin typeface="Times New Roman" panose="02020603050405020304" charset="0"/>
                <a:cs typeface="Times New Roman" panose="02020603050405020304" charset="0"/>
              </a:rPr>
              <a:t>,</a:t>
            </a:r>
            <a:r>
              <a:rPr sz="1700">
                <a:latin typeface="Times New Roman" panose="02020603050405020304" charset="0"/>
                <a:cs typeface="Times New Roman" panose="02020603050405020304" charset="0"/>
              </a:rPr>
              <a:t> identifies products using a camera and compute</a:t>
            </a:r>
            <a:r>
              <a:rPr lang="en-US" sz="1700">
                <a:latin typeface="Times New Roman" panose="02020603050405020304" charset="0"/>
                <a:cs typeface="Times New Roman" panose="02020603050405020304" charset="0"/>
              </a:rPr>
              <a:t>r </a:t>
            </a:r>
            <a:r>
              <a:rPr sz="1700">
                <a:latin typeface="Times New Roman" panose="02020603050405020304" charset="0"/>
                <a:cs typeface="Times New Roman" panose="02020603050405020304" charset="0"/>
              </a:rPr>
              <a:t>vision,</a:t>
            </a:r>
            <a:endParaRPr sz="1700">
              <a:latin typeface="Times New Roman" panose="02020603050405020304" charset="0"/>
              <a:cs typeface="Times New Roman" panose="02020603050405020304" charset="0"/>
            </a:endParaRPr>
          </a:p>
          <a:p>
            <a:r>
              <a:rPr sz="1700">
                <a:latin typeface="Times New Roman" panose="02020603050405020304" charset="0"/>
                <a:cs typeface="Times New Roman" panose="02020603050405020304" charset="0"/>
              </a:rPr>
              <a:t> </a:t>
            </a:r>
            <a:r>
              <a:rPr lang="en-US" sz="1700">
                <a:latin typeface="Times New Roman" panose="02020603050405020304" charset="0"/>
                <a:cs typeface="Times New Roman" panose="02020603050405020304" charset="0"/>
              </a:rPr>
              <a:t>    </a:t>
            </a:r>
            <a:r>
              <a:rPr sz="1700">
                <a:latin typeface="Times New Roman" panose="02020603050405020304" charset="0"/>
                <a:cs typeface="Times New Roman" panose="02020603050405020304" charset="0"/>
              </a:rPr>
              <a:t> and perfor</a:t>
            </a:r>
            <a:r>
              <a:rPr lang="en-US" sz="1700">
                <a:latin typeface="Times New Roman" panose="02020603050405020304" charset="0"/>
                <a:cs typeface="Times New Roman" panose="02020603050405020304" charset="0"/>
              </a:rPr>
              <a:t>ms</a:t>
            </a:r>
            <a:r>
              <a:rPr sz="1700">
                <a:latin typeface="Times New Roman" panose="02020603050405020304" charset="0"/>
                <a:cs typeface="Times New Roman" panose="02020603050405020304" charset="0"/>
              </a:rPr>
              <a:t> pick-and-place operations.</a:t>
            </a:r>
            <a:endParaRPr sz="1700">
              <a:latin typeface="Times New Roman" panose="02020603050405020304" charset="0"/>
              <a:cs typeface="Times New Roman" panose="02020603050405020304" charset="0"/>
            </a:endParaRPr>
          </a:p>
          <a:p>
            <a:r>
              <a:rPr sz="1700">
                <a:latin typeface="Times New Roman" panose="02020603050405020304" charset="0"/>
                <a:cs typeface="Times New Roman" panose="02020603050405020304" charset="0"/>
              </a:rPr>
              <a:t> </a:t>
            </a:r>
            <a:endParaRPr sz="1700">
              <a:latin typeface="Times New Roman" panose="02020603050405020304" charset="0"/>
              <a:cs typeface="Times New Roman" panose="02020603050405020304" charset="0"/>
            </a:endParaRPr>
          </a:p>
        </p:txBody>
      </p:sp>
      <p:pic>
        <p:nvPicPr>
          <p:cNvPr id="54" name="Picture 53"/>
          <p:cNvPicPr>
            <a:picLocks noChangeAspect="1"/>
          </p:cNvPicPr>
          <p:nvPr/>
        </p:nvPicPr>
        <p:blipFill>
          <a:blip r:embed="rId3"/>
          <a:stretch>
            <a:fillRect/>
          </a:stretch>
        </p:blipFill>
        <p:spPr>
          <a:xfrm>
            <a:off x="7414895" y="1463040"/>
            <a:ext cx="4122420" cy="3455035"/>
          </a:xfrm>
          <a:prstGeom prst="rect">
            <a:avLst/>
          </a:prstGeom>
          <a:ln>
            <a:solidFill>
              <a:schemeClr val="tx1"/>
            </a:solidFill>
          </a:ln>
        </p:spPr>
      </p:pic>
      <p:sp>
        <p:nvSpPr>
          <p:cNvPr id="56"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Introduction</a:t>
            </a:r>
            <a:endParaRPr lang="en-US" sz="3200" b="0" i="0" u="none">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8" descr="image.png"/>
          <p:cNvPicPr>
            <a:picLocks noChangeAspect="1"/>
          </p:cNvPicPr>
          <p:nvPr/>
        </p:nvPicPr>
        <p:blipFill>
          <a:blip r:embed="rId1"/>
          <a:stretch>
            <a:fillRect/>
          </a:stretch>
        </p:blipFill>
        <p:spPr>
          <a:xfrm>
            <a:off x="0" y="0"/>
            <a:ext cx="12192000" cy="6858000"/>
          </a:xfrm>
          <a:prstGeom prst="rect">
            <a:avLst/>
          </a:prstGeom>
        </p:spPr>
      </p:pic>
      <p:sp>
        <p:nvSpPr>
          <p:cNvPr id="21" name="TextBox 5"/>
          <p:cNvSpPr txBox="1"/>
          <p:nvPr/>
        </p:nvSpPr>
        <p:spPr>
          <a:xfrm>
            <a:off x="790575" y="1747520"/>
            <a:ext cx="4572000" cy="4868545"/>
          </a:xfrm>
          <a:prstGeom prst="rect">
            <a:avLst/>
          </a:prstGeom>
          <a:noFill/>
        </p:spPr>
        <p:txBody>
          <a:bodyPr wrap="square" lIns="0" tIns="0" rIns="0" bIns="0" anchor="t">
            <a:noAutofit/>
          </a:bodyPr>
          <a:lstStyle/>
          <a:p>
            <a:pPr marL="285750" indent="-285750" algn="l">
              <a:lnSpc>
                <a:spcPts val="2400"/>
              </a:lnSpc>
              <a:buFont typeface="Wingdings" panose="05000000000000000000" charset="0"/>
              <a:buChar char="Ø"/>
            </a:pPr>
            <a:r>
              <a:rPr lang="en-US" altLang="en-US" sz="1700" b="1" i="0" u="none">
                <a:solidFill>
                  <a:schemeClr val="accent1"/>
                </a:solidFill>
                <a:latin typeface="Times New Roman" panose="02020603050405020304" charset="0"/>
                <a:cs typeface="Times New Roman" panose="02020603050405020304" charset="0"/>
              </a:rPr>
              <a:t>Reduce Manual Effort</a:t>
            </a:r>
            <a:endParaRPr lang="en-US" altLang="en-US" sz="1700" b="1" i="0" u="none">
              <a:solidFill>
                <a:schemeClr val="accent1"/>
              </a:solidFill>
              <a:latin typeface="Times New Roman" panose="02020603050405020304" charset="0"/>
              <a:cs typeface="Times New Roman" panose="02020603050405020304" charset="0"/>
            </a:endParaRPr>
          </a:p>
          <a:p>
            <a:pPr algn="l">
              <a:lnSpc>
                <a:spcPts val="2400"/>
              </a:lnSpc>
            </a:pPr>
            <a:r>
              <a:rPr lang="en-US" altLang="en-US" sz="1700" b="0" i="0" u="none">
                <a:solidFill>
                  <a:srgbClr val="334155"/>
                </a:solidFill>
                <a:latin typeface="Times New Roman" panose="02020603050405020304" charset="0"/>
                <a:cs typeface="Times New Roman" panose="02020603050405020304" charset="0"/>
              </a:rPr>
              <a:t>Automate product searching and collection to reduce the physical effort required from customers.</a:t>
            </a:r>
            <a:endParaRPr lang="en-US" altLang="en-US" sz="1700" b="0" i="0" u="none">
              <a:solidFill>
                <a:srgbClr val="334155"/>
              </a:solidFill>
              <a:latin typeface="Times New Roman" panose="02020603050405020304" charset="0"/>
              <a:cs typeface="Times New Roman" panose="02020603050405020304" charset="0"/>
            </a:endParaRPr>
          </a:p>
          <a:p>
            <a:pPr algn="l">
              <a:lnSpc>
                <a:spcPts val="2400"/>
              </a:lnSpc>
            </a:pPr>
            <a:endParaRPr lang="en-US" altLang="en-US" sz="1700" b="0" i="0" u="none">
              <a:solidFill>
                <a:srgbClr val="334155"/>
              </a:solidFill>
              <a:latin typeface="Times New Roman" panose="02020603050405020304" charset="0"/>
              <a:cs typeface="Times New Roman" panose="02020603050405020304" charset="0"/>
            </a:endParaRPr>
          </a:p>
          <a:p>
            <a:pPr marL="285750" indent="-285750" algn="l">
              <a:lnSpc>
                <a:spcPts val="2400"/>
              </a:lnSpc>
              <a:buFont typeface="Wingdings" panose="05000000000000000000" charset="0"/>
              <a:buChar char="Ø"/>
            </a:pPr>
            <a:r>
              <a:rPr lang="en-US" altLang="en-US" sz="1700" b="1" i="0" u="none">
                <a:solidFill>
                  <a:schemeClr val="accent1"/>
                </a:solidFill>
                <a:latin typeface="Times New Roman" panose="02020603050405020304" charset="0"/>
                <a:cs typeface="Times New Roman" panose="02020603050405020304" charset="0"/>
              </a:rPr>
              <a:t>Save Time</a:t>
            </a:r>
            <a:endParaRPr lang="en-US" altLang="en-US" sz="1700" b="1" i="0" u="none">
              <a:solidFill>
                <a:schemeClr val="accent1"/>
              </a:solidFill>
              <a:latin typeface="Times New Roman" panose="02020603050405020304" charset="0"/>
              <a:cs typeface="Times New Roman" panose="02020603050405020304" charset="0"/>
            </a:endParaRPr>
          </a:p>
          <a:p>
            <a:pPr algn="l">
              <a:lnSpc>
                <a:spcPts val="2400"/>
              </a:lnSpc>
            </a:pPr>
            <a:r>
              <a:rPr lang="en-US" altLang="en-US" sz="1700" b="0" i="0" u="none">
                <a:solidFill>
                  <a:srgbClr val="334155"/>
                </a:solidFill>
                <a:latin typeface="Times New Roman" panose="02020603050405020304" charset="0"/>
                <a:cs typeface="Times New Roman" panose="02020603050405020304" charset="0"/>
              </a:rPr>
              <a:t>Minimize the time spent walking through aisles, locating products, and collecting multiple items.</a:t>
            </a:r>
            <a:endParaRPr lang="en-US" altLang="en-US" sz="1700" b="0" i="0" u="none">
              <a:solidFill>
                <a:srgbClr val="334155"/>
              </a:solidFill>
              <a:latin typeface="Times New Roman" panose="02020603050405020304" charset="0"/>
              <a:cs typeface="Times New Roman" panose="02020603050405020304" charset="0"/>
            </a:endParaRPr>
          </a:p>
          <a:p>
            <a:pPr algn="l">
              <a:lnSpc>
                <a:spcPts val="2400"/>
              </a:lnSpc>
            </a:pPr>
            <a:endParaRPr lang="en-US" altLang="en-US" sz="1700" b="0" i="0" u="none">
              <a:solidFill>
                <a:srgbClr val="334155"/>
              </a:solidFill>
              <a:latin typeface="Times New Roman" panose="02020603050405020304" charset="0"/>
              <a:cs typeface="Times New Roman" panose="02020603050405020304" charset="0"/>
            </a:endParaRPr>
          </a:p>
          <a:p>
            <a:pPr marL="285750" indent="-285750" algn="l">
              <a:lnSpc>
                <a:spcPts val="2400"/>
              </a:lnSpc>
              <a:buFont typeface="Wingdings" panose="05000000000000000000" charset="0"/>
              <a:buChar char="Ø"/>
            </a:pPr>
            <a:r>
              <a:rPr lang="en-US" altLang="en-US" sz="1700" b="1" i="0" u="none">
                <a:solidFill>
                  <a:schemeClr val="accent1"/>
                </a:solidFill>
                <a:latin typeface="Times New Roman" panose="02020603050405020304" charset="0"/>
                <a:cs typeface="Times New Roman" panose="02020603050405020304" charset="0"/>
              </a:rPr>
              <a:t>Integrate Digital &amp; Physical Systems</a:t>
            </a:r>
            <a:endParaRPr lang="en-US" altLang="en-US" sz="1700" b="1" i="0" u="none">
              <a:solidFill>
                <a:schemeClr val="accent1"/>
              </a:solidFill>
              <a:latin typeface="Times New Roman" panose="02020603050405020304" charset="0"/>
              <a:cs typeface="Times New Roman" panose="02020603050405020304" charset="0"/>
            </a:endParaRPr>
          </a:p>
          <a:p>
            <a:pPr algn="l">
              <a:lnSpc>
                <a:spcPts val="2400"/>
              </a:lnSpc>
            </a:pPr>
            <a:r>
              <a:rPr lang="en-US" altLang="en-US" sz="1700" b="0" i="0" u="none">
                <a:solidFill>
                  <a:srgbClr val="334155"/>
                </a:solidFill>
                <a:latin typeface="Times New Roman" panose="02020603050405020304" charset="0"/>
                <a:cs typeface="Times New Roman" panose="02020603050405020304" charset="0"/>
              </a:rPr>
              <a:t>Connect online product selection with real-world robotic operations through wireless communication.</a:t>
            </a:r>
            <a:endParaRPr lang="en-US" altLang="en-US" sz="1700" b="0" i="0" u="none">
              <a:solidFill>
                <a:srgbClr val="334155"/>
              </a:solidFill>
              <a:latin typeface="Times New Roman" panose="02020603050405020304" charset="0"/>
              <a:cs typeface="Times New Roman" panose="02020603050405020304" charset="0"/>
            </a:endParaRPr>
          </a:p>
          <a:p>
            <a:pPr algn="l">
              <a:lnSpc>
                <a:spcPts val="2400"/>
              </a:lnSpc>
            </a:pPr>
            <a:r>
              <a:rPr lang="en-US" altLang="en-US" sz="1700" b="0" i="0" u="none">
                <a:solidFill>
                  <a:srgbClr val="334155"/>
                </a:solidFill>
                <a:latin typeface="Times New Roman" panose="02020603050405020304" charset="0"/>
                <a:cs typeface="Times New Roman" panose="02020603050405020304" charset="0"/>
              </a:rPr>
              <a:t>Integrate IoT + Embedded Systems + Robotics + Web Tech.</a:t>
            </a:r>
            <a:endParaRPr lang="en-US" altLang="en-US" sz="1700" b="0" i="0" u="none">
              <a:solidFill>
                <a:srgbClr val="334155"/>
              </a:solidFill>
              <a:latin typeface="Times New Roman" panose="02020603050405020304" charset="0"/>
              <a:cs typeface="Times New Roman" panose="02020603050405020304" charset="0"/>
            </a:endParaRPr>
          </a:p>
          <a:p>
            <a:pPr algn="l">
              <a:lnSpc>
                <a:spcPts val="2400"/>
              </a:lnSpc>
            </a:pPr>
            <a:endParaRPr lang="en-US" altLang="en-US" sz="1700" b="0" i="0" u="none">
              <a:solidFill>
                <a:srgbClr val="334155"/>
              </a:solidFill>
              <a:latin typeface="Times New Roman" panose="02020603050405020304" charset="0"/>
              <a:cs typeface="Times New Roman" panose="02020603050405020304" charset="0"/>
            </a:endParaRPr>
          </a:p>
        </p:txBody>
      </p:sp>
      <p:pic>
        <p:nvPicPr>
          <p:cNvPr id="22" name="Picture 21"/>
          <p:cNvPicPr/>
          <p:nvPr/>
        </p:nvPicPr>
        <p:blipFill>
          <a:blip r:embed="rId2"/>
          <a:stretch>
            <a:fillRect/>
          </a:stretch>
        </p:blipFill>
        <p:spPr>
          <a:xfrm>
            <a:off x="7082155" y="1889760"/>
            <a:ext cx="4189095" cy="3075940"/>
          </a:xfrm>
          <a:prstGeom prst="rect">
            <a:avLst/>
          </a:prstGeom>
          <a:ln>
            <a:solidFill>
              <a:schemeClr val="accent1"/>
            </a:solidFill>
          </a:ln>
        </p:spPr>
      </p:pic>
      <p:sp>
        <p:nvSpPr>
          <p:cNvPr id="56"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The Motivation</a:t>
            </a:r>
            <a:endParaRPr lang="en-US" sz="3200" b="0" i="0" u="none">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8" descr="image.png"/>
          <p:cNvPicPr>
            <a:picLocks noChangeAspect="1"/>
          </p:cNvPicPr>
          <p:nvPr/>
        </p:nvPicPr>
        <p:blipFill>
          <a:blip r:embed="rId1"/>
          <a:stretch>
            <a:fillRect/>
          </a:stretch>
        </p:blipFill>
        <p:spPr>
          <a:xfrm>
            <a:off x="0" y="0"/>
            <a:ext cx="12192000" cy="6858000"/>
          </a:xfrm>
          <a:prstGeom prst="rect">
            <a:avLst/>
          </a:prstGeom>
        </p:spPr>
      </p:pic>
      <p:sp>
        <p:nvSpPr>
          <p:cNvPr id="4" name="TextBox 3"/>
          <p:cNvSpPr txBox="1"/>
          <p:nvPr/>
        </p:nvSpPr>
        <p:spPr>
          <a:xfrm>
            <a:off x="571500" y="1519237"/>
            <a:ext cx="5550693" cy="322580"/>
          </a:xfrm>
          <a:prstGeom prst="rect">
            <a:avLst/>
          </a:prstGeom>
          <a:noFill/>
        </p:spPr>
        <p:txBody>
          <a:bodyPr wrap="square" lIns="0" tIns="0" rIns="0" bIns="0" anchor="t">
            <a:spAutoFit/>
          </a:bodyPr>
          <a:lstStyle/>
          <a:p>
            <a:pPr algn="l"/>
            <a:r>
              <a:rPr sz="2100" b="1" i="0" u="none">
                <a:solidFill>
                  <a:schemeClr val="accent1"/>
                </a:solidFill>
                <a:latin typeface="Times New Roman" panose="02020603050405020304" charset="0"/>
                <a:cs typeface="Times New Roman" panose="02020603050405020304" charset="0"/>
              </a:rPr>
              <a:t>An Autonomous System</a:t>
            </a:r>
            <a:endParaRPr sz="2100" b="1" i="0" u="none">
              <a:solidFill>
                <a:schemeClr val="accent1"/>
              </a:solidFill>
              <a:latin typeface="Times New Roman" panose="02020603050405020304" charset="0"/>
              <a:cs typeface="Times New Roman" panose="02020603050405020304" charset="0"/>
            </a:endParaRPr>
          </a:p>
        </p:txBody>
      </p:sp>
      <p:sp>
        <p:nvSpPr>
          <p:cNvPr id="5" name="TextBox 4"/>
          <p:cNvSpPr txBox="1"/>
          <p:nvPr/>
        </p:nvSpPr>
        <p:spPr>
          <a:xfrm>
            <a:off x="571500" y="1919287"/>
            <a:ext cx="5286375" cy="615315"/>
          </a:xfrm>
          <a:prstGeom prst="rect">
            <a:avLst/>
          </a:prstGeom>
          <a:noFill/>
        </p:spPr>
        <p:txBody>
          <a:bodyPr wrap="square" lIns="0" tIns="0" rIns="0" bIns="0" anchor="t">
            <a:spAutoFit/>
          </a:bodyPr>
          <a:lstStyle/>
          <a:p>
            <a:pPr algn="l">
              <a:lnSpc>
                <a:spcPts val="2400"/>
              </a:lnSpc>
            </a:pPr>
            <a:r>
              <a:rPr sz="1700" b="0" i="0" u="none">
                <a:solidFill>
                  <a:srgbClr val="334155"/>
                </a:solidFill>
                <a:latin typeface="Times New Roman" panose="02020603050405020304" charset="0"/>
                <a:cs typeface="Times New Roman" panose="02020603050405020304" charset="0"/>
              </a:rPr>
              <a:t>We introduce an AI-driven robotic system designed to fully automate the process of product handling.</a:t>
            </a:r>
            <a:endParaRPr sz="1700" b="0" i="0" u="none">
              <a:solidFill>
                <a:srgbClr val="334155"/>
              </a:solidFill>
              <a:latin typeface="Times New Roman" panose="02020603050405020304" charset="0"/>
              <a:cs typeface="Times New Roman" panose="02020603050405020304" charset="0"/>
            </a:endParaRPr>
          </a:p>
        </p:txBody>
      </p:sp>
      <p:sp>
        <p:nvSpPr>
          <p:cNvPr id="11" name="TextBox 10"/>
          <p:cNvSpPr txBox="1"/>
          <p:nvPr/>
        </p:nvSpPr>
        <p:spPr>
          <a:xfrm>
            <a:off x="476250" y="2641917"/>
            <a:ext cx="5048250" cy="3077845"/>
          </a:xfrm>
          <a:prstGeom prst="rect">
            <a:avLst/>
          </a:prstGeom>
          <a:noFill/>
        </p:spPr>
        <p:txBody>
          <a:bodyPr wrap="square" lIns="104775" tIns="0" rIns="0" bIns="0" anchor="t">
            <a:spAutoFit/>
          </a:bodyPr>
          <a:lstStyle/>
          <a:p>
            <a:pPr marL="285750" indent="-285750" algn="l">
              <a:lnSpc>
                <a:spcPts val="2400"/>
              </a:lnSpc>
              <a:buFont typeface="Wingdings" panose="05000000000000000000" charset="0"/>
              <a:buChar char="ü"/>
            </a:pPr>
            <a:r>
              <a:rPr lang="en-US" altLang="en-US" sz="1700" b="0" i="0" u="none">
                <a:solidFill>
                  <a:srgbClr val="334155"/>
                </a:solidFill>
                <a:latin typeface="Times New Roman" panose="02020603050405020304" charset="0"/>
                <a:cs typeface="Times New Roman" panose="02020603050405020304" charset="0"/>
              </a:rPr>
              <a:t>Develop an AI-enabled vision-based mobile robot capable of identifying required objects in its surroundings.</a:t>
            </a:r>
            <a:endParaRPr lang="en-US" altLang="en-US" sz="1700" b="0" i="0" u="none">
              <a:solidFill>
                <a:srgbClr val="334155"/>
              </a:solidFill>
              <a:latin typeface="Times New Roman" panose="02020603050405020304" charset="0"/>
              <a:cs typeface="Times New Roman" panose="02020603050405020304" charset="0"/>
            </a:endParaRPr>
          </a:p>
          <a:p>
            <a:pPr marL="285750" indent="-285750" algn="l">
              <a:lnSpc>
                <a:spcPts val="2400"/>
              </a:lnSpc>
              <a:buFont typeface="Wingdings" panose="05000000000000000000" charset="0"/>
              <a:buChar char="ü"/>
            </a:pPr>
            <a:r>
              <a:rPr lang="en-US" altLang="en-US" sz="1700" b="0" i="0" u="none">
                <a:solidFill>
                  <a:srgbClr val="334155"/>
                </a:solidFill>
                <a:latin typeface="Times New Roman" panose="02020603050405020304" charset="0"/>
                <a:cs typeface="Times New Roman" panose="02020603050405020304" charset="0"/>
              </a:rPr>
              <a:t>Use a camera and AI-based object recognition to detect and locate the target object.</a:t>
            </a:r>
            <a:endParaRPr lang="en-US" altLang="en-US" sz="1700" b="0" i="0" u="none">
              <a:solidFill>
                <a:srgbClr val="334155"/>
              </a:solidFill>
              <a:latin typeface="Times New Roman" panose="02020603050405020304" charset="0"/>
              <a:cs typeface="Times New Roman" panose="02020603050405020304" charset="0"/>
            </a:endParaRPr>
          </a:p>
          <a:p>
            <a:pPr marL="285750" indent="-285750" algn="l">
              <a:lnSpc>
                <a:spcPts val="2400"/>
              </a:lnSpc>
              <a:buFont typeface="Wingdings" panose="05000000000000000000" charset="0"/>
              <a:buChar char="ü"/>
            </a:pPr>
            <a:r>
              <a:rPr lang="en-US" altLang="en-US" sz="1700" b="0" i="0" u="none">
                <a:solidFill>
                  <a:srgbClr val="334155"/>
                </a:solidFill>
                <a:latin typeface="Times New Roman" panose="02020603050405020304" charset="0"/>
                <a:cs typeface="Times New Roman" panose="02020603050405020304" charset="0"/>
              </a:rPr>
              <a:t>Process visual information to control robot movement and reach the identified object.</a:t>
            </a:r>
            <a:endParaRPr lang="en-US" altLang="en-US" sz="1700" b="0" i="0" u="none">
              <a:solidFill>
                <a:srgbClr val="334155"/>
              </a:solidFill>
              <a:latin typeface="Times New Roman" panose="02020603050405020304" charset="0"/>
              <a:cs typeface="Times New Roman" panose="02020603050405020304" charset="0"/>
            </a:endParaRPr>
          </a:p>
          <a:p>
            <a:pPr marL="285750" indent="-285750" algn="l">
              <a:lnSpc>
                <a:spcPts val="2400"/>
              </a:lnSpc>
              <a:buFont typeface="Wingdings" panose="05000000000000000000" charset="0"/>
              <a:buChar char="ü"/>
            </a:pPr>
            <a:r>
              <a:rPr lang="en-US" altLang="en-US" sz="1700" b="0" i="0" u="none">
                <a:solidFill>
                  <a:srgbClr val="334155"/>
                </a:solidFill>
                <a:latin typeface="Times New Roman" panose="02020603050405020304" charset="0"/>
                <a:cs typeface="Times New Roman" panose="02020603050405020304" charset="0"/>
              </a:rPr>
              <a:t>Use a robotic arm to pick the object and place it at the desired location, integrating vision, navigation, and robotic control.</a:t>
            </a:r>
            <a:endParaRPr lang="en-US" altLang="en-US" sz="1700" b="0" i="0" u="none">
              <a:solidFill>
                <a:srgbClr val="334155"/>
              </a:solidFill>
              <a:latin typeface="Times New Roman" panose="02020603050405020304" charset="0"/>
              <a:cs typeface="Times New Roman" panose="02020603050405020304" charset="0"/>
            </a:endParaRPr>
          </a:p>
        </p:txBody>
      </p:sp>
      <p:pic>
        <p:nvPicPr>
          <p:cNvPr id="14" name="Picture 13"/>
          <p:cNvPicPr/>
          <p:nvPr/>
        </p:nvPicPr>
        <p:blipFill>
          <a:blip r:embed="rId2"/>
          <a:stretch>
            <a:fillRect/>
          </a:stretch>
        </p:blipFill>
        <p:spPr>
          <a:xfrm>
            <a:off x="7168515" y="1845945"/>
            <a:ext cx="4092575" cy="3167380"/>
          </a:xfrm>
          <a:prstGeom prst="rect">
            <a:avLst/>
          </a:prstGeom>
          <a:ln>
            <a:solidFill>
              <a:schemeClr val="tx1"/>
            </a:solidFill>
          </a:ln>
        </p:spPr>
      </p:pic>
      <p:sp>
        <p:nvSpPr>
          <p:cNvPr id="56"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The Proposed Solution</a:t>
            </a:r>
            <a:endParaRPr lang="en-US" sz="3200" b="0" i="0" u="none">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2"/>
          <a:stretch>
            <a:fillRect/>
          </a:stretch>
        </p:blipFill>
        <p:spPr>
          <a:xfrm>
            <a:off x="571500" y="2209800"/>
            <a:ext cx="5286375" cy="3438525"/>
          </a:xfrm>
          <a:prstGeom prst="rect">
            <a:avLst/>
          </a:prstGeom>
        </p:spPr>
      </p:pic>
      <p:pic>
        <p:nvPicPr>
          <p:cNvPr id="4" name="Picture 3" descr="image.png"/>
          <p:cNvPicPr>
            <a:picLocks noChangeAspect="1"/>
          </p:cNvPicPr>
          <p:nvPr/>
        </p:nvPicPr>
        <p:blipFill>
          <a:blip r:embed="rId3"/>
          <a:stretch>
            <a:fillRect/>
          </a:stretch>
        </p:blipFill>
        <p:spPr>
          <a:xfrm>
            <a:off x="6334125" y="2209800"/>
            <a:ext cx="5286375" cy="3438525"/>
          </a:xfrm>
          <a:prstGeom prst="rect">
            <a:avLst/>
          </a:prstGeom>
        </p:spPr>
      </p:pic>
      <p:sp>
        <p:nvSpPr>
          <p:cNvPr id="5" name="TextBox 4"/>
          <p:cNvSpPr txBox="1"/>
          <p:nvPr/>
        </p:nvSpPr>
        <p:spPr>
          <a:xfrm>
            <a:off x="962025" y="2600325"/>
            <a:ext cx="4730591" cy="322580"/>
          </a:xfrm>
          <a:prstGeom prst="rect">
            <a:avLst/>
          </a:prstGeom>
          <a:noFill/>
        </p:spPr>
        <p:txBody>
          <a:bodyPr wrap="square" lIns="0" tIns="0" rIns="0" bIns="0" anchor="t">
            <a:spAutoFit/>
          </a:bodyPr>
          <a:lstStyle/>
          <a:p>
            <a:pPr algn="l"/>
            <a:r>
              <a:rPr sz="2100" b="1" i="0" u="none">
                <a:solidFill>
                  <a:srgbClr val="2563EB"/>
                </a:solidFill>
                <a:latin typeface="Times New Roman" panose="02020603050405020304" charset="0"/>
                <a:cs typeface="Times New Roman" panose="02020603050405020304" charset="0"/>
              </a:rPr>
              <a:t>The Customer Layer</a:t>
            </a:r>
            <a:endParaRPr sz="2100" b="1" i="0" u="none">
              <a:solidFill>
                <a:srgbClr val="2563EB"/>
              </a:solidFill>
              <a:latin typeface="Times New Roman" panose="02020603050405020304" charset="0"/>
              <a:cs typeface="Times New Roman" panose="02020603050405020304" charset="0"/>
            </a:endParaRPr>
          </a:p>
        </p:txBody>
      </p:sp>
      <p:sp>
        <p:nvSpPr>
          <p:cNvPr id="6" name="TextBox 5"/>
          <p:cNvSpPr txBox="1"/>
          <p:nvPr/>
        </p:nvSpPr>
        <p:spPr>
          <a:xfrm>
            <a:off x="962025" y="3143250"/>
            <a:ext cx="4505325" cy="615315"/>
          </a:xfrm>
          <a:prstGeom prst="rect">
            <a:avLst/>
          </a:prstGeom>
          <a:noFill/>
        </p:spPr>
        <p:txBody>
          <a:bodyPr wrap="square" lIns="0" tIns="0" rIns="0" bIns="0" anchor="t">
            <a:spAutoFit/>
          </a:bodyPr>
          <a:lstStyle/>
          <a:p>
            <a:pPr algn="l">
              <a:lnSpc>
                <a:spcPts val="2400"/>
              </a:lnSpc>
            </a:pPr>
            <a:r>
              <a:rPr sz="1700" b="1" i="0" u="none">
                <a:solidFill>
                  <a:srgbClr val="334155"/>
                </a:solidFill>
                <a:latin typeface="Times New Roman" panose="02020603050405020304" charset="0"/>
                <a:cs typeface="Times New Roman" panose="02020603050405020304" charset="0"/>
              </a:rPr>
              <a:t>Interactive Website:</a:t>
            </a:r>
            <a:r>
              <a:rPr sz="1700" b="0" i="0" u="none">
                <a:solidFill>
                  <a:srgbClr val="334155"/>
                </a:solidFill>
                <a:latin typeface="Times New Roman" panose="02020603050405020304" charset="0"/>
                <a:cs typeface="Times New Roman" panose="02020603050405020304" charset="0"/>
              </a:rPr>
              <a:t> Handles product and quantity selection directly from the user.</a:t>
            </a:r>
            <a:endParaRPr sz="1700" b="0" i="0" u="none">
              <a:solidFill>
                <a:srgbClr val="334155"/>
              </a:solidFill>
              <a:latin typeface="Times New Roman" panose="02020603050405020304" charset="0"/>
              <a:cs typeface="Times New Roman" panose="02020603050405020304" charset="0"/>
            </a:endParaRPr>
          </a:p>
        </p:txBody>
      </p:sp>
      <p:sp>
        <p:nvSpPr>
          <p:cNvPr id="7" name="TextBox 6"/>
          <p:cNvSpPr txBox="1"/>
          <p:nvPr/>
        </p:nvSpPr>
        <p:spPr>
          <a:xfrm>
            <a:off x="962025" y="3895725"/>
            <a:ext cx="4505325" cy="923290"/>
          </a:xfrm>
          <a:prstGeom prst="rect">
            <a:avLst/>
          </a:prstGeom>
          <a:noFill/>
        </p:spPr>
        <p:txBody>
          <a:bodyPr wrap="square" lIns="0" tIns="0" rIns="0" bIns="0" anchor="t">
            <a:spAutoFit/>
          </a:bodyPr>
          <a:lstStyle/>
          <a:p>
            <a:pPr algn="l">
              <a:lnSpc>
                <a:spcPts val="2400"/>
              </a:lnSpc>
            </a:pPr>
            <a:r>
              <a:rPr sz="1700" b="1" i="0" u="none">
                <a:solidFill>
                  <a:srgbClr val="334155"/>
                </a:solidFill>
                <a:latin typeface="Times New Roman" panose="02020603050405020304" charset="0"/>
                <a:cs typeface="Times New Roman" panose="02020603050405020304" charset="0"/>
              </a:rPr>
              <a:t>Backend / Database:</a:t>
            </a:r>
            <a:r>
              <a:rPr sz="1700" b="0" i="0" u="none">
                <a:solidFill>
                  <a:srgbClr val="334155"/>
                </a:solidFill>
                <a:latin typeface="Times New Roman" panose="02020603050405020304" charset="0"/>
                <a:cs typeface="Times New Roman" panose="02020603050405020304" charset="0"/>
              </a:rPr>
              <a:t> Processes the order, logs product data, coordinates inventory locations, and manages the wireless transmission to the robot.</a:t>
            </a:r>
            <a:endParaRPr sz="1700" b="0" i="0" u="none">
              <a:solidFill>
                <a:srgbClr val="334155"/>
              </a:solidFill>
              <a:latin typeface="Times New Roman" panose="02020603050405020304" charset="0"/>
              <a:cs typeface="Times New Roman" panose="02020603050405020304" charset="0"/>
            </a:endParaRPr>
          </a:p>
        </p:txBody>
      </p:sp>
      <p:sp>
        <p:nvSpPr>
          <p:cNvPr id="8" name="TextBox 7"/>
          <p:cNvSpPr txBox="1"/>
          <p:nvPr/>
        </p:nvSpPr>
        <p:spPr>
          <a:xfrm>
            <a:off x="6724650" y="2600325"/>
            <a:ext cx="4730591" cy="322580"/>
          </a:xfrm>
          <a:prstGeom prst="rect">
            <a:avLst/>
          </a:prstGeom>
          <a:noFill/>
        </p:spPr>
        <p:txBody>
          <a:bodyPr wrap="square" lIns="0" tIns="0" rIns="0" bIns="0" anchor="t">
            <a:spAutoFit/>
          </a:bodyPr>
          <a:lstStyle/>
          <a:p>
            <a:pPr algn="l"/>
            <a:r>
              <a:rPr sz="2100" b="1" i="0" u="none">
                <a:solidFill>
                  <a:srgbClr val="2563EB"/>
                </a:solidFill>
                <a:latin typeface="Times New Roman" panose="02020603050405020304" charset="0"/>
                <a:cs typeface="Times New Roman" panose="02020603050405020304" charset="0"/>
              </a:rPr>
              <a:t>The Robot Layer</a:t>
            </a:r>
            <a:endParaRPr sz="2100" b="1" i="0" u="none">
              <a:solidFill>
                <a:srgbClr val="2563EB"/>
              </a:solidFill>
              <a:latin typeface="Times New Roman" panose="02020603050405020304" charset="0"/>
              <a:cs typeface="Times New Roman" panose="02020603050405020304" charset="0"/>
            </a:endParaRPr>
          </a:p>
        </p:txBody>
      </p:sp>
      <p:sp>
        <p:nvSpPr>
          <p:cNvPr id="9" name="TextBox 8"/>
          <p:cNvSpPr txBox="1"/>
          <p:nvPr/>
        </p:nvSpPr>
        <p:spPr>
          <a:xfrm>
            <a:off x="6724650" y="3143250"/>
            <a:ext cx="4505325" cy="615315"/>
          </a:xfrm>
          <a:prstGeom prst="rect">
            <a:avLst/>
          </a:prstGeom>
          <a:noFill/>
        </p:spPr>
        <p:txBody>
          <a:bodyPr wrap="square" lIns="0" tIns="0" rIns="0" bIns="0" anchor="t">
            <a:spAutoFit/>
          </a:bodyPr>
          <a:lstStyle/>
          <a:p>
            <a:pPr algn="l">
              <a:lnSpc>
                <a:spcPts val="2400"/>
              </a:lnSpc>
            </a:pPr>
            <a:r>
              <a:rPr sz="1700" b="1" i="0" u="none">
                <a:solidFill>
                  <a:srgbClr val="334155"/>
                </a:solidFill>
                <a:latin typeface="Times New Roman" panose="02020603050405020304" charset="0"/>
                <a:cs typeface="Times New Roman" panose="02020603050405020304" charset="0"/>
              </a:rPr>
              <a:t>Robot Controller (ESP32/MCU):</a:t>
            </a:r>
            <a:r>
              <a:rPr sz="1700" b="0" i="0" u="none">
                <a:solidFill>
                  <a:srgbClr val="334155"/>
                </a:solidFill>
                <a:latin typeface="Times New Roman" panose="02020603050405020304" charset="0"/>
                <a:cs typeface="Times New Roman" panose="02020603050405020304" charset="0"/>
              </a:rPr>
              <a:t> The brain of the physical unit.</a:t>
            </a:r>
            <a:endParaRPr sz="1700" b="0" i="0" u="none">
              <a:solidFill>
                <a:srgbClr val="334155"/>
              </a:solidFill>
              <a:latin typeface="Times New Roman" panose="02020603050405020304" charset="0"/>
              <a:cs typeface="Times New Roman" panose="02020603050405020304" charset="0"/>
            </a:endParaRPr>
          </a:p>
        </p:txBody>
      </p:sp>
      <p:sp>
        <p:nvSpPr>
          <p:cNvPr id="10" name="TextBox 9"/>
          <p:cNvSpPr txBox="1"/>
          <p:nvPr/>
        </p:nvSpPr>
        <p:spPr>
          <a:xfrm>
            <a:off x="6724650" y="3895725"/>
            <a:ext cx="4505325" cy="1230630"/>
          </a:xfrm>
          <a:prstGeom prst="rect">
            <a:avLst/>
          </a:prstGeom>
          <a:noFill/>
        </p:spPr>
        <p:txBody>
          <a:bodyPr wrap="square" lIns="0" tIns="0" rIns="0" bIns="0" anchor="t">
            <a:spAutoFit/>
          </a:bodyPr>
          <a:lstStyle/>
          <a:p>
            <a:pPr algn="l">
              <a:lnSpc>
                <a:spcPts val="2400"/>
              </a:lnSpc>
            </a:pPr>
            <a:r>
              <a:rPr sz="1700" b="1" i="0" u="none">
                <a:solidFill>
                  <a:srgbClr val="334155"/>
                </a:solidFill>
                <a:latin typeface="Times New Roman" panose="02020603050405020304" charset="0"/>
                <a:cs typeface="Times New Roman" panose="02020603050405020304" charset="0"/>
              </a:rPr>
              <a:t>Subsystems:</a:t>
            </a:r>
            <a:r>
              <a:rPr sz="1700" b="0" i="0" u="none">
                <a:solidFill>
                  <a:srgbClr val="334155"/>
                </a:solidFill>
                <a:latin typeface="Times New Roman" panose="02020603050405020304" charset="0"/>
                <a:cs typeface="Times New Roman" panose="02020603050405020304" charset="0"/>
              </a:rPr>
              <a:t> Coordinates Path Planning, Obstacle Detection, Camera/Vision processing, and controls the Pick &amp; Place mechanism based on backend instructions.</a:t>
            </a:r>
            <a:endParaRPr sz="1700" b="0" i="0" u="none">
              <a:solidFill>
                <a:srgbClr val="334155"/>
              </a:solidFill>
              <a:latin typeface="Times New Roman" panose="02020603050405020304" charset="0"/>
              <a:cs typeface="Times New Roman" panose="02020603050405020304" charset="0"/>
            </a:endParaRPr>
          </a:p>
        </p:txBody>
      </p:sp>
      <p:sp>
        <p:nvSpPr>
          <p:cNvPr id="11" name="TextBox 10"/>
          <p:cNvSpPr txBox="1"/>
          <p:nvPr/>
        </p:nvSpPr>
        <p:spPr>
          <a:xfrm>
            <a:off x="571500" y="666750"/>
            <a:ext cx="11601450" cy="619125"/>
          </a:xfrm>
          <a:prstGeom prst="rect">
            <a:avLst/>
          </a:prstGeom>
          <a:noFill/>
        </p:spPr>
        <p:txBody>
          <a:bodyPr wrap="square" lIns="0" tIns="0" rIns="0" bIns="0" anchor="t">
            <a:spAutoFit/>
          </a:bodyPr>
          <a:lstStyle/>
          <a:p>
            <a:pPr algn="l"/>
            <a:r>
              <a:rPr sz="3300" b="0" i="0" u="none">
                <a:solidFill>
                  <a:schemeClr val="tx1"/>
                </a:solidFill>
                <a:latin typeface="Times New Roman" panose="02020603050405020304" charset="0"/>
                <a:cs typeface="Times New Roman" panose="02020603050405020304" charset="0"/>
              </a:rPr>
              <a:t>System Architecture</a:t>
            </a:r>
            <a:endParaRPr sz="3300" b="0" i="0" u="none">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sp>
        <p:nvSpPr>
          <p:cNvPr id="11" name="TextBox 10"/>
          <p:cNvSpPr txBox="1"/>
          <p:nvPr/>
        </p:nvSpPr>
        <p:spPr>
          <a:xfrm>
            <a:off x="571500" y="666750"/>
            <a:ext cx="11601450" cy="507365"/>
          </a:xfrm>
          <a:prstGeom prst="rect">
            <a:avLst/>
          </a:prstGeom>
          <a:noFill/>
        </p:spPr>
        <p:txBody>
          <a:bodyPr wrap="square" lIns="0" tIns="0" rIns="0" bIns="0" anchor="t">
            <a:spAutoFit/>
          </a:bodyPr>
          <a:lstStyle/>
          <a:p>
            <a:pPr algn="l"/>
            <a:r>
              <a:rPr lang="en-US" sz="3300" b="0" i="0" u="none">
                <a:solidFill>
                  <a:schemeClr val="tx1"/>
                </a:solidFill>
                <a:latin typeface="Times New Roman" panose="02020603050405020304" charset="0"/>
                <a:cs typeface="Times New Roman" panose="02020603050405020304" charset="0"/>
              </a:rPr>
              <a:t>Block Diagram</a:t>
            </a:r>
            <a:endParaRPr lang="en-US" sz="3300" b="0" i="0" u="none">
              <a:solidFill>
                <a:schemeClr val="tx1"/>
              </a:solidFill>
              <a:latin typeface="Times New Roman" panose="02020603050405020304" charset="0"/>
              <a:cs typeface="Times New Roman" panose="02020603050405020304" charset="0"/>
            </a:endParaRPr>
          </a:p>
        </p:txBody>
      </p:sp>
      <p:pic>
        <p:nvPicPr>
          <p:cNvPr id="3" name="Picture 2" descr="flowchart_bw"/>
          <p:cNvPicPr>
            <a:picLocks noChangeAspect="1"/>
          </p:cNvPicPr>
          <p:nvPr/>
        </p:nvPicPr>
        <p:blipFill>
          <a:blip r:embed="rId2"/>
          <a:stretch>
            <a:fillRect/>
          </a:stretch>
        </p:blipFill>
        <p:spPr>
          <a:xfrm>
            <a:off x="1884680" y="1356995"/>
            <a:ext cx="8422640" cy="47377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2"/>
          <a:stretch>
            <a:fillRect/>
          </a:stretch>
        </p:blipFill>
        <p:spPr>
          <a:xfrm>
            <a:off x="571500" y="4310062"/>
            <a:ext cx="2541240" cy="1712416"/>
          </a:xfrm>
          <a:prstGeom prst="rect">
            <a:avLst/>
          </a:prstGeom>
        </p:spPr>
      </p:pic>
      <p:pic>
        <p:nvPicPr>
          <p:cNvPr id="4" name="Picture 3" descr="image.png"/>
          <p:cNvPicPr>
            <a:picLocks noChangeAspect="1"/>
          </p:cNvPicPr>
          <p:nvPr/>
        </p:nvPicPr>
        <p:blipFill>
          <a:blip r:embed="rId3"/>
          <a:stretch>
            <a:fillRect/>
          </a:stretch>
        </p:blipFill>
        <p:spPr>
          <a:xfrm>
            <a:off x="3407419" y="1835646"/>
            <a:ext cx="2541240" cy="1712416"/>
          </a:xfrm>
          <a:prstGeom prst="rect">
            <a:avLst/>
          </a:prstGeom>
        </p:spPr>
      </p:pic>
      <p:pic>
        <p:nvPicPr>
          <p:cNvPr id="5" name="Picture 4" descr="image.png"/>
          <p:cNvPicPr>
            <a:picLocks noChangeAspect="1"/>
          </p:cNvPicPr>
          <p:nvPr/>
        </p:nvPicPr>
        <p:blipFill>
          <a:blip r:embed="rId4"/>
          <a:stretch>
            <a:fillRect/>
          </a:stretch>
        </p:blipFill>
        <p:spPr>
          <a:xfrm>
            <a:off x="6243339" y="4310062"/>
            <a:ext cx="2541240" cy="1468635"/>
          </a:xfrm>
          <a:prstGeom prst="rect">
            <a:avLst/>
          </a:prstGeom>
        </p:spPr>
      </p:pic>
      <p:pic>
        <p:nvPicPr>
          <p:cNvPr id="6" name="Picture 5" descr="image.png"/>
          <p:cNvPicPr>
            <a:picLocks noChangeAspect="1"/>
          </p:cNvPicPr>
          <p:nvPr/>
        </p:nvPicPr>
        <p:blipFill>
          <a:blip r:embed="rId5"/>
          <a:stretch>
            <a:fillRect/>
          </a:stretch>
        </p:blipFill>
        <p:spPr>
          <a:xfrm>
            <a:off x="9079259" y="1835646"/>
            <a:ext cx="2541240" cy="1712416"/>
          </a:xfrm>
          <a:prstGeom prst="rect">
            <a:avLst/>
          </a:prstGeom>
        </p:spPr>
      </p:pic>
      <p:sp>
        <p:nvSpPr>
          <p:cNvPr id="7" name="Rounded Rectangle 6"/>
          <p:cNvSpPr/>
          <p:nvPr/>
        </p:nvSpPr>
        <p:spPr>
          <a:xfrm>
            <a:off x="571500" y="3900487"/>
            <a:ext cx="11049000" cy="57150"/>
          </a:xfrm>
          <a:prstGeom prst="roundRect">
            <a:avLst>
              <a:gd name="adj" fmla="val 50000"/>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8" name="TextBox 7"/>
          <p:cNvSpPr txBox="1"/>
          <p:nvPr/>
        </p:nvSpPr>
        <p:spPr>
          <a:xfrm>
            <a:off x="707993" y="4500562"/>
            <a:ext cx="2268252" cy="314325"/>
          </a:xfrm>
          <a:prstGeom prst="rect">
            <a:avLst/>
          </a:prstGeom>
          <a:noFill/>
        </p:spPr>
        <p:txBody>
          <a:bodyPr wrap="square" lIns="0" tIns="0" rIns="0" bIns="0" anchor="t">
            <a:spAutoFit/>
          </a:bodyPr>
          <a:lstStyle/>
          <a:p>
            <a:pPr algn="ctr"/>
            <a:r>
              <a:rPr sz="1650" b="0" i="0" u="none">
                <a:solidFill>
                  <a:srgbClr val="1E3A8A"/>
                </a:solidFill>
                <a:latin typeface="Times New Roman" panose="02020603050405020304" charset="0"/>
                <a:cs typeface="Times New Roman" panose="02020603050405020304" charset="0"/>
              </a:rPr>
              <a:t>Step 1: Selection</a:t>
            </a:r>
            <a:endParaRPr sz="1650" b="0" i="0" u="none">
              <a:solidFill>
                <a:srgbClr val="1E3A8A"/>
              </a:solidFill>
              <a:latin typeface="Times New Roman" panose="02020603050405020304" charset="0"/>
              <a:cs typeface="Times New Roman" panose="02020603050405020304" charset="0"/>
            </a:endParaRPr>
          </a:p>
        </p:txBody>
      </p:sp>
      <p:sp>
        <p:nvSpPr>
          <p:cNvPr id="9" name="TextBox 8"/>
          <p:cNvSpPr txBox="1"/>
          <p:nvPr/>
        </p:nvSpPr>
        <p:spPr>
          <a:xfrm>
            <a:off x="762000" y="4957762"/>
            <a:ext cx="2160240" cy="731341"/>
          </a:xfrm>
          <a:prstGeom prst="rect">
            <a:avLst/>
          </a:prstGeom>
          <a:noFill/>
        </p:spPr>
        <p:txBody>
          <a:bodyPr wrap="square" lIns="0" tIns="0" rIns="0" bIns="0" anchor="t">
            <a:spAutoFit/>
          </a:bodyPr>
          <a:lstStyle/>
          <a:p>
            <a:pPr algn="ctr">
              <a:lnSpc>
                <a:spcPts val="1920"/>
              </a:lnSpc>
            </a:pPr>
            <a:r>
              <a:rPr sz="1200" b="0" i="0" u="none">
                <a:solidFill>
                  <a:srgbClr val="334155"/>
                </a:solidFill>
                <a:latin typeface="Times New Roman" panose="02020603050405020304" charset="0"/>
                <a:cs typeface="Times New Roman" panose="02020603050405020304" charset="0"/>
              </a:rPr>
              <a:t>Customer accesses the web app to build their digital shopping list.</a:t>
            </a:r>
            <a:endParaRPr sz="1200" b="0" i="0" u="none">
              <a:solidFill>
                <a:srgbClr val="334155"/>
              </a:solidFill>
              <a:latin typeface="Times New Roman" panose="02020603050405020304" charset="0"/>
              <a:cs typeface="Times New Roman" panose="02020603050405020304" charset="0"/>
            </a:endParaRPr>
          </a:p>
        </p:txBody>
      </p:sp>
      <p:sp>
        <p:nvSpPr>
          <p:cNvPr id="10" name="TextBox 9"/>
          <p:cNvSpPr txBox="1"/>
          <p:nvPr/>
        </p:nvSpPr>
        <p:spPr>
          <a:xfrm>
            <a:off x="3543913" y="2026146"/>
            <a:ext cx="2268252" cy="314325"/>
          </a:xfrm>
          <a:prstGeom prst="rect">
            <a:avLst/>
          </a:prstGeom>
          <a:noFill/>
        </p:spPr>
        <p:txBody>
          <a:bodyPr wrap="square" lIns="0" tIns="0" rIns="0" bIns="0" anchor="t">
            <a:spAutoFit/>
          </a:bodyPr>
          <a:lstStyle/>
          <a:p>
            <a:pPr algn="ctr"/>
            <a:r>
              <a:rPr sz="1650" b="0" i="0" u="none">
                <a:solidFill>
                  <a:srgbClr val="1E3A8A"/>
                </a:solidFill>
                <a:latin typeface="Times New Roman" panose="02020603050405020304" charset="0"/>
                <a:cs typeface="Times New Roman" panose="02020603050405020304" charset="0"/>
              </a:rPr>
              <a:t>Step 2: Storage</a:t>
            </a:r>
            <a:endParaRPr sz="1650" b="0" i="0" u="none">
              <a:solidFill>
                <a:srgbClr val="1E3A8A"/>
              </a:solidFill>
              <a:latin typeface="Times New Roman" panose="02020603050405020304" charset="0"/>
              <a:cs typeface="Times New Roman" panose="02020603050405020304" charset="0"/>
            </a:endParaRPr>
          </a:p>
        </p:txBody>
      </p:sp>
      <p:sp>
        <p:nvSpPr>
          <p:cNvPr id="11" name="TextBox 10"/>
          <p:cNvSpPr txBox="1"/>
          <p:nvPr/>
        </p:nvSpPr>
        <p:spPr>
          <a:xfrm>
            <a:off x="3597919" y="2483346"/>
            <a:ext cx="2160240" cy="731341"/>
          </a:xfrm>
          <a:prstGeom prst="rect">
            <a:avLst/>
          </a:prstGeom>
          <a:noFill/>
        </p:spPr>
        <p:txBody>
          <a:bodyPr wrap="square" lIns="0" tIns="0" rIns="0" bIns="0" anchor="t">
            <a:spAutoFit/>
          </a:bodyPr>
          <a:lstStyle/>
          <a:p>
            <a:pPr algn="ctr">
              <a:lnSpc>
                <a:spcPts val="1920"/>
              </a:lnSpc>
            </a:pPr>
            <a:r>
              <a:rPr sz="1200" b="0" i="0" u="none">
                <a:solidFill>
                  <a:srgbClr val="334155"/>
                </a:solidFill>
                <a:latin typeface="Times New Roman" panose="02020603050405020304" charset="0"/>
                <a:cs typeface="Times New Roman" panose="02020603050405020304" charset="0"/>
              </a:rPr>
              <a:t>Data (name, quantity, price, location) is securely logged in the backend.</a:t>
            </a:r>
            <a:endParaRPr sz="1200" b="0" i="0" u="none">
              <a:solidFill>
                <a:srgbClr val="334155"/>
              </a:solidFill>
              <a:latin typeface="Times New Roman" panose="02020603050405020304" charset="0"/>
              <a:cs typeface="Times New Roman" panose="02020603050405020304" charset="0"/>
            </a:endParaRPr>
          </a:p>
        </p:txBody>
      </p:sp>
      <p:sp>
        <p:nvSpPr>
          <p:cNvPr id="12" name="TextBox 11"/>
          <p:cNvSpPr txBox="1"/>
          <p:nvPr/>
        </p:nvSpPr>
        <p:spPr>
          <a:xfrm>
            <a:off x="6379833" y="4500562"/>
            <a:ext cx="2268252" cy="314325"/>
          </a:xfrm>
          <a:prstGeom prst="rect">
            <a:avLst/>
          </a:prstGeom>
          <a:noFill/>
        </p:spPr>
        <p:txBody>
          <a:bodyPr wrap="square" lIns="0" tIns="0" rIns="0" bIns="0" anchor="t">
            <a:spAutoFit/>
          </a:bodyPr>
          <a:lstStyle/>
          <a:p>
            <a:pPr algn="ctr"/>
            <a:r>
              <a:rPr sz="1650" b="0" i="0" u="none">
                <a:solidFill>
                  <a:srgbClr val="1E3A8A"/>
                </a:solidFill>
                <a:latin typeface="Times New Roman" panose="02020603050405020304" charset="0"/>
                <a:cs typeface="Times New Roman" panose="02020603050405020304" charset="0"/>
              </a:rPr>
              <a:t>Step 3: Transmit</a:t>
            </a:r>
            <a:endParaRPr sz="1650" b="0" i="0" u="none">
              <a:solidFill>
                <a:srgbClr val="1E3A8A"/>
              </a:solidFill>
              <a:latin typeface="Times New Roman" panose="02020603050405020304" charset="0"/>
              <a:cs typeface="Times New Roman" panose="02020603050405020304" charset="0"/>
            </a:endParaRPr>
          </a:p>
        </p:txBody>
      </p:sp>
      <p:sp>
        <p:nvSpPr>
          <p:cNvPr id="13" name="TextBox 12"/>
          <p:cNvSpPr txBox="1"/>
          <p:nvPr/>
        </p:nvSpPr>
        <p:spPr>
          <a:xfrm>
            <a:off x="6433839" y="4957762"/>
            <a:ext cx="2160240" cy="487560"/>
          </a:xfrm>
          <a:prstGeom prst="rect">
            <a:avLst/>
          </a:prstGeom>
          <a:noFill/>
        </p:spPr>
        <p:txBody>
          <a:bodyPr wrap="square" lIns="0" tIns="0" rIns="0" bIns="0" anchor="t">
            <a:spAutoFit/>
          </a:bodyPr>
          <a:lstStyle/>
          <a:p>
            <a:pPr algn="ctr">
              <a:lnSpc>
                <a:spcPts val="1920"/>
              </a:lnSpc>
            </a:pPr>
            <a:r>
              <a:rPr sz="1200" b="0" i="0" u="none">
                <a:solidFill>
                  <a:srgbClr val="334155"/>
                </a:solidFill>
                <a:latin typeface="Times New Roman" panose="02020603050405020304" charset="0"/>
                <a:cs typeface="Times New Roman" panose="02020603050405020304" charset="0"/>
              </a:rPr>
              <a:t>Order is sent wirelessly to the robot to calculate sequence.</a:t>
            </a:r>
            <a:endParaRPr sz="1200" b="0" i="0" u="none">
              <a:solidFill>
                <a:srgbClr val="334155"/>
              </a:solidFill>
              <a:latin typeface="Times New Roman" panose="02020603050405020304" charset="0"/>
              <a:cs typeface="Times New Roman" panose="02020603050405020304" charset="0"/>
            </a:endParaRPr>
          </a:p>
        </p:txBody>
      </p:sp>
      <p:sp>
        <p:nvSpPr>
          <p:cNvPr id="14" name="TextBox 13"/>
          <p:cNvSpPr txBox="1"/>
          <p:nvPr/>
        </p:nvSpPr>
        <p:spPr>
          <a:xfrm>
            <a:off x="9215753" y="2026146"/>
            <a:ext cx="2268252" cy="314325"/>
          </a:xfrm>
          <a:prstGeom prst="rect">
            <a:avLst/>
          </a:prstGeom>
          <a:noFill/>
        </p:spPr>
        <p:txBody>
          <a:bodyPr wrap="square" lIns="0" tIns="0" rIns="0" bIns="0" anchor="t">
            <a:spAutoFit/>
          </a:bodyPr>
          <a:lstStyle/>
          <a:p>
            <a:pPr algn="ctr"/>
            <a:r>
              <a:rPr sz="1650" b="0" i="0" u="none">
                <a:solidFill>
                  <a:srgbClr val="1E3A8A"/>
                </a:solidFill>
                <a:latin typeface="Times New Roman" panose="02020603050405020304" charset="0"/>
                <a:cs typeface="Times New Roman" panose="02020603050405020304" charset="0"/>
              </a:rPr>
              <a:t>Step 4: Navigate</a:t>
            </a:r>
            <a:endParaRPr sz="1650" b="0" i="0" u="none">
              <a:solidFill>
                <a:srgbClr val="1E3A8A"/>
              </a:solidFill>
              <a:latin typeface="Times New Roman" panose="02020603050405020304" charset="0"/>
              <a:cs typeface="Times New Roman" panose="02020603050405020304" charset="0"/>
            </a:endParaRPr>
          </a:p>
        </p:txBody>
      </p:sp>
      <p:sp>
        <p:nvSpPr>
          <p:cNvPr id="15" name="TextBox 14"/>
          <p:cNvSpPr txBox="1"/>
          <p:nvPr/>
        </p:nvSpPr>
        <p:spPr>
          <a:xfrm>
            <a:off x="9269759" y="2483346"/>
            <a:ext cx="2160240" cy="731341"/>
          </a:xfrm>
          <a:prstGeom prst="rect">
            <a:avLst/>
          </a:prstGeom>
          <a:noFill/>
        </p:spPr>
        <p:txBody>
          <a:bodyPr wrap="square" lIns="0" tIns="0" rIns="0" bIns="0" anchor="t">
            <a:spAutoFit/>
          </a:bodyPr>
          <a:lstStyle/>
          <a:p>
            <a:pPr algn="ctr">
              <a:lnSpc>
                <a:spcPts val="1920"/>
              </a:lnSpc>
            </a:pPr>
            <a:r>
              <a:rPr sz="1200" b="0" i="0" u="none">
                <a:solidFill>
                  <a:srgbClr val="334155"/>
                </a:solidFill>
                <a:latin typeface="Times New Roman" panose="02020603050405020304" charset="0"/>
                <a:cs typeface="Times New Roman" panose="02020603050405020304" charset="0"/>
              </a:rPr>
              <a:t>Robot initiates movement to the first predefined product location.</a:t>
            </a:r>
            <a:endParaRPr sz="1200" b="0" i="0" u="none">
              <a:solidFill>
                <a:srgbClr val="334155"/>
              </a:solidFill>
              <a:latin typeface="Times New Roman" panose="02020603050405020304" charset="0"/>
              <a:cs typeface="Times New Roman" panose="02020603050405020304" charset="0"/>
            </a:endParaRPr>
          </a:p>
        </p:txBody>
      </p:sp>
      <p:sp>
        <p:nvSpPr>
          <p:cNvPr id="16" name="Rounded Rectangle 15"/>
          <p:cNvSpPr/>
          <p:nvPr/>
        </p:nvSpPr>
        <p:spPr>
          <a:xfrm>
            <a:off x="1708770" y="3795712"/>
            <a:ext cx="266700" cy="266700"/>
          </a:xfrm>
          <a:prstGeom prst="roundRect">
            <a:avLst>
              <a:gd name="adj" fmla="val 50000"/>
            </a:avLst>
          </a:prstGeom>
          <a:solidFill>
            <a:srgbClr val="FFFFFF"/>
          </a:solidFill>
          <a:ln w="571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17" name="Rounded Rectangle 16"/>
          <p:cNvSpPr/>
          <p:nvPr/>
        </p:nvSpPr>
        <p:spPr>
          <a:xfrm>
            <a:off x="4544690" y="3795712"/>
            <a:ext cx="266700" cy="266700"/>
          </a:xfrm>
          <a:prstGeom prst="roundRect">
            <a:avLst>
              <a:gd name="adj" fmla="val 50000"/>
            </a:avLst>
          </a:prstGeom>
          <a:solidFill>
            <a:srgbClr val="FFFFFF"/>
          </a:solidFill>
          <a:ln w="571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18" name="Rounded Rectangle 17"/>
          <p:cNvSpPr/>
          <p:nvPr/>
        </p:nvSpPr>
        <p:spPr>
          <a:xfrm>
            <a:off x="7380609" y="3795712"/>
            <a:ext cx="266700" cy="266700"/>
          </a:xfrm>
          <a:prstGeom prst="roundRect">
            <a:avLst>
              <a:gd name="adj" fmla="val 50000"/>
            </a:avLst>
          </a:prstGeom>
          <a:solidFill>
            <a:srgbClr val="FFFFFF"/>
          </a:solidFill>
          <a:ln w="571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19" name="Rounded Rectangle 18"/>
          <p:cNvSpPr/>
          <p:nvPr/>
        </p:nvSpPr>
        <p:spPr>
          <a:xfrm>
            <a:off x="10216529" y="3795712"/>
            <a:ext cx="266700" cy="266700"/>
          </a:xfrm>
          <a:prstGeom prst="roundRect">
            <a:avLst>
              <a:gd name="adj" fmla="val 50000"/>
            </a:avLst>
          </a:prstGeom>
          <a:solidFill>
            <a:srgbClr val="FFFFFF"/>
          </a:solidFill>
          <a:ln w="571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20" name="TextBox 19"/>
          <p:cNvSpPr txBox="1"/>
          <p:nvPr/>
        </p:nvSpPr>
        <p:spPr>
          <a:xfrm>
            <a:off x="571500" y="571500"/>
            <a:ext cx="11601450" cy="619125"/>
          </a:xfrm>
          <a:prstGeom prst="rect">
            <a:avLst/>
          </a:prstGeom>
          <a:noFill/>
        </p:spPr>
        <p:txBody>
          <a:bodyPr wrap="square" lIns="0" tIns="0" rIns="0" bIns="0" anchor="t">
            <a:spAutoFit/>
          </a:bodyPr>
          <a:lstStyle/>
          <a:p>
            <a:pPr algn="l"/>
            <a:r>
              <a:rPr sz="3300" b="0" i="0" u="none">
                <a:solidFill>
                  <a:schemeClr val="tx1"/>
                </a:solidFill>
                <a:latin typeface="Times New Roman" panose="02020603050405020304" charset="0"/>
                <a:cs typeface="Times New Roman" panose="02020603050405020304" charset="0"/>
              </a:rPr>
              <a:t>Methodology: Phase 1</a:t>
            </a:r>
            <a:endParaRPr sz="3300" b="0" i="0" u="none">
              <a:solidFill>
                <a:schemeClr val="tx1"/>
              </a:solidFill>
              <a:latin typeface="Times New Roman" panose="02020603050405020304" charset="0"/>
              <a:cs typeface="Times New Roman" panose="02020603050405020304" charset="0"/>
            </a:endParaRPr>
          </a:p>
        </p:txBody>
      </p:sp>
      <p:pic>
        <p:nvPicPr>
          <p:cNvPr id="21" name="Picture 20"/>
          <p:cNvPicPr>
            <a:picLocks noChangeAspect="1"/>
          </p:cNvPicPr>
          <p:nvPr/>
        </p:nvPicPr>
        <p:blipFill>
          <a:blip r:embed="rId6"/>
          <a:stretch>
            <a:fillRect/>
          </a:stretch>
        </p:blipFill>
        <p:spPr>
          <a:xfrm>
            <a:off x="0" y="0"/>
            <a:ext cx="12192000" cy="6858000"/>
          </a:xfrm>
          <a:prstGeom prst="rect">
            <a:avLst/>
          </a:prstGeom>
        </p:spPr>
      </p:pic>
      <p:pic>
        <p:nvPicPr>
          <p:cNvPr id="22" name="Picture 21"/>
          <p:cNvPicPr>
            <a:picLocks noChangeAspect="1"/>
          </p:cNvPicPr>
          <p:nvPr/>
        </p:nvPicPr>
        <p:blipFill>
          <a:blip r:embed="rId7"/>
          <a:stretch>
            <a:fillRect/>
          </a:stretch>
        </p:blipFill>
        <p:spPr>
          <a:xfrm>
            <a:off x="-13970" y="0"/>
            <a:ext cx="12205970" cy="68586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2"/>
          <a:stretch>
            <a:fillRect/>
          </a:stretch>
        </p:blipFill>
        <p:spPr>
          <a:xfrm>
            <a:off x="571500" y="4310062"/>
            <a:ext cx="2541240" cy="1712416"/>
          </a:xfrm>
          <a:prstGeom prst="rect">
            <a:avLst/>
          </a:prstGeom>
        </p:spPr>
      </p:pic>
      <p:pic>
        <p:nvPicPr>
          <p:cNvPr id="4" name="Picture 3" descr="image.png"/>
          <p:cNvPicPr>
            <a:picLocks noChangeAspect="1"/>
          </p:cNvPicPr>
          <p:nvPr/>
        </p:nvPicPr>
        <p:blipFill>
          <a:blip r:embed="rId3"/>
          <a:stretch>
            <a:fillRect/>
          </a:stretch>
        </p:blipFill>
        <p:spPr>
          <a:xfrm>
            <a:off x="3407419" y="1835646"/>
            <a:ext cx="2541240" cy="1712416"/>
          </a:xfrm>
          <a:prstGeom prst="rect">
            <a:avLst/>
          </a:prstGeom>
        </p:spPr>
      </p:pic>
      <p:pic>
        <p:nvPicPr>
          <p:cNvPr id="5" name="Picture 4" descr="image.png"/>
          <p:cNvPicPr>
            <a:picLocks noChangeAspect="1"/>
          </p:cNvPicPr>
          <p:nvPr/>
        </p:nvPicPr>
        <p:blipFill>
          <a:blip r:embed="rId4"/>
          <a:stretch>
            <a:fillRect/>
          </a:stretch>
        </p:blipFill>
        <p:spPr>
          <a:xfrm>
            <a:off x="6243339" y="4310062"/>
            <a:ext cx="2541240" cy="1712416"/>
          </a:xfrm>
          <a:prstGeom prst="rect">
            <a:avLst/>
          </a:prstGeom>
        </p:spPr>
      </p:pic>
      <p:pic>
        <p:nvPicPr>
          <p:cNvPr id="6" name="Picture 5" descr="image.png"/>
          <p:cNvPicPr>
            <a:picLocks noChangeAspect="1"/>
          </p:cNvPicPr>
          <p:nvPr/>
        </p:nvPicPr>
        <p:blipFill>
          <a:blip r:embed="rId5"/>
          <a:stretch>
            <a:fillRect/>
          </a:stretch>
        </p:blipFill>
        <p:spPr>
          <a:xfrm>
            <a:off x="9079259" y="2079426"/>
            <a:ext cx="2541240" cy="1468635"/>
          </a:xfrm>
          <a:prstGeom prst="rect">
            <a:avLst/>
          </a:prstGeom>
        </p:spPr>
      </p:pic>
      <p:sp>
        <p:nvSpPr>
          <p:cNvPr id="7" name="Rounded Rectangle 6"/>
          <p:cNvSpPr/>
          <p:nvPr/>
        </p:nvSpPr>
        <p:spPr>
          <a:xfrm>
            <a:off x="571500" y="3900487"/>
            <a:ext cx="11049000" cy="57150"/>
          </a:xfrm>
          <a:prstGeom prst="roundRect">
            <a:avLst>
              <a:gd name="adj" fmla="val 50000"/>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8" name="TextBox 7"/>
          <p:cNvSpPr txBox="1"/>
          <p:nvPr/>
        </p:nvSpPr>
        <p:spPr>
          <a:xfrm>
            <a:off x="707993" y="4500562"/>
            <a:ext cx="2268252" cy="314325"/>
          </a:xfrm>
          <a:prstGeom prst="rect">
            <a:avLst/>
          </a:prstGeom>
          <a:noFill/>
        </p:spPr>
        <p:txBody>
          <a:bodyPr wrap="square" lIns="0" tIns="0" rIns="0" bIns="0" anchor="t">
            <a:spAutoFit/>
          </a:bodyPr>
          <a:lstStyle/>
          <a:p>
            <a:pPr algn="ctr"/>
            <a:r>
              <a:rPr sz="1650" b="0" i="0" u="none">
                <a:solidFill>
                  <a:srgbClr val="1E3A8A"/>
                </a:solidFill>
                <a:latin typeface="Times New Roman" panose="02020603050405020304" charset="0"/>
                <a:cs typeface="Times New Roman" panose="02020603050405020304" charset="0"/>
              </a:rPr>
              <a:t>Step 5: Detect</a:t>
            </a:r>
            <a:endParaRPr sz="1650" b="0" i="0" u="none">
              <a:solidFill>
                <a:srgbClr val="1E3A8A"/>
              </a:solidFill>
              <a:latin typeface="Times New Roman" panose="02020603050405020304" charset="0"/>
              <a:cs typeface="Times New Roman" panose="02020603050405020304" charset="0"/>
            </a:endParaRPr>
          </a:p>
        </p:txBody>
      </p:sp>
      <p:sp>
        <p:nvSpPr>
          <p:cNvPr id="9" name="TextBox 8"/>
          <p:cNvSpPr txBox="1"/>
          <p:nvPr/>
        </p:nvSpPr>
        <p:spPr>
          <a:xfrm>
            <a:off x="762000" y="4957762"/>
            <a:ext cx="2160240" cy="731341"/>
          </a:xfrm>
          <a:prstGeom prst="rect">
            <a:avLst/>
          </a:prstGeom>
          <a:noFill/>
        </p:spPr>
        <p:txBody>
          <a:bodyPr wrap="square" lIns="0" tIns="0" rIns="0" bIns="0" anchor="t">
            <a:spAutoFit/>
          </a:bodyPr>
          <a:lstStyle/>
          <a:p>
            <a:pPr algn="ctr">
              <a:lnSpc>
                <a:spcPts val="1920"/>
              </a:lnSpc>
            </a:pPr>
            <a:r>
              <a:rPr sz="1200" b="0" i="0" u="none">
                <a:solidFill>
                  <a:srgbClr val="334155"/>
                </a:solidFill>
                <a:latin typeface="Times New Roman" panose="02020603050405020304" charset="0"/>
                <a:cs typeface="Times New Roman" panose="02020603050405020304" charset="0"/>
              </a:rPr>
              <a:t>Onboard camera captures the shelf and applies computer vision.</a:t>
            </a:r>
            <a:endParaRPr sz="1200" b="0" i="0" u="none">
              <a:solidFill>
                <a:srgbClr val="334155"/>
              </a:solidFill>
              <a:latin typeface="Times New Roman" panose="02020603050405020304" charset="0"/>
              <a:cs typeface="Times New Roman" panose="02020603050405020304" charset="0"/>
            </a:endParaRPr>
          </a:p>
        </p:txBody>
      </p:sp>
      <p:sp>
        <p:nvSpPr>
          <p:cNvPr id="10" name="TextBox 9"/>
          <p:cNvSpPr txBox="1"/>
          <p:nvPr/>
        </p:nvSpPr>
        <p:spPr>
          <a:xfrm>
            <a:off x="3543913" y="2026146"/>
            <a:ext cx="2268252" cy="314325"/>
          </a:xfrm>
          <a:prstGeom prst="rect">
            <a:avLst/>
          </a:prstGeom>
          <a:noFill/>
        </p:spPr>
        <p:txBody>
          <a:bodyPr wrap="square" lIns="0" tIns="0" rIns="0" bIns="0" anchor="t">
            <a:spAutoFit/>
          </a:bodyPr>
          <a:lstStyle/>
          <a:p>
            <a:pPr algn="ctr"/>
            <a:r>
              <a:rPr sz="1650" b="0" i="0" u="none">
                <a:solidFill>
                  <a:srgbClr val="1E3A8A"/>
                </a:solidFill>
                <a:latin typeface="Times New Roman" panose="02020603050405020304" charset="0"/>
                <a:cs typeface="Times New Roman" panose="02020603050405020304" charset="0"/>
              </a:rPr>
              <a:t>Step 6: Verify</a:t>
            </a:r>
            <a:endParaRPr sz="1650" b="0" i="0" u="none">
              <a:solidFill>
                <a:srgbClr val="1E3A8A"/>
              </a:solidFill>
              <a:latin typeface="Times New Roman" panose="02020603050405020304" charset="0"/>
              <a:cs typeface="Times New Roman" panose="02020603050405020304" charset="0"/>
            </a:endParaRPr>
          </a:p>
        </p:txBody>
      </p:sp>
      <p:sp>
        <p:nvSpPr>
          <p:cNvPr id="11" name="TextBox 10"/>
          <p:cNvSpPr txBox="1"/>
          <p:nvPr/>
        </p:nvSpPr>
        <p:spPr>
          <a:xfrm>
            <a:off x="3597919" y="2483346"/>
            <a:ext cx="2160240" cy="731341"/>
          </a:xfrm>
          <a:prstGeom prst="rect">
            <a:avLst/>
          </a:prstGeom>
          <a:noFill/>
        </p:spPr>
        <p:txBody>
          <a:bodyPr wrap="square" lIns="0" tIns="0" rIns="0" bIns="0" anchor="t">
            <a:spAutoFit/>
          </a:bodyPr>
          <a:lstStyle/>
          <a:p>
            <a:pPr algn="ctr">
              <a:lnSpc>
                <a:spcPts val="1920"/>
              </a:lnSpc>
            </a:pPr>
            <a:r>
              <a:rPr sz="1200" b="0" i="0" u="none">
                <a:solidFill>
                  <a:srgbClr val="334155"/>
                </a:solidFill>
                <a:latin typeface="Times New Roman" panose="02020603050405020304" charset="0"/>
                <a:cs typeface="Times New Roman" panose="02020603050405020304" charset="0"/>
              </a:rPr>
              <a:t>AI algorithms confirm the correct target product has been located.</a:t>
            </a:r>
            <a:endParaRPr sz="1200" b="0" i="0" u="none">
              <a:solidFill>
                <a:srgbClr val="334155"/>
              </a:solidFill>
              <a:latin typeface="Times New Roman" panose="02020603050405020304" charset="0"/>
              <a:cs typeface="Times New Roman" panose="02020603050405020304" charset="0"/>
            </a:endParaRPr>
          </a:p>
        </p:txBody>
      </p:sp>
      <p:sp>
        <p:nvSpPr>
          <p:cNvPr id="12" name="TextBox 11"/>
          <p:cNvSpPr txBox="1"/>
          <p:nvPr/>
        </p:nvSpPr>
        <p:spPr>
          <a:xfrm>
            <a:off x="6379833" y="4500562"/>
            <a:ext cx="2268252" cy="314325"/>
          </a:xfrm>
          <a:prstGeom prst="rect">
            <a:avLst/>
          </a:prstGeom>
          <a:noFill/>
        </p:spPr>
        <p:txBody>
          <a:bodyPr wrap="square" lIns="0" tIns="0" rIns="0" bIns="0" anchor="t">
            <a:spAutoFit/>
          </a:bodyPr>
          <a:lstStyle/>
          <a:p>
            <a:pPr algn="ctr"/>
            <a:r>
              <a:rPr sz="1650" b="0" i="0" u="none">
                <a:solidFill>
                  <a:srgbClr val="1E3A8A"/>
                </a:solidFill>
                <a:latin typeface="Times New Roman" panose="02020603050405020304" charset="0"/>
                <a:cs typeface="Times New Roman" panose="02020603050405020304" charset="0"/>
              </a:rPr>
              <a:t>Step 7: Pick &amp; Place</a:t>
            </a:r>
            <a:endParaRPr sz="1650" b="0" i="0" u="none">
              <a:solidFill>
                <a:srgbClr val="1E3A8A"/>
              </a:solidFill>
              <a:latin typeface="Times New Roman" panose="02020603050405020304" charset="0"/>
              <a:cs typeface="Times New Roman" panose="02020603050405020304" charset="0"/>
            </a:endParaRPr>
          </a:p>
        </p:txBody>
      </p:sp>
      <p:sp>
        <p:nvSpPr>
          <p:cNvPr id="13" name="TextBox 12"/>
          <p:cNvSpPr txBox="1"/>
          <p:nvPr/>
        </p:nvSpPr>
        <p:spPr>
          <a:xfrm>
            <a:off x="6433839" y="4957762"/>
            <a:ext cx="2160240" cy="731341"/>
          </a:xfrm>
          <a:prstGeom prst="rect">
            <a:avLst/>
          </a:prstGeom>
          <a:noFill/>
        </p:spPr>
        <p:txBody>
          <a:bodyPr wrap="square" lIns="0" tIns="0" rIns="0" bIns="0" anchor="t">
            <a:spAutoFit/>
          </a:bodyPr>
          <a:lstStyle/>
          <a:p>
            <a:pPr algn="ctr">
              <a:lnSpc>
                <a:spcPts val="1920"/>
              </a:lnSpc>
            </a:pPr>
            <a:r>
              <a:rPr sz="1200" b="0" i="0" u="none">
                <a:solidFill>
                  <a:srgbClr val="334155"/>
                </a:solidFill>
                <a:latin typeface="Times New Roman" panose="02020603050405020304" charset="0"/>
                <a:cs typeface="Times New Roman" panose="02020603050405020304" charset="0"/>
              </a:rPr>
              <a:t>Robotic mechanism grasps the item and deposits it into the basket.</a:t>
            </a:r>
            <a:endParaRPr sz="1200" b="0" i="0" u="none">
              <a:solidFill>
                <a:srgbClr val="334155"/>
              </a:solidFill>
              <a:latin typeface="Times New Roman" panose="02020603050405020304" charset="0"/>
              <a:cs typeface="Times New Roman" panose="02020603050405020304" charset="0"/>
            </a:endParaRPr>
          </a:p>
        </p:txBody>
      </p:sp>
      <p:sp>
        <p:nvSpPr>
          <p:cNvPr id="14" name="TextBox 13"/>
          <p:cNvSpPr txBox="1"/>
          <p:nvPr/>
        </p:nvSpPr>
        <p:spPr>
          <a:xfrm>
            <a:off x="9215753" y="2269926"/>
            <a:ext cx="2268252" cy="314325"/>
          </a:xfrm>
          <a:prstGeom prst="rect">
            <a:avLst/>
          </a:prstGeom>
          <a:noFill/>
        </p:spPr>
        <p:txBody>
          <a:bodyPr wrap="square" lIns="0" tIns="0" rIns="0" bIns="0" anchor="t">
            <a:spAutoFit/>
          </a:bodyPr>
          <a:lstStyle/>
          <a:p>
            <a:pPr algn="ctr"/>
            <a:r>
              <a:rPr sz="1650" b="0" i="0" u="none">
                <a:solidFill>
                  <a:srgbClr val="1E3A8A"/>
                </a:solidFill>
                <a:latin typeface="Times New Roman" panose="02020603050405020304" charset="0"/>
                <a:cs typeface="Times New Roman" panose="02020603050405020304" charset="0"/>
              </a:rPr>
              <a:t>Step 8: Repeat</a:t>
            </a:r>
            <a:endParaRPr sz="1650" b="0" i="0" u="none">
              <a:solidFill>
                <a:srgbClr val="1E3A8A"/>
              </a:solidFill>
              <a:latin typeface="Times New Roman" panose="02020603050405020304" charset="0"/>
              <a:cs typeface="Times New Roman" panose="02020603050405020304" charset="0"/>
            </a:endParaRPr>
          </a:p>
        </p:txBody>
      </p:sp>
      <p:sp>
        <p:nvSpPr>
          <p:cNvPr id="15" name="TextBox 14"/>
          <p:cNvSpPr txBox="1"/>
          <p:nvPr/>
        </p:nvSpPr>
        <p:spPr>
          <a:xfrm>
            <a:off x="9269759" y="2727126"/>
            <a:ext cx="2160240" cy="487560"/>
          </a:xfrm>
          <a:prstGeom prst="rect">
            <a:avLst/>
          </a:prstGeom>
          <a:noFill/>
        </p:spPr>
        <p:txBody>
          <a:bodyPr wrap="square" lIns="0" tIns="0" rIns="0" bIns="0" anchor="t">
            <a:spAutoFit/>
          </a:bodyPr>
          <a:lstStyle/>
          <a:p>
            <a:pPr algn="ctr">
              <a:lnSpc>
                <a:spcPts val="1920"/>
              </a:lnSpc>
            </a:pPr>
            <a:r>
              <a:rPr sz="1200" b="0" i="0" u="none">
                <a:solidFill>
                  <a:srgbClr val="334155"/>
                </a:solidFill>
                <a:latin typeface="Times New Roman" panose="02020603050405020304" charset="0"/>
                <a:cs typeface="Times New Roman" panose="02020603050405020304" charset="0"/>
              </a:rPr>
              <a:t>Robot loops this process for all remaining items on the list.</a:t>
            </a:r>
            <a:endParaRPr sz="1200" b="0" i="0" u="none">
              <a:solidFill>
                <a:srgbClr val="334155"/>
              </a:solidFill>
              <a:latin typeface="Times New Roman" panose="02020603050405020304" charset="0"/>
              <a:cs typeface="Times New Roman" panose="02020603050405020304" charset="0"/>
            </a:endParaRPr>
          </a:p>
        </p:txBody>
      </p:sp>
      <p:sp>
        <p:nvSpPr>
          <p:cNvPr id="16" name="Rounded Rectangle 15"/>
          <p:cNvSpPr/>
          <p:nvPr/>
        </p:nvSpPr>
        <p:spPr>
          <a:xfrm>
            <a:off x="1708770" y="3795712"/>
            <a:ext cx="266700" cy="266700"/>
          </a:xfrm>
          <a:prstGeom prst="roundRect">
            <a:avLst>
              <a:gd name="adj" fmla="val 50000"/>
            </a:avLst>
          </a:prstGeom>
          <a:solidFill>
            <a:srgbClr val="FFFFFF"/>
          </a:solidFill>
          <a:ln w="571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17" name="Rounded Rectangle 16"/>
          <p:cNvSpPr/>
          <p:nvPr/>
        </p:nvSpPr>
        <p:spPr>
          <a:xfrm>
            <a:off x="4544690" y="3795712"/>
            <a:ext cx="266700" cy="266700"/>
          </a:xfrm>
          <a:prstGeom prst="roundRect">
            <a:avLst>
              <a:gd name="adj" fmla="val 50000"/>
            </a:avLst>
          </a:prstGeom>
          <a:solidFill>
            <a:srgbClr val="FFFFFF"/>
          </a:solidFill>
          <a:ln w="571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18" name="Rounded Rectangle 17"/>
          <p:cNvSpPr/>
          <p:nvPr/>
        </p:nvSpPr>
        <p:spPr>
          <a:xfrm>
            <a:off x="7380609" y="3795712"/>
            <a:ext cx="266700" cy="266700"/>
          </a:xfrm>
          <a:prstGeom prst="roundRect">
            <a:avLst>
              <a:gd name="adj" fmla="val 50000"/>
            </a:avLst>
          </a:prstGeom>
          <a:solidFill>
            <a:srgbClr val="FFFFFF"/>
          </a:solidFill>
          <a:ln w="571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19" name="Rounded Rectangle 18"/>
          <p:cNvSpPr/>
          <p:nvPr/>
        </p:nvSpPr>
        <p:spPr>
          <a:xfrm>
            <a:off x="10216529" y="3795712"/>
            <a:ext cx="266700" cy="266700"/>
          </a:xfrm>
          <a:prstGeom prst="roundRect">
            <a:avLst>
              <a:gd name="adj" fmla="val 50000"/>
            </a:avLst>
          </a:prstGeom>
          <a:solidFill>
            <a:srgbClr val="FFFFFF"/>
          </a:solidFill>
          <a:ln w="571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charset="0"/>
              <a:cs typeface="Times New Roman" panose="02020603050405020304" charset="0"/>
            </a:endParaRPr>
          </a:p>
        </p:txBody>
      </p:sp>
      <p:sp>
        <p:nvSpPr>
          <p:cNvPr id="20" name="TextBox 19"/>
          <p:cNvSpPr txBox="1"/>
          <p:nvPr/>
        </p:nvSpPr>
        <p:spPr>
          <a:xfrm>
            <a:off x="571500" y="571500"/>
            <a:ext cx="11601450" cy="619125"/>
          </a:xfrm>
          <a:prstGeom prst="rect">
            <a:avLst/>
          </a:prstGeom>
          <a:noFill/>
        </p:spPr>
        <p:txBody>
          <a:bodyPr wrap="square" lIns="0" tIns="0" rIns="0" bIns="0" anchor="t">
            <a:spAutoFit/>
          </a:bodyPr>
          <a:lstStyle/>
          <a:p>
            <a:pPr algn="l"/>
            <a:r>
              <a:rPr sz="3300" b="0" i="0" u="none">
                <a:solidFill>
                  <a:schemeClr val="tx1"/>
                </a:solidFill>
                <a:latin typeface="Times New Roman" panose="02020603050405020304" charset="0"/>
                <a:cs typeface="Times New Roman" panose="02020603050405020304" charset="0"/>
              </a:rPr>
              <a:t>Methodology: Phase 2</a:t>
            </a:r>
            <a:endParaRPr sz="3300" b="0" i="0" u="none">
              <a:solidFill>
                <a:schemeClr val="tx1"/>
              </a:solidFill>
              <a:latin typeface="Times New Roman" panose="02020603050405020304" charset="0"/>
              <a:cs typeface="Times New Roman" panose="02020603050405020304" charset="0"/>
            </a:endParaRPr>
          </a:p>
        </p:txBody>
      </p:sp>
      <p:pic>
        <p:nvPicPr>
          <p:cNvPr id="21" name="Picture 20"/>
          <p:cNvPicPr>
            <a:picLocks noChangeAspect="1"/>
          </p:cNvPicPr>
          <p:nvPr/>
        </p:nvPicPr>
        <p:blipFill>
          <a:blip r:embed="rId6"/>
          <a:stretch>
            <a:fillRect/>
          </a:stretch>
        </p:blipFill>
        <p:spPr>
          <a:xfrm>
            <a:off x="0" y="0"/>
            <a:ext cx="12192000" cy="6858000"/>
          </a:xfrm>
          <a:prstGeom prst="rect">
            <a:avLst/>
          </a:prstGeom>
        </p:spPr>
      </p:pic>
      <p:pic>
        <p:nvPicPr>
          <p:cNvPr id="22" name="Picture 21"/>
          <p:cNvPicPr>
            <a:picLocks noChangeAspect="1"/>
          </p:cNvPicPr>
          <p:nvPr/>
        </p:nvPicPr>
        <p:blipFill>
          <a:blip r:embed="rId7"/>
          <a:stretch>
            <a:fillRect/>
          </a:stretch>
        </p:blipFill>
        <p:spPr>
          <a:xfrm>
            <a:off x="0" y="0"/>
            <a:ext cx="12192635" cy="68472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2"/>
          <a:stretch>
            <a:fillRect/>
          </a:stretch>
        </p:blipFill>
        <p:spPr>
          <a:xfrm>
            <a:off x="571500" y="1476375"/>
            <a:ext cx="3429000" cy="4905375"/>
          </a:xfrm>
          <a:prstGeom prst="rect">
            <a:avLst/>
          </a:prstGeom>
        </p:spPr>
      </p:pic>
      <p:pic>
        <p:nvPicPr>
          <p:cNvPr id="4" name="Picture 3" descr="image.png"/>
          <p:cNvPicPr>
            <a:picLocks noChangeAspect="1"/>
          </p:cNvPicPr>
          <p:nvPr/>
        </p:nvPicPr>
        <p:blipFill>
          <a:blip r:embed="rId3"/>
          <a:stretch>
            <a:fillRect/>
          </a:stretch>
        </p:blipFill>
        <p:spPr>
          <a:xfrm>
            <a:off x="4381500" y="1476375"/>
            <a:ext cx="3429000" cy="4905375"/>
          </a:xfrm>
          <a:prstGeom prst="rect">
            <a:avLst/>
          </a:prstGeom>
        </p:spPr>
      </p:pic>
      <p:pic>
        <p:nvPicPr>
          <p:cNvPr id="5" name="Picture 4" descr="image.png"/>
          <p:cNvPicPr>
            <a:picLocks noChangeAspect="1"/>
          </p:cNvPicPr>
          <p:nvPr/>
        </p:nvPicPr>
        <p:blipFill>
          <a:blip r:embed="rId3"/>
          <a:stretch>
            <a:fillRect/>
          </a:stretch>
        </p:blipFill>
        <p:spPr>
          <a:xfrm>
            <a:off x="8191500" y="1476375"/>
            <a:ext cx="3429000" cy="4905375"/>
          </a:xfrm>
          <a:prstGeom prst="rect">
            <a:avLst/>
          </a:prstGeom>
        </p:spPr>
      </p:pic>
      <p:sp>
        <p:nvSpPr>
          <p:cNvPr id="6" name="TextBox 5"/>
          <p:cNvSpPr txBox="1"/>
          <p:nvPr/>
        </p:nvSpPr>
        <p:spPr>
          <a:xfrm>
            <a:off x="685800" y="4286250"/>
            <a:ext cx="3200400" cy="322580"/>
          </a:xfrm>
          <a:prstGeom prst="rect">
            <a:avLst/>
          </a:prstGeom>
          <a:noFill/>
        </p:spPr>
        <p:txBody>
          <a:bodyPr wrap="square" lIns="0" tIns="0" rIns="0" bIns="0" anchor="t">
            <a:spAutoFit/>
          </a:bodyPr>
          <a:lstStyle/>
          <a:p>
            <a:pPr algn="ctr"/>
            <a:r>
              <a:rPr sz="2100" b="1" i="0" u="none">
                <a:solidFill>
                  <a:srgbClr val="2563EB"/>
                </a:solidFill>
                <a:latin typeface="Times New Roman" panose="02020603050405020304" charset="0"/>
                <a:cs typeface="Times New Roman" panose="02020603050405020304" charset="0"/>
              </a:rPr>
              <a:t>Frontend &amp; Web</a:t>
            </a:r>
            <a:endParaRPr sz="2100" b="1" i="0" u="none">
              <a:solidFill>
                <a:srgbClr val="2563EB"/>
              </a:solidFill>
              <a:latin typeface="Times New Roman" panose="02020603050405020304" charset="0"/>
              <a:cs typeface="Times New Roman" panose="02020603050405020304" charset="0"/>
            </a:endParaRPr>
          </a:p>
        </p:txBody>
      </p:sp>
      <p:sp>
        <p:nvSpPr>
          <p:cNvPr id="7" name="TextBox 6"/>
          <p:cNvSpPr txBox="1"/>
          <p:nvPr/>
        </p:nvSpPr>
        <p:spPr>
          <a:xfrm>
            <a:off x="762000" y="4829175"/>
            <a:ext cx="3048000" cy="923290"/>
          </a:xfrm>
          <a:prstGeom prst="rect">
            <a:avLst/>
          </a:prstGeom>
          <a:noFill/>
        </p:spPr>
        <p:txBody>
          <a:bodyPr wrap="square" lIns="0" tIns="0" rIns="0" bIns="0" anchor="t">
            <a:spAutoFit/>
          </a:bodyPr>
          <a:lstStyle/>
          <a:p>
            <a:pPr algn="ctr">
              <a:lnSpc>
                <a:spcPts val="2400"/>
              </a:lnSpc>
            </a:pPr>
            <a:r>
              <a:rPr sz="1700" b="0" i="0" u="none">
                <a:solidFill>
                  <a:srgbClr val="334155"/>
                </a:solidFill>
                <a:latin typeface="Times New Roman" panose="02020603050405020304" charset="0"/>
                <a:cs typeface="Times New Roman" panose="02020603050405020304" charset="0"/>
              </a:rPr>
              <a:t>HTML, CSS, JavaScript for the</a:t>
            </a:r>
            <a:endParaRPr sz="1700" b="0" i="0" u="none">
              <a:solidFill>
                <a:srgbClr val="334155"/>
              </a:solidFill>
              <a:latin typeface="Times New Roman" panose="02020603050405020304" charset="0"/>
              <a:cs typeface="Times New Roman" panose="02020603050405020304" charset="0"/>
            </a:endParaRPr>
          </a:p>
          <a:p>
            <a:pPr algn="ctr">
              <a:lnSpc>
                <a:spcPts val="2400"/>
              </a:lnSpc>
            </a:pPr>
            <a:r>
              <a:rPr sz="1700" b="0" i="0" u="none">
                <a:solidFill>
                  <a:srgbClr val="334155"/>
                </a:solidFill>
                <a:latin typeface="Times New Roman" panose="02020603050405020304" charset="0"/>
                <a:cs typeface="Times New Roman" panose="02020603050405020304" charset="0"/>
              </a:rPr>
              <a:t> UI, and Flask framework for the backend application logic.</a:t>
            </a:r>
            <a:endParaRPr sz="1700" b="0" i="0" u="none">
              <a:solidFill>
                <a:srgbClr val="334155"/>
              </a:solidFill>
              <a:latin typeface="Times New Roman" panose="02020603050405020304" charset="0"/>
              <a:cs typeface="Times New Roman" panose="02020603050405020304" charset="0"/>
            </a:endParaRPr>
          </a:p>
        </p:txBody>
      </p:sp>
      <p:sp>
        <p:nvSpPr>
          <p:cNvPr id="8" name="TextBox 7"/>
          <p:cNvSpPr txBox="1"/>
          <p:nvPr/>
        </p:nvSpPr>
        <p:spPr>
          <a:xfrm>
            <a:off x="4495800" y="4286250"/>
            <a:ext cx="3200400" cy="322580"/>
          </a:xfrm>
          <a:prstGeom prst="rect">
            <a:avLst/>
          </a:prstGeom>
          <a:noFill/>
        </p:spPr>
        <p:txBody>
          <a:bodyPr wrap="square" lIns="0" tIns="0" rIns="0" bIns="0" anchor="t">
            <a:spAutoFit/>
          </a:bodyPr>
          <a:lstStyle/>
          <a:p>
            <a:pPr algn="ctr"/>
            <a:r>
              <a:rPr sz="2100" b="1" i="0" u="none">
                <a:solidFill>
                  <a:srgbClr val="2563EB"/>
                </a:solidFill>
                <a:latin typeface="Times New Roman" panose="02020603050405020304" charset="0"/>
                <a:cs typeface="Times New Roman" panose="02020603050405020304" charset="0"/>
              </a:rPr>
              <a:t>AI &amp; Processing</a:t>
            </a:r>
            <a:endParaRPr sz="2100" b="1" i="0" u="none">
              <a:solidFill>
                <a:srgbClr val="2563EB"/>
              </a:solidFill>
              <a:latin typeface="Times New Roman" panose="02020603050405020304" charset="0"/>
              <a:cs typeface="Times New Roman" panose="02020603050405020304" charset="0"/>
            </a:endParaRPr>
          </a:p>
        </p:txBody>
      </p:sp>
      <p:sp>
        <p:nvSpPr>
          <p:cNvPr id="9" name="TextBox 8"/>
          <p:cNvSpPr txBox="1"/>
          <p:nvPr/>
        </p:nvSpPr>
        <p:spPr>
          <a:xfrm>
            <a:off x="4572000" y="4829175"/>
            <a:ext cx="3048000" cy="1230630"/>
          </a:xfrm>
          <a:prstGeom prst="rect">
            <a:avLst/>
          </a:prstGeom>
          <a:noFill/>
        </p:spPr>
        <p:txBody>
          <a:bodyPr wrap="square" lIns="0" tIns="0" rIns="0" bIns="0" anchor="t">
            <a:spAutoFit/>
          </a:bodyPr>
          <a:lstStyle/>
          <a:p>
            <a:pPr algn="ctr">
              <a:lnSpc>
                <a:spcPts val="2400"/>
              </a:lnSpc>
            </a:pPr>
            <a:r>
              <a:rPr sz="1700" b="0" i="0" u="none">
                <a:solidFill>
                  <a:srgbClr val="334155"/>
                </a:solidFill>
                <a:latin typeface="Times New Roman" panose="02020603050405020304" charset="0"/>
                <a:cs typeface="Times New Roman" panose="02020603050405020304" charset="0"/>
              </a:rPr>
              <a:t>Python acts as the core, utilizing OpenCV and NumPy for sophisticated image and vision processing.</a:t>
            </a:r>
            <a:endParaRPr sz="1700" b="0" i="0" u="none">
              <a:solidFill>
                <a:srgbClr val="334155"/>
              </a:solidFill>
              <a:latin typeface="Times New Roman" panose="02020603050405020304" charset="0"/>
              <a:cs typeface="Times New Roman" panose="02020603050405020304" charset="0"/>
            </a:endParaRPr>
          </a:p>
        </p:txBody>
      </p:sp>
      <p:sp>
        <p:nvSpPr>
          <p:cNvPr id="10" name="TextBox 9"/>
          <p:cNvSpPr txBox="1"/>
          <p:nvPr/>
        </p:nvSpPr>
        <p:spPr>
          <a:xfrm>
            <a:off x="8305800" y="4286250"/>
            <a:ext cx="3200400" cy="322580"/>
          </a:xfrm>
          <a:prstGeom prst="rect">
            <a:avLst/>
          </a:prstGeom>
          <a:noFill/>
        </p:spPr>
        <p:txBody>
          <a:bodyPr wrap="square" lIns="0" tIns="0" rIns="0" bIns="0" anchor="t">
            <a:spAutoFit/>
          </a:bodyPr>
          <a:lstStyle/>
          <a:p>
            <a:pPr algn="ctr"/>
            <a:r>
              <a:rPr sz="2100" b="1" i="0" u="none">
                <a:solidFill>
                  <a:srgbClr val="2563EB"/>
                </a:solidFill>
                <a:latin typeface="Times New Roman" panose="02020603050405020304" charset="0"/>
                <a:cs typeface="Times New Roman" panose="02020603050405020304" charset="0"/>
              </a:rPr>
              <a:t>Embedded Systems</a:t>
            </a:r>
            <a:endParaRPr sz="2100" b="1" i="0" u="none">
              <a:solidFill>
                <a:srgbClr val="2563EB"/>
              </a:solidFill>
              <a:latin typeface="Times New Roman" panose="02020603050405020304" charset="0"/>
              <a:cs typeface="Times New Roman" panose="02020603050405020304" charset="0"/>
            </a:endParaRPr>
          </a:p>
        </p:txBody>
      </p:sp>
      <p:sp>
        <p:nvSpPr>
          <p:cNvPr id="11" name="TextBox 10"/>
          <p:cNvSpPr txBox="1"/>
          <p:nvPr/>
        </p:nvSpPr>
        <p:spPr>
          <a:xfrm>
            <a:off x="8382000" y="4829175"/>
            <a:ext cx="3048000" cy="1230630"/>
          </a:xfrm>
          <a:prstGeom prst="rect">
            <a:avLst/>
          </a:prstGeom>
          <a:noFill/>
        </p:spPr>
        <p:txBody>
          <a:bodyPr wrap="square" lIns="0" tIns="0" rIns="0" bIns="0" anchor="t">
            <a:spAutoFit/>
          </a:bodyPr>
          <a:lstStyle/>
          <a:p>
            <a:pPr algn="ctr">
              <a:lnSpc>
                <a:spcPts val="2400"/>
              </a:lnSpc>
            </a:pPr>
            <a:r>
              <a:rPr sz="1700" b="0" i="0" u="none">
                <a:solidFill>
                  <a:srgbClr val="334155"/>
                </a:solidFill>
                <a:latin typeface="Times New Roman" panose="02020603050405020304" charset="0"/>
                <a:cs typeface="Times New Roman" panose="02020603050405020304" charset="0"/>
              </a:rPr>
              <a:t>C/C++ programmed via Arduino IDE for ESP32/MCU motor control, sensor data, and navigation.</a:t>
            </a:r>
            <a:endParaRPr sz="1700" b="0" i="0" u="none">
              <a:solidFill>
                <a:srgbClr val="334155"/>
              </a:solidFill>
              <a:latin typeface="Times New Roman" panose="02020603050405020304" charset="0"/>
              <a:cs typeface="Times New Roman" panose="02020603050405020304" charset="0"/>
            </a:endParaRPr>
          </a:p>
        </p:txBody>
      </p:sp>
      <p:pic>
        <p:nvPicPr>
          <p:cNvPr id="12" name="Picture 11" descr="image.png"/>
          <p:cNvPicPr>
            <a:picLocks noChangeAspect="1"/>
          </p:cNvPicPr>
          <p:nvPr/>
        </p:nvPicPr>
        <p:blipFill>
          <a:blip r:embed="rId4"/>
          <a:stretch>
            <a:fillRect/>
          </a:stretch>
        </p:blipFill>
        <p:spPr>
          <a:xfrm>
            <a:off x="762000" y="1666875"/>
            <a:ext cx="3048000" cy="2381250"/>
          </a:xfrm>
          <a:prstGeom prst="rect">
            <a:avLst/>
          </a:prstGeom>
        </p:spPr>
      </p:pic>
      <p:pic>
        <p:nvPicPr>
          <p:cNvPr id="13" name="Picture 12" descr="image.png"/>
          <p:cNvPicPr>
            <a:picLocks noChangeAspect="1"/>
          </p:cNvPicPr>
          <p:nvPr/>
        </p:nvPicPr>
        <p:blipFill>
          <a:blip r:embed="rId5"/>
          <a:stretch>
            <a:fillRect/>
          </a:stretch>
        </p:blipFill>
        <p:spPr>
          <a:xfrm>
            <a:off x="4572000" y="1666875"/>
            <a:ext cx="3048000" cy="2381250"/>
          </a:xfrm>
          <a:prstGeom prst="rect">
            <a:avLst/>
          </a:prstGeom>
        </p:spPr>
      </p:pic>
      <p:pic>
        <p:nvPicPr>
          <p:cNvPr id="14" name="Picture 13" descr="image.png"/>
          <p:cNvPicPr>
            <a:picLocks noChangeAspect="1"/>
          </p:cNvPicPr>
          <p:nvPr/>
        </p:nvPicPr>
        <p:blipFill>
          <a:blip r:embed="rId6"/>
          <a:stretch>
            <a:fillRect/>
          </a:stretch>
        </p:blipFill>
        <p:spPr>
          <a:xfrm>
            <a:off x="8382000" y="1666875"/>
            <a:ext cx="3048000" cy="2381250"/>
          </a:xfrm>
          <a:prstGeom prst="rect">
            <a:avLst/>
          </a:prstGeom>
        </p:spPr>
      </p:pic>
      <p:sp>
        <p:nvSpPr>
          <p:cNvPr id="15" name="TextBox 14"/>
          <p:cNvSpPr txBox="1"/>
          <p:nvPr/>
        </p:nvSpPr>
        <p:spPr>
          <a:xfrm>
            <a:off x="571500" y="476250"/>
            <a:ext cx="11601450" cy="619125"/>
          </a:xfrm>
          <a:prstGeom prst="rect">
            <a:avLst/>
          </a:prstGeom>
          <a:noFill/>
        </p:spPr>
        <p:txBody>
          <a:bodyPr wrap="square" lIns="0" tIns="0" rIns="0" bIns="0" anchor="t">
            <a:spAutoFit/>
          </a:bodyPr>
          <a:lstStyle/>
          <a:p>
            <a:pPr algn="l"/>
            <a:r>
              <a:rPr sz="3300" b="0" i="0" u="none">
                <a:solidFill>
                  <a:schemeClr val="tx1"/>
                </a:solidFill>
                <a:latin typeface="Times New Roman" panose="02020603050405020304" charset="0"/>
                <a:cs typeface="Times New Roman" panose="02020603050405020304" charset="0"/>
              </a:rPr>
              <a:t>Software &amp; Tech Stack</a:t>
            </a:r>
            <a:endParaRPr sz="3300" b="0" i="0" u="none">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sp>
        <p:nvSpPr>
          <p:cNvPr id="15" name="TextBox 14"/>
          <p:cNvSpPr txBox="1"/>
          <p:nvPr/>
        </p:nvSpPr>
        <p:spPr>
          <a:xfrm>
            <a:off x="571500" y="476250"/>
            <a:ext cx="11601450" cy="507365"/>
          </a:xfrm>
          <a:prstGeom prst="rect">
            <a:avLst/>
          </a:prstGeom>
          <a:noFill/>
        </p:spPr>
        <p:txBody>
          <a:bodyPr wrap="square" lIns="0" tIns="0" rIns="0" bIns="0" anchor="t">
            <a:spAutoFit/>
          </a:bodyPr>
          <a:lstStyle/>
          <a:p>
            <a:pPr algn="l"/>
            <a:r>
              <a:rPr lang="en-US" sz="3300" b="0" i="0" u="none">
                <a:solidFill>
                  <a:schemeClr val="tx1"/>
                </a:solidFill>
                <a:latin typeface="Times New Roman" panose="02020603050405020304" charset="0"/>
                <a:cs typeface="Times New Roman" panose="02020603050405020304" charset="0"/>
              </a:rPr>
              <a:t>Hardware Requirements</a:t>
            </a:r>
            <a:endParaRPr lang="en-US" sz="3300" b="0" i="0" u="none">
              <a:solidFill>
                <a:schemeClr val="tx1"/>
              </a:solidFill>
              <a:latin typeface="Times New Roman" panose="02020603050405020304" charset="0"/>
              <a:cs typeface="Times New Roman" panose="02020603050405020304" charset="0"/>
            </a:endParaRPr>
          </a:p>
        </p:txBody>
      </p:sp>
      <p:pic>
        <p:nvPicPr>
          <p:cNvPr id="4" name="Picture 3" descr="hardware_requirements_bw"/>
          <p:cNvPicPr>
            <a:picLocks noChangeAspect="1"/>
          </p:cNvPicPr>
          <p:nvPr/>
        </p:nvPicPr>
        <p:blipFill>
          <a:blip r:embed="rId2"/>
          <a:stretch>
            <a:fillRect/>
          </a:stretch>
        </p:blipFill>
        <p:spPr>
          <a:xfrm>
            <a:off x="1229360" y="983615"/>
            <a:ext cx="9733280" cy="5474970"/>
          </a:xfrm>
          <a:prstGeom prst="rect">
            <a:avLst/>
          </a:prstGeom>
        </p:spPr>
      </p:pic>
      <p:pic>
        <p:nvPicPr>
          <p:cNvPr id="5" name="Picture 4" descr="image.png"/>
          <p:cNvPicPr>
            <a:picLocks noChangeAspect="1"/>
          </p:cNvPicPr>
          <p:nvPr/>
        </p:nvPicPr>
        <p:blipFill>
          <a:blip r:embed="rId1"/>
          <a:stretch>
            <a:fillRect/>
          </a:stretch>
        </p:blipFill>
        <p:spPr>
          <a:xfrm>
            <a:off x="1229360" y="983615"/>
            <a:ext cx="9733280" cy="54749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2"/>
          <a:stretch>
            <a:fillRect/>
          </a:stretch>
        </p:blipFill>
        <p:spPr>
          <a:xfrm>
            <a:off x="1309687" y="2024062"/>
            <a:ext cx="3810000" cy="3810000"/>
          </a:xfrm>
          <a:prstGeom prst="rect">
            <a:avLst/>
          </a:prstGeom>
        </p:spPr>
      </p:pic>
      <p:sp>
        <p:nvSpPr>
          <p:cNvPr id="4" name="TextBox 3"/>
          <p:cNvSpPr txBox="1"/>
          <p:nvPr/>
        </p:nvSpPr>
        <p:spPr>
          <a:xfrm>
            <a:off x="6334125" y="1781175"/>
            <a:ext cx="5550693" cy="322580"/>
          </a:xfrm>
          <a:prstGeom prst="rect">
            <a:avLst/>
          </a:prstGeom>
          <a:noFill/>
        </p:spPr>
        <p:txBody>
          <a:bodyPr wrap="square" lIns="0" tIns="0" rIns="0" bIns="0" anchor="t">
            <a:spAutoFit/>
          </a:bodyPr>
          <a:lstStyle/>
          <a:p>
            <a:pPr algn="l"/>
            <a:r>
              <a:rPr sz="2100" b="1" i="0" u="none">
                <a:solidFill>
                  <a:srgbClr val="2563EB"/>
                </a:solidFill>
                <a:latin typeface="Times New Roman" panose="02020603050405020304" charset="0"/>
                <a:cs typeface="Times New Roman" panose="02020603050405020304" charset="0"/>
              </a:rPr>
              <a:t>Beyond Supermarkets</a:t>
            </a:r>
            <a:endParaRPr sz="2100" b="1" i="0" u="none">
              <a:solidFill>
                <a:srgbClr val="2563EB"/>
              </a:solidFill>
              <a:latin typeface="Times New Roman" panose="02020603050405020304" charset="0"/>
              <a:cs typeface="Times New Roman" panose="02020603050405020304" charset="0"/>
            </a:endParaRPr>
          </a:p>
        </p:txBody>
      </p:sp>
      <p:sp>
        <p:nvSpPr>
          <p:cNvPr id="5" name="TextBox 4"/>
          <p:cNvSpPr txBox="1"/>
          <p:nvPr/>
        </p:nvSpPr>
        <p:spPr>
          <a:xfrm>
            <a:off x="6334125" y="2257425"/>
            <a:ext cx="5286375" cy="615315"/>
          </a:xfrm>
          <a:prstGeom prst="rect">
            <a:avLst/>
          </a:prstGeom>
          <a:noFill/>
        </p:spPr>
        <p:txBody>
          <a:bodyPr wrap="square" lIns="0" tIns="0" rIns="0" bIns="0" anchor="t">
            <a:spAutoFit/>
          </a:bodyPr>
          <a:lstStyle/>
          <a:p>
            <a:pPr algn="l">
              <a:lnSpc>
                <a:spcPts val="2400"/>
              </a:lnSpc>
            </a:pPr>
            <a:r>
              <a:rPr sz="1700" b="0" i="0" u="none">
                <a:solidFill>
                  <a:srgbClr val="334155"/>
                </a:solidFill>
                <a:latin typeface="Times New Roman" panose="02020603050405020304" charset="0"/>
                <a:cs typeface="Times New Roman" panose="02020603050405020304" charset="0"/>
              </a:rPr>
              <a:t>While designed for smart retail stores to assist shoppers, the core mechanics of this project are highly adaptable.</a:t>
            </a:r>
            <a:endParaRPr sz="1700" b="0" i="0" u="none">
              <a:solidFill>
                <a:srgbClr val="334155"/>
              </a:solidFill>
              <a:latin typeface="Times New Roman" panose="02020603050405020304" charset="0"/>
              <a:cs typeface="Times New Roman" panose="02020603050405020304" charset="0"/>
            </a:endParaRPr>
          </a:p>
        </p:txBody>
      </p:sp>
      <p:sp>
        <p:nvSpPr>
          <p:cNvPr id="6" name="TextBox 5"/>
          <p:cNvSpPr txBox="1"/>
          <p:nvPr/>
        </p:nvSpPr>
        <p:spPr>
          <a:xfrm>
            <a:off x="6334125" y="3267075"/>
            <a:ext cx="5286375" cy="615315"/>
          </a:xfrm>
          <a:prstGeom prst="rect">
            <a:avLst/>
          </a:prstGeom>
          <a:noFill/>
        </p:spPr>
        <p:txBody>
          <a:bodyPr wrap="square" lIns="0" tIns="0" rIns="0" bIns="0" anchor="t">
            <a:spAutoFit/>
          </a:bodyPr>
          <a:lstStyle/>
          <a:p>
            <a:pPr algn="l">
              <a:lnSpc>
                <a:spcPts val="2400"/>
              </a:lnSpc>
            </a:pPr>
            <a:r>
              <a:rPr sz="1700" b="1" i="0" u="none">
                <a:solidFill>
                  <a:srgbClr val="334155"/>
                </a:solidFill>
                <a:latin typeface="Times New Roman" panose="02020603050405020304" charset="0"/>
                <a:cs typeface="Times New Roman" panose="02020603050405020304" charset="0"/>
              </a:rPr>
              <a:t>Warehousing:</a:t>
            </a:r>
            <a:r>
              <a:rPr sz="1700" b="0" i="0" u="none">
                <a:solidFill>
                  <a:srgbClr val="334155"/>
                </a:solidFill>
                <a:latin typeface="Times New Roman" panose="02020603050405020304" charset="0"/>
                <a:cs typeface="Times New Roman" panose="02020603050405020304" charset="0"/>
              </a:rPr>
              <a:t> Automated inventory handling and fulfillment operations.</a:t>
            </a:r>
            <a:endParaRPr sz="1700" b="0" i="0" u="none">
              <a:solidFill>
                <a:srgbClr val="334155"/>
              </a:solidFill>
              <a:latin typeface="Times New Roman" panose="02020603050405020304" charset="0"/>
              <a:cs typeface="Times New Roman" panose="02020603050405020304" charset="0"/>
            </a:endParaRPr>
          </a:p>
        </p:txBody>
      </p:sp>
      <p:sp>
        <p:nvSpPr>
          <p:cNvPr id="7" name="TextBox 6"/>
          <p:cNvSpPr txBox="1"/>
          <p:nvPr/>
        </p:nvSpPr>
        <p:spPr>
          <a:xfrm>
            <a:off x="6334125" y="4019550"/>
            <a:ext cx="5286375" cy="615315"/>
          </a:xfrm>
          <a:prstGeom prst="rect">
            <a:avLst/>
          </a:prstGeom>
          <a:noFill/>
        </p:spPr>
        <p:txBody>
          <a:bodyPr wrap="square" lIns="0" tIns="0" rIns="0" bIns="0" anchor="t">
            <a:spAutoFit/>
          </a:bodyPr>
          <a:lstStyle/>
          <a:p>
            <a:pPr algn="l">
              <a:lnSpc>
                <a:spcPts val="2400"/>
              </a:lnSpc>
            </a:pPr>
            <a:r>
              <a:rPr sz="1700" b="1" i="0" u="none">
                <a:solidFill>
                  <a:srgbClr val="334155"/>
                </a:solidFill>
                <a:latin typeface="Times New Roman" panose="02020603050405020304" charset="0"/>
                <a:cs typeface="Times New Roman" panose="02020603050405020304" charset="0"/>
              </a:rPr>
              <a:t>Healthcare:</a:t>
            </a:r>
            <a:r>
              <a:rPr sz="1700" b="0" i="0" u="none">
                <a:solidFill>
                  <a:srgbClr val="334155"/>
                </a:solidFill>
                <a:latin typeface="Times New Roman" panose="02020603050405020304" charset="0"/>
                <a:cs typeface="Times New Roman" panose="02020603050405020304" charset="0"/>
              </a:rPr>
              <a:t> Autonomous robots for collecting and transporting pharmaceuticals in hospitals.</a:t>
            </a:r>
            <a:endParaRPr sz="1700" b="0" i="0" u="none">
              <a:solidFill>
                <a:srgbClr val="334155"/>
              </a:solidFill>
              <a:latin typeface="Times New Roman" panose="02020603050405020304" charset="0"/>
              <a:cs typeface="Times New Roman" panose="02020603050405020304" charset="0"/>
            </a:endParaRPr>
          </a:p>
        </p:txBody>
      </p:sp>
      <p:sp>
        <p:nvSpPr>
          <p:cNvPr id="8" name="TextBox 7"/>
          <p:cNvSpPr txBox="1"/>
          <p:nvPr/>
        </p:nvSpPr>
        <p:spPr>
          <a:xfrm>
            <a:off x="6334125" y="4772025"/>
            <a:ext cx="5286375" cy="615315"/>
          </a:xfrm>
          <a:prstGeom prst="rect">
            <a:avLst/>
          </a:prstGeom>
          <a:noFill/>
        </p:spPr>
        <p:txBody>
          <a:bodyPr wrap="square" lIns="0" tIns="0" rIns="0" bIns="0" anchor="t">
            <a:spAutoFit/>
          </a:bodyPr>
          <a:lstStyle/>
          <a:p>
            <a:pPr algn="l">
              <a:lnSpc>
                <a:spcPts val="2400"/>
              </a:lnSpc>
            </a:pPr>
            <a:r>
              <a:rPr sz="1700" b="1" i="0" u="none">
                <a:solidFill>
                  <a:srgbClr val="334155"/>
                </a:solidFill>
                <a:latin typeface="Times New Roman" panose="02020603050405020304" charset="0"/>
                <a:cs typeface="Times New Roman" panose="02020603050405020304" charset="0"/>
              </a:rPr>
              <a:t>Industrial:</a:t>
            </a:r>
            <a:r>
              <a:rPr sz="1700" b="0" i="0" u="none">
                <a:solidFill>
                  <a:srgbClr val="334155"/>
                </a:solidFill>
                <a:latin typeface="Times New Roman" panose="02020603050405020304" charset="0"/>
                <a:cs typeface="Times New Roman" panose="02020603050405020304" charset="0"/>
              </a:rPr>
              <a:t> Vision-based material handling in controlled manufacturing setups.</a:t>
            </a:r>
            <a:endParaRPr sz="1700" b="0" i="0" u="none">
              <a:solidFill>
                <a:srgbClr val="334155"/>
              </a:solidFill>
              <a:latin typeface="Times New Roman" panose="02020603050405020304" charset="0"/>
              <a:cs typeface="Times New Roman" panose="02020603050405020304" charset="0"/>
            </a:endParaRPr>
          </a:p>
        </p:txBody>
      </p:sp>
      <p:pic>
        <p:nvPicPr>
          <p:cNvPr id="9" name="Picture 8" descr="image.png"/>
          <p:cNvPicPr>
            <a:picLocks noChangeAspect="1"/>
          </p:cNvPicPr>
          <p:nvPr/>
        </p:nvPicPr>
        <p:blipFill>
          <a:blip r:embed="rId3"/>
          <a:stretch>
            <a:fillRect/>
          </a:stretch>
        </p:blipFill>
        <p:spPr>
          <a:xfrm>
            <a:off x="1385887" y="2100262"/>
            <a:ext cx="3657600" cy="3657600"/>
          </a:xfrm>
          <a:prstGeom prst="rect">
            <a:avLst/>
          </a:prstGeom>
        </p:spPr>
      </p:pic>
      <p:sp>
        <p:nvSpPr>
          <p:cNvPr id="10" name="TextBox 9"/>
          <p:cNvSpPr txBox="1"/>
          <p:nvPr/>
        </p:nvSpPr>
        <p:spPr>
          <a:xfrm>
            <a:off x="571500" y="504825"/>
            <a:ext cx="11601450" cy="507365"/>
          </a:xfrm>
          <a:prstGeom prst="rect">
            <a:avLst/>
          </a:prstGeom>
          <a:noFill/>
        </p:spPr>
        <p:txBody>
          <a:bodyPr wrap="square" lIns="0" tIns="0" rIns="0" bIns="0" anchor="t">
            <a:spAutoFit/>
          </a:bodyPr>
          <a:lstStyle/>
          <a:p>
            <a:pPr algn="l"/>
            <a:r>
              <a:rPr sz="3300" b="0" i="0" u="none">
                <a:solidFill>
                  <a:schemeClr val="tx1"/>
                </a:solidFill>
                <a:latin typeface="Times New Roman" panose="02020603050405020304" charset="0"/>
                <a:cs typeface="Times New Roman" panose="02020603050405020304" charset="0"/>
              </a:rPr>
              <a:t>Real-World </a:t>
            </a:r>
            <a:r>
              <a:rPr sz="3200" b="0" i="0" u="none">
                <a:solidFill>
                  <a:schemeClr val="tx1"/>
                </a:solidFill>
                <a:latin typeface="Times New Roman" panose="02020603050405020304" charset="0"/>
                <a:cs typeface="Times New Roman" panose="02020603050405020304" charset="0"/>
              </a:rPr>
              <a:t>Applications</a:t>
            </a:r>
            <a:endParaRPr sz="3200" b="0" i="0" u="none">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2"/>
          <a:stretch>
            <a:fillRect/>
          </a:stretch>
        </p:blipFill>
        <p:spPr>
          <a:xfrm>
            <a:off x="571500" y="1090295"/>
            <a:ext cx="11049000" cy="5753100"/>
          </a:xfrm>
          <a:prstGeom prst="rect">
            <a:avLst/>
          </a:prstGeom>
        </p:spPr>
      </p:pic>
      <p:pic>
        <p:nvPicPr>
          <p:cNvPr id="4" name="Picture 3" descr="image.png"/>
          <p:cNvPicPr>
            <a:picLocks noChangeAspect="1"/>
          </p:cNvPicPr>
          <p:nvPr/>
        </p:nvPicPr>
        <p:blipFill>
          <a:blip r:embed="rId3"/>
          <a:stretch>
            <a:fillRect/>
          </a:stretch>
        </p:blipFill>
        <p:spPr>
          <a:xfrm>
            <a:off x="1809750" y="5686425"/>
            <a:ext cx="8572500" cy="895350"/>
          </a:xfrm>
          <a:prstGeom prst="rect">
            <a:avLst/>
          </a:prstGeom>
        </p:spPr>
      </p:pic>
      <p:sp>
        <p:nvSpPr>
          <p:cNvPr id="5" name="TextBox 4"/>
          <p:cNvSpPr txBox="1"/>
          <p:nvPr/>
        </p:nvSpPr>
        <p:spPr>
          <a:xfrm>
            <a:off x="571500" y="304800"/>
            <a:ext cx="11601450" cy="530860"/>
          </a:xfrm>
          <a:prstGeom prst="rect">
            <a:avLst/>
          </a:prstGeom>
          <a:noFill/>
        </p:spPr>
        <p:txBody>
          <a:bodyPr wrap="square" lIns="0" tIns="0" rIns="0" bIns="0" anchor="t">
            <a:spAutoFit/>
          </a:bodyPr>
          <a:lstStyle/>
          <a:p>
            <a:pPr algn="l"/>
            <a:r>
              <a:rPr sz="3450" i="0" u="none">
                <a:solidFill>
                  <a:srgbClr val="0F172A"/>
                </a:solidFill>
                <a:latin typeface="Times New Roman" panose="02020603050405020304" charset="0"/>
                <a:cs typeface="Times New Roman" panose="02020603050405020304" charset="0"/>
              </a:rPr>
              <a:t>Application Domain </a:t>
            </a:r>
            <a:r>
              <a:rPr sz="3200" i="0" u="none">
                <a:solidFill>
                  <a:srgbClr val="0F172A"/>
                </a:solidFill>
                <a:latin typeface="Times New Roman" panose="02020603050405020304" charset="0"/>
                <a:cs typeface="Times New Roman" panose="02020603050405020304" charset="0"/>
              </a:rPr>
              <a:t>Distribution</a:t>
            </a:r>
            <a:endParaRPr sz="3200" i="0" u="none">
              <a:solidFill>
                <a:srgbClr val="0F172A"/>
              </a:solidFill>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TextBox 35"/>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References</a:t>
            </a:r>
            <a:endParaRPr lang="en-US" sz="3200" b="0" i="0" u="none">
              <a:solidFill>
                <a:schemeClr val="tx1"/>
              </a:solidFill>
              <a:latin typeface="Times New Roman" panose="02020603050405020304" charset="0"/>
              <a:cs typeface="Times New Roman" panose="02020603050405020304" charset="0"/>
            </a:endParaRPr>
          </a:p>
        </p:txBody>
      </p:sp>
      <p:sp>
        <p:nvSpPr>
          <p:cNvPr id="2" name="Text Box 1"/>
          <p:cNvSpPr txBox="1"/>
          <p:nvPr/>
        </p:nvSpPr>
        <p:spPr>
          <a:xfrm>
            <a:off x="587375" y="1076325"/>
            <a:ext cx="10997565" cy="5245735"/>
          </a:xfrm>
          <a:prstGeom prst="rect">
            <a:avLst/>
          </a:prstGeom>
          <a:noFill/>
        </p:spPr>
        <p:txBody>
          <a:bodyPr wrap="square" rtlCol="0" anchor="t">
            <a:noAutofit/>
          </a:bodyPr>
          <a:p>
            <a:endParaRPr lang="en-US" altLang="en-US" sz="1700">
              <a:latin typeface="Times New Roman" panose="02020603050405020304" charset="0"/>
              <a:cs typeface="Times New Roman" panose="02020603050405020304" charset="0"/>
            </a:endParaRPr>
          </a:p>
          <a:p>
            <a:r>
              <a:rPr lang="en-US" altLang="en-US" sz="1700">
                <a:latin typeface="Times New Roman" panose="02020603050405020304" charset="0"/>
                <a:cs typeface="Times New Roman" panose="02020603050405020304" charset="0"/>
              </a:rPr>
              <a:t>[1] “Development of an Intelligent Autonomous Rover with Distributed Sensors for Speed Control and Obstacle Avoidance,”  </a:t>
            </a:r>
            <a:endParaRPr lang="en-US" altLang="en-US" sz="1700">
              <a:latin typeface="Times New Roman" panose="02020603050405020304" charset="0"/>
              <a:cs typeface="Times New Roman" panose="02020603050405020304" charset="0"/>
            </a:endParaRPr>
          </a:p>
          <a:p>
            <a:r>
              <a:rPr lang="en-US" altLang="en-US" sz="1700">
                <a:latin typeface="Times New Roman" panose="02020603050405020304" charset="0"/>
                <a:cs typeface="Times New Roman" panose="02020603050405020304" charset="0"/>
              </a:rPr>
              <a:t>      IEEE ICPEEV, 2025. IEEE Xplore⁠</a:t>
            </a:r>
            <a:endParaRPr lang="en-US" altLang="en-US" sz="1700">
              <a:latin typeface="Times New Roman" panose="02020603050405020304" charset="0"/>
              <a:cs typeface="Times New Roman" panose="02020603050405020304" charset="0"/>
            </a:endParaRPr>
          </a:p>
          <a:p>
            <a:endParaRPr lang="en-US" altLang="en-US" sz="1700">
              <a:latin typeface="Times New Roman" panose="02020603050405020304" charset="0"/>
              <a:cs typeface="Times New Roman" panose="02020603050405020304" charset="0"/>
            </a:endParaRPr>
          </a:p>
          <a:p>
            <a:r>
              <a:rPr lang="en-US" altLang="en-US" sz="1700">
                <a:latin typeface="Times New Roman" panose="02020603050405020304" charset="0"/>
                <a:cs typeface="Times New Roman" panose="02020603050405020304" charset="0"/>
              </a:rPr>
              <a:t>[2] “Vision-Based Object Sorting in Dynamic Environments using YOLO for RoboCup ARM Challenge 2023,” IEEE CICT,</a:t>
            </a:r>
            <a:endParaRPr lang="en-US" altLang="en-US" sz="1700">
              <a:latin typeface="Times New Roman" panose="02020603050405020304" charset="0"/>
              <a:cs typeface="Times New Roman" panose="02020603050405020304" charset="0"/>
            </a:endParaRPr>
          </a:p>
          <a:p>
            <a:r>
              <a:rPr lang="en-US" altLang="en-US" sz="1700">
                <a:latin typeface="Times New Roman" panose="02020603050405020304" charset="0"/>
                <a:cs typeface="Times New Roman" panose="02020603050405020304" charset="0"/>
              </a:rPr>
              <a:t>      2023. IEEE Xplore⁠</a:t>
            </a:r>
            <a:endParaRPr lang="en-US" altLang="en-US" sz="1700">
              <a:latin typeface="Times New Roman" panose="02020603050405020304" charset="0"/>
              <a:cs typeface="Times New Roman" panose="02020603050405020304" charset="0"/>
            </a:endParaRPr>
          </a:p>
          <a:p>
            <a:endParaRPr lang="en-US" altLang="en-US" sz="1700">
              <a:latin typeface="Times New Roman" panose="02020603050405020304" charset="0"/>
              <a:cs typeface="Times New Roman" panose="02020603050405020304" charset="0"/>
            </a:endParaRPr>
          </a:p>
          <a:p>
            <a:r>
              <a:rPr lang="en-US" altLang="en-US" sz="1700">
                <a:latin typeface="Times New Roman" panose="02020603050405020304" charset="0"/>
                <a:cs typeface="Times New Roman" panose="02020603050405020304" charset="0"/>
              </a:rPr>
              <a:t>[3] G. De Simone, P. Foggia, A. Saggese, and M. Vento, “Autonomous Mobile Robot for Automatic Out-of-Stock Detection </a:t>
            </a:r>
            <a:endParaRPr lang="en-US" altLang="en-US" sz="1700">
              <a:latin typeface="Times New Roman" panose="02020603050405020304" charset="0"/>
              <a:cs typeface="Times New Roman" panose="02020603050405020304" charset="0"/>
            </a:endParaRPr>
          </a:p>
          <a:p>
            <a:r>
              <a:rPr lang="en-US" altLang="en-US" sz="1700">
                <a:latin typeface="Times New Roman" panose="02020603050405020304" charset="0"/>
                <a:cs typeface="Times New Roman" panose="02020603050405020304" charset="0"/>
              </a:rPr>
              <a:t>      in a Supermarket,” IEEE/CVF ICCV Workshops, 2023. IEEE/CVF Open Access⁠.</a:t>
            </a:r>
            <a:endParaRPr lang="en-US" altLang="en-US" sz="1700">
              <a:latin typeface="Times New Roman" panose="02020603050405020304" charset="0"/>
              <a:cs typeface="Times New Roman" panose="02020603050405020304" charset="0"/>
            </a:endParaRPr>
          </a:p>
          <a:p>
            <a:endParaRPr lang="en-US" altLang="en-US" sz="1700">
              <a:latin typeface="Times New Roman" panose="02020603050405020304" charset="0"/>
              <a:cs typeface="Times New Roman" panose="02020603050405020304" charset="0"/>
            </a:endParaRPr>
          </a:p>
          <a:p>
            <a:r>
              <a:rPr lang="en-US" altLang="en-US" sz="1700">
                <a:latin typeface="Times New Roman" panose="02020603050405020304" charset="0"/>
                <a:cs typeface="Times New Roman" panose="02020603050405020304" charset="0"/>
              </a:rPr>
              <a:t>[4] “Deep Learning Based Autonomous Robotic Grasping and Sorting System for Industry 4.0,” 2024 International</a:t>
            </a:r>
            <a:endParaRPr lang="en-US" altLang="en-US" sz="1700">
              <a:latin typeface="Times New Roman" panose="02020603050405020304" charset="0"/>
              <a:cs typeface="Times New Roman" panose="02020603050405020304" charset="0"/>
            </a:endParaRPr>
          </a:p>
          <a:p>
            <a:r>
              <a:rPr lang="en-US" altLang="en-US" sz="1700">
                <a:latin typeface="Times New Roman" panose="02020603050405020304" charset="0"/>
                <a:cs typeface="Times New Roman" panose="02020603050405020304" charset="0"/>
              </a:rPr>
              <a:t>      Conference on Robotics and Automation in Industry (ICRAI), 2024.</a:t>
            </a:r>
            <a:endParaRPr lang="en-US" altLang="en-US" sz="1700">
              <a:latin typeface="Times New Roman" panose="02020603050405020304" charset="0"/>
              <a:cs typeface="Times New Roman" panose="02020603050405020304" charset="0"/>
            </a:endParaRPr>
          </a:p>
          <a:p>
            <a:endParaRPr lang="en-US" altLang="en-US" sz="1700">
              <a:latin typeface="Times New Roman" panose="02020603050405020304" charset="0"/>
              <a:cs typeface="Times New Roman" panose="02020603050405020304" charset="0"/>
            </a:endParaRPr>
          </a:p>
          <a:p>
            <a:r>
              <a:rPr lang="en-US" altLang="en-US" sz="1700">
                <a:latin typeface="Times New Roman" panose="02020603050405020304" charset="0"/>
                <a:cs typeface="Times New Roman" panose="02020603050405020304" charset="0"/>
              </a:rPr>
              <a:t>[5] Reference from YouTube: </a:t>
            </a:r>
            <a:r>
              <a:rPr lang="en-US" altLang="en-US" sz="1700">
                <a:latin typeface="Times New Roman" panose="02020603050405020304" charset="0"/>
                <a:cs typeface="Times New Roman" panose="02020603050405020304" charset="0"/>
                <a:hlinkClick r:id="rId1" action="ppaction://hlinkfile"/>
              </a:rPr>
              <a:t>https://youtu.be/KeyEe2Tt25Q?si=veBqklgdOQOgzv4R</a:t>
            </a:r>
            <a:endParaRPr lang="en-US" altLang="en-US" sz="1700">
              <a:latin typeface="Times New Roman" panose="02020603050405020304" charset="0"/>
              <a:cs typeface="Times New Roman" panose="02020603050405020304" charset="0"/>
            </a:endParaRPr>
          </a:p>
          <a:p>
            <a:endParaRPr lang="en-US" altLang="en-US" sz="1700">
              <a:latin typeface="Times New Roman" panose="02020603050405020304" charset="0"/>
              <a:cs typeface="Times New Roman" panose="02020603050405020304" charset="0"/>
            </a:endParaRPr>
          </a:p>
          <a:p>
            <a:endParaRPr lang="en-US" altLang="en-US" sz="1700">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661793" y="524272"/>
            <a:ext cx="10325239" cy="5809456"/>
          </a:xfrm>
          <a:prstGeom prst="rect">
            <a:avLst/>
          </a:prstGeom>
        </p:spPr>
      </p:pic>
      <p:pic>
        <p:nvPicPr>
          <p:cNvPr id="3" name="Picture 2" descr="ChatGPT Image Jul 31, 2026, 10_03_03 PM"/>
          <p:cNvPicPr>
            <a:picLocks noChangeAspect="1"/>
          </p:cNvPicPr>
          <p:nvPr/>
        </p:nvPicPr>
        <p:blipFill>
          <a:blip r:embed="rId2"/>
          <a:stretch>
            <a:fillRect/>
          </a:stretch>
        </p:blipFill>
        <p:spPr>
          <a:xfrm>
            <a:off x="-317" y="0"/>
            <a:ext cx="1219263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6674</Words>
  <Application>WPS Presentation</Application>
  <PresentationFormat>On-screen Show (4:3)</PresentationFormat>
  <Paragraphs>213</Paragraphs>
  <Slides>18</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18</vt:i4>
      </vt:variant>
    </vt:vector>
  </HeadingPairs>
  <TitlesOfParts>
    <vt:vector size="35" baseType="lpstr">
      <vt:lpstr>Arial</vt:lpstr>
      <vt:lpstr>SimSun</vt:lpstr>
      <vt:lpstr>Wingdings</vt:lpstr>
      <vt:lpstr>Arial</vt:lpstr>
      <vt:lpstr>Poppins</vt:lpstr>
      <vt:lpstr>Segoe Print</vt:lpstr>
      <vt:lpstr>Inter Light</vt:lpstr>
      <vt:lpstr>Merriweather</vt:lpstr>
      <vt:lpstr>DM Sans</vt:lpstr>
      <vt:lpstr>Inter</vt:lpstr>
      <vt:lpstr>Poppins SemiBold</vt:lpstr>
      <vt:lpstr>Microsoft YaHei</vt:lpstr>
      <vt:lpstr>Arial Unicode MS</vt:lpstr>
      <vt:lpstr>Calibri</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Mohammad Azmath ali</cp:lastModifiedBy>
  <cp:revision>7</cp:revision>
  <dcterms:created xsi:type="dcterms:W3CDTF">2013-01-27T09:14:00Z</dcterms:created>
  <dcterms:modified xsi:type="dcterms:W3CDTF">2026-09-07T15:32:07Z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B1C542F00D844193970C8A7DB5580A46_13</vt:lpwstr>
  </property>
</Properties>
</file>