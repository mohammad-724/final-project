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Roboto"/>
      <ns0:italic ns1:id="rIdFont18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fb16d6f8-3219-4a99-a8ba-c63346a38640.fntdata" /><ns0:Relationship Id="rIdFont19" Type="http://schemas.openxmlformats.org/officeDocument/2006/relationships/font" Target="fonts/9c00448a-6585-4d18-8ec9-06d55fc12675.fntdata" /><ns0:Relationship Id="rIdFont20" Type="http://schemas.openxmlformats.org/officeDocument/2006/relationships/font" Target="fonts/306b4e55-0d56-44f6-b990-0bafed1bacf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246191"/>
            <a:ext cx="1066800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246191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85750" y="983158"/>
            <a:ext cx="12763500" cy="1634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b="1" sz="3300" i="0" u="none">
                <a:solidFill>
                  <a:srgbClr val="1A365D"/>
                </a:solidFill>
                <a:latin typeface="Roboto"/>
              </a:rPr>
              <a:t>Implementation and Performance Comparison of Various SRAM Architectures Using UMC 65nm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85750" y="5484316"/>
            <a:ext cx="12763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B91C1C"/>
                </a:solidFill>
                <a:latin typeface="Roboto"/>
              </a:rPr>
              <a:t>Maharaj Vijayaram Gajapathi Raj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85750" y="5751016"/>
            <a:ext cx="12763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B91C1C"/>
                </a:solidFill>
                <a:latin typeface="Roboto"/>
              </a:rPr>
              <a:t>College Of Engineering (Autonomous)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79291"/>
            <a:ext cx="40600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Roboto"/>
              </a:rPr>
              <a:t>Under the guidance of: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84091"/>
            <a:ext cx="40600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34155"/>
                </a:solidFill>
                <a:latin typeface="Roboto"/>
              </a:rPr>
              <a:t>Dr. Ashok Kumar Adepu, M.Tech, Ph.D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12691"/>
            <a:ext cx="4060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Roboto"/>
              </a:rPr>
              <a:t>Associate Professor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12716"/>
            <a:ext cx="4060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Roboto"/>
              </a:rPr>
              <a:t>ECE 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937" y="3379291"/>
            <a:ext cx="3548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500" i="0" u="none">
                <a:solidFill>
                  <a:srgbClr val="1E293B"/>
                </a:solidFill>
                <a:latin typeface="Roboto"/>
              </a:rPr>
              <a:t>Presented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937" y="3684091"/>
            <a:ext cx="354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Roboto"/>
              </a:rPr>
              <a:t>Mamidipaka Sai Kiran (23331A04A4)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937" y="3884116"/>
            <a:ext cx="354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Roboto"/>
              </a:rPr>
              <a:t>Kotha Brahma Reddy (23331A04A89)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0937" y="4084141"/>
            <a:ext cx="354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Roboto"/>
              </a:rPr>
              <a:t>Pathivada Yamini (23331A04AD0)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0937" y="4284166"/>
            <a:ext cx="3548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334155"/>
                </a:solidFill>
                <a:latin typeface="Roboto"/>
              </a:rPr>
              <a:t>Mudili Likhith Kumar (23331A04AB2)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262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87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99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99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99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1123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PAPER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143000"/>
            <a:ext cx="11144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Roboto"/>
              </a:rPr>
              <a:t>Title: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Design and Implementation of Intelligent System of Low Power Sleepy Stack for the SRAM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Authors: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Ravi H. Talawar, Ramachandra A. C.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Reference: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Int. Journal of Intelligent Systems and Applications in Engineering, Vol. 12, No. 4s, pp. 240–250, 2024.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WORK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248602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876550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Proposed Sleepy Stack SRAM using AVS and MTCMOS for low-power operation.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711535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710582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Compared Conventional, Sleepy, Stack, Sleepy Keeper, LECTOR, SK-LCT and Sleepy Stack.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4545568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4544615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Evaluated power, delay, area, energy, PDP, PEP and EDP.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032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7474" y="2876550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Sleepy Stack achieved 8.53 ps propagation delay and 336.64 nW power.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711535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7474" y="3710582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Reported 354.708 aJ energy, 2.871 aJ PDP and 3.025 zJ EDP.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957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672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Additional leakage-control transistors increase cell area.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957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6724" y="3470671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The study does not provide a common UMC 65 nm array-level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262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87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99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99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99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1123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PAPER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143000"/>
            <a:ext cx="11144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Roboto"/>
              </a:rPr>
              <a:t>Title: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Analysis of Low Power Reduction Techniques on Cache (SRAM) Memory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Authors: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Reeya Agrawal, Vinay Kumar Tomar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Reference: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9th IEEE Int. Conference on Computing, Communication and Networking Technologies (ICCCNT), 2018.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WORK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248602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876550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Designed a single-bit SRAM/cache architecture with WDC, precharge circuit and CTSA.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711535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710582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Compared Sleep, Dual Sleep, Dual Stack, Sleepy Keeper, Forced Sleep, Sleepy Stack and VBB.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4545568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4544615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Implemented the designs using Cadence Virtuoso.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032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747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Conventional 6T power: 0.216 µW; Forced Sleep power: 0.128 µW.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7474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PDP reduced from 2.815 × 10⁻¹⁵ J to 1.590 × 10⁻¹⁵ J.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32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7474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Reported 42% reduction in read delay and 20% reduction in write delay.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957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672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Focuses mainly on a single-bit SRAM architecture.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957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6724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Additional circuitry increases transistor count from 42T to 50T.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957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6724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Array-level implementation was left as future scope.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262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87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99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99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99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1123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PAPER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143000"/>
            <a:ext cx="11144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Roboto"/>
              </a:rPr>
              <a:t>Title: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Implementation and Analysis of Leakage Reduction Techniques in 6T SRAM Cell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Authors: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Deepak Mittal, V. K. Tomar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Reference: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IOP Conference Series: Materials Science and Engineering, Vol. 1033, 012037, 2021.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WORK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248602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Investigated leakage reduction techniques in a 6T SRAM cell.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470671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Compared 6T, Sleepy Stack, Sleepy Keeper, VBB and Hybrid Sleepy Keeper + Stack.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4305657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4304704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Implemented designs using Cadence Virtuoso at 90 nm.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032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7474" y="2876550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Hybrid Sleepy Keeper + Stack achieved 49.9% lower leakage power.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711535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7474" y="3710582"/>
            <a:ext cx="3532249" cy="23991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Dynamic power reduction: 28–53%.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32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7474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Delay and PDP were lower than Sleepy Keeper and VBB.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957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6724" y="2876550"/>
            <a:ext cx="3532249" cy="23991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Evaluated only at 90 nm technology.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9574" y="3231713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6724" y="323076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Leakage reduction involves delay and PDP trade-offs.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9574" y="3825835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6724" y="3824882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Does not provide a common UMC 65 nm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262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87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99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99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99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1123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PAPER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143000"/>
            <a:ext cx="11144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Roboto"/>
              </a:rPr>
              <a:t>Title: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Implementation and Modeling of Low Power Sleepy Stack SRAM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Authors: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Rahul Kakkar, Sumeet Goyal, Joginder Singh, Dishant Khosla, Sohni Singh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Reference: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Journal of Advanced Sciences, Vol. 1, No. 1, 2021.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WORK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248602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Applied Sleepy Stack technique to SRAM.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Used Sleepy Stack in pull-up, pull-down and wordline transistors.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Implemented using Mentor Design Architect and TSPICE.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032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747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Conventional 6T SRAM power: 740 µW.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7474" y="3470671"/>
            <a:ext cx="3532249" cy="23991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Sleepy Stack SRAM power: 226 µW.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324" y="3825835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7474" y="3824882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Reported approximately 69.5% power reduction.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0324" y="4419957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7474" y="4419004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Stored logic operation was maintained.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957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672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Uses 5 V supply and paper-specific transistor dimensions.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957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6724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Focuses mainly on Sleepy Stack, with limited architecture comparison.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9957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56724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Does not provide a common 65 nm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262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87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99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99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99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1123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PAPER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143000"/>
            <a:ext cx="11144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Roboto"/>
              </a:rPr>
              <a:t>Title: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Power Optimization Analysis of Different SRAM Cells Using Transistor Stacking Technique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Authors: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K. L. V. Ramana Kumari, M. Asha Rani, N. Balaji, Sneha Kotha, Murali Mohan Kota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Reference: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2021 IEEE 8th UPCON, DOI: 10.1109/UPCON52273.2021.9667583.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WORK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248602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Investigated transistor stacking for SRAM power reduction.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Compared conventional and stacked 6T, 8T and 10T SRAM cells.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Evaluated power at different supply voltages using HSPICE-A 2008.03.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032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7474" y="2876550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Stacking reduced power consumption in 6T, 8T and 10T SRAM.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711535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7474" y="3710582"/>
            <a:ext cx="3532249" cy="23991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At 1 V (6T): 0.1505 → 0.1252 mW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32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7474" y="4064793"/>
            <a:ext cx="3532249" cy="23991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At 1 V (8T): 0.1943 → 0.1022 mW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0324" y="4419957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7474" y="4419004"/>
            <a:ext cx="3532249" cy="239910"/>
          </a:xfrm>
          <a:prstGeom prst="rect">
            <a:avLst/>
          </a:prstGeom>
          <a:noFill/>
        </p:spPr>
        <p:txBody>
          <a:bodyPr wrap="non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At 1 V (10T): 0.1252 → 0.0714 mW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957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672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Study mainly focuses on power consumption.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957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6724" y="3470671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Other metrics such as delay, PDP, area and SNM are not comprehensively evaluated.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262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87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99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99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99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1123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PAPER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143000"/>
            <a:ext cx="11144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Roboto"/>
              </a:rPr>
              <a:t>Title: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A Novel Power-Gating 8T SRAM Cell with Improved Standby and Operational Efficiency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Authors: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Chandramauleshwar Roy, Sreenithi KM, Varsha Bijapur, Siya Joshi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Reference: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2025 IEEE CSPA, pp. 266–271.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WORK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248602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Proposed PG8T SRAM using power-gating and read-decoupled buffer.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Compared 8T, 9T, PG8T and PG9T cells.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Analyzed power, RSNM and delay at low voltage.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032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747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At 0.32 V, PG8T achieved the lowest overall power.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7474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Reported 12% lower total power compared to 9T.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32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7474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Reported 34% lower read/standby power than 9T.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957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672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Higher read delay reported compared with other cells.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957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6724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Based on 16 nm predictive models, not UMC 65 nm.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957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6724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More transistors and control circuitry than 6T.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074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89999" y="2219325"/>
            <a:ext cx="3530649" cy="406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9262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074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1874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9999" y="6276975"/>
            <a:ext cx="353064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9999" y="2219325"/>
            <a:ext cx="3530649" cy="381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999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1123" y="2219325"/>
            <a:ext cx="9525" cy="40671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Literature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PAPER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1143000"/>
            <a:ext cx="11144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Roboto"/>
              </a:rPr>
              <a:t>Title: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Design and Implementation of 4T and 6T SRAM Cell Using Different CMOS Technology Nodes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Authors: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Sumalatha Madugula, Raya Bhavya Sree, K. Padma Vasavi, J. D. Prasanna, Y. K. Sravya, S. Prameela</a:t>
            </a:r>
            <a:r>
              <a:t>
</a:t>
            </a:r>
            <a:r>
              <a:rPr b="1" sz="1350" i="0" u="none">
                <a:solidFill>
                  <a:srgbClr val="0F172A"/>
                </a:solidFill>
                <a:latin typeface="Roboto"/>
              </a:rPr>
              <a:t>Reference:</a:t>
            </a:r>
            <a:r>
              <a:rPr b="0" sz="1350" i="0" u="none">
                <a:solidFill>
                  <a:srgbClr val="475569"/>
                </a:solidFill>
                <a:latin typeface="Roboto"/>
              </a:rPr>
              <a:t> 2025 IEEE 4th World Conference on Applied Intelligence and Computing (AIC), pp. 372–377.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WORK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874" y="2486025"/>
            <a:ext cx="4008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2486025"/>
            <a:ext cx="38638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Roboto"/>
              </a:rPr>
              <a:t>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Designed and compared 4T and 6T SRAM cells.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470671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Implemented in Cadence Virtuoso/Spectre at 180, 90 and 45 nm.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4305657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4304704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Compared power, delay and area for read/write/hold operations.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032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747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At 45 nm, 4T: 0.018 mW, 0.2 ps, 2.55 µm².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32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7474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At 45 nm, 6T: 0.06 mW, 3.9 ps, 9.41 µm².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32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7474" y="4064793"/>
            <a:ext cx="2921049" cy="719732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4T reported lower power, delay and area, while 6T showed better stability.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9574" y="2877502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6724" y="2876550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4T has lower noise margin and higher leakage.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99574" y="3471624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6724" y="3470671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Process variations were not considered.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9574" y="4065746"/>
            <a:ext cx="571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6724" y="4064793"/>
            <a:ext cx="2921049" cy="479821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Study does not address UMC 65 nm or leakage-reduction architectures.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371600"/>
            <a:ext cx="11049000" cy="4369593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5731668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1371600"/>
            <a:ext cx="57150" cy="4369593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0975" y="1371600"/>
            <a:ext cx="9525" cy="4369593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Identified 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1760220"/>
            <a:ext cx="85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Roboto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1762125"/>
            <a:ext cx="10125075" cy="63996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Roboto"/>
              </a:rPr>
              <a:t>Existing studies evaluate different SRAM architectures under different technologies and simulation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2628780"/>
            <a:ext cx="85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Roboto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2630685"/>
            <a:ext cx="10991850" cy="3199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Roboto"/>
              </a:rPr>
              <a:t>Most works compare only a limited set of architectures or optimization techniques.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425" y="3177361"/>
            <a:ext cx="85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Roboto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3179266"/>
            <a:ext cx="10991850" cy="3199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Roboto"/>
              </a:rPr>
              <a:t>Cell-level improvements are not always verified at the memory-array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3725941"/>
            <a:ext cx="85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Roboto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3727846"/>
            <a:ext cx="10125075" cy="63996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334155"/>
                </a:solidFill>
                <a:latin typeface="Roboto"/>
              </a:rPr>
              <a:t>A common UMC 65 nm platform for controlled comparison is not established in the reviewed studies.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4594502"/>
            <a:ext cx="857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A365D"/>
                </a:solidFill>
                <a:latin typeface="Roboto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596407"/>
            <a:ext cx="10125075" cy="63996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1A365D"/>
                </a:solidFill>
                <a:latin typeface="Roboto"/>
              </a:rPr>
              <a:t>Therefore, a unified evaluation of power, leakage, delay, energy, PDP, PEP, EDP and area is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71550"/>
            <a:ext cx="11049000" cy="1905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6477000"/>
            <a:ext cx="1152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Roboto"/>
              </a:rPr>
              <a:t>Bibliography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5300"/>
            <a:ext cx="1162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365D"/>
                </a:solidFill>
                <a:latin typeface="Roboto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371600"/>
            <a:ext cx="152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71600"/>
            <a:ext cx="10382250" cy="533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E. Abbasian and S. Sofimowloodi, “Energy-Efficient Single-Ended Read/Write 10T Near-Threshold SRAM,”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IEEE Transactions on Circuits and Systems I: Regular Papers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, vol. 70, no. 5, pp. 2037–2047,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095500"/>
            <a:ext cx="152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095500"/>
            <a:ext cx="10382250" cy="533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Ravi H. Talawar and Ramachandra A. C., “Design and Implementation of Intelligent System of Low Power Sleepy Stack for the SRAM,”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International Journal of Intelligent Systems and Applications in Engineering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, vol. 12, no. 4s, pp. 240–250,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819400"/>
            <a:ext cx="152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819400"/>
            <a:ext cx="10382250" cy="8001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S. Lakshmi Narayanan, Reeba Korah, and N. Krishna Kumar, “A Novel Sleepy Stack 6-T SRAM Cell Design for Reducing Leakage Power in Submicron Technologies,”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2013 International Conference on Communication and Signal Processing (ICCSP)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, 2013.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810000"/>
            <a:ext cx="1524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Roboto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810000"/>
            <a:ext cx="10382250" cy="533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334155"/>
                </a:solidFill>
                <a:latin typeface="Roboto"/>
              </a:rPr>
              <a:t>Umakanta Nanda, Debasish Nayak, Suraj Kumar Saw, Abdul Majeed K K, and Biswajit Jena, “Analysis of Static Noise Margin of 10T SRAM Using Sleepy Stack Transistor Approach,” </a:t>
            </a:r>
            <a:r>
              <a:rPr b="0" sz="1500" i="1" u="none">
                <a:solidFill>
                  <a:srgbClr val="334155"/>
                </a:solidFill>
                <a:latin typeface="Roboto"/>
              </a:rPr>
              <a:t>2021 Devices for Integrated Circuit (DevIC)</a:t>
            </a:r>
            <a:r>
              <a:rPr b="0" sz="1500" i="0" u="none">
                <a:solidFill>
                  <a:srgbClr val="334155"/>
                </a:solidFill>
                <a:latin typeface="Roboto"/>
              </a:rPr>
              <a:t>, 2021.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571500" y="6477000"/>
            <a:ext cx="1333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Roboto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3205" y="2701230"/>
            <a:ext cx="5345589" cy="1188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b="1" sz="7200" i="0" u="none">
                <a:solidFill>
                  <a:srgbClr val="1A365D"/>
                </a:solidFill>
                <a:latin typeface="serif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