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Plus Jakarta Sans"/>
      <ns0:italic ns1:id="rIdFont20"/>
      <ns0:bold ns1:id="rIdFont21"/>
      <ns0:regular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84a8dc93-7ab9-440a-9581-0e165895144b.fntdata" /><ns0:Relationship Id="rIdFont21" Type="http://schemas.openxmlformats.org/officeDocument/2006/relationships/font" Target="fonts/1cc63f36-c806-4a1c-b0fa-88d1e146b93a.fntdata" /><ns0:Relationship Id="rIdFont22" Type="http://schemas.openxmlformats.org/officeDocument/2006/relationships/font" Target="fonts/196ffad6-52f4-4de3-a15b-296713b6b28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200650"/>
            <a:ext cx="10972800" cy="1123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476875"/>
            <a:ext cx="3454449" cy="847725"/>
          </a:xfrm>
          <a:prstGeom prst="roundRect">
            <a:avLst>
              <a:gd name="adj" fmla="val 898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200650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68849" y="5476875"/>
            <a:ext cx="3454449" cy="847725"/>
          </a:xfrm>
          <a:prstGeom prst="roundRect">
            <a:avLst>
              <a:gd name="adj" fmla="val 898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28099" y="5476875"/>
            <a:ext cx="3454449" cy="847725"/>
          </a:xfrm>
          <a:prstGeom prst="roundRect">
            <a:avLst>
              <a:gd name="adj" fmla="val 898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723900"/>
            <a:ext cx="1657350" cy="266700"/>
          </a:xfrm>
          <a:prstGeom prst="roundRect">
            <a:avLst>
              <a:gd name="adj" fmla="val 14285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5476875"/>
            <a:ext cx="28575" cy="8477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8849" y="5476875"/>
            <a:ext cx="28575" cy="8477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99" y="5476875"/>
            <a:ext cx="28575" cy="8477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1219200"/>
            <a:ext cx="10601325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b="1" sz="3000" i="0" u="none">
                <a:solidFill>
                  <a:srgbClr val="FFFFFF"/>
                </a:solidFill>
                <a:latin typeface="Plus Jakarta Sans"/>
              </a:rPr>
              <a:t>Autonomous Dark-Store &amp; Edge-AI Robotic Material Handling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362200"/>
            <a:ext cx="10953750" cy="2714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CBD5E1"/>
                </a:solidFill>
                <a:latin typeface="Plus Jakarta Sans"/>
              </a:rPr>
              <a:t>A Literature Survey on Motion Control, Embedded Vision, Robotic Arms, and Contact Sensing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781050"/>
            <a:ext cx="14859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Plus Jakarta Sans"/>
              </a:rPr>
              <a:t>LITERATURE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1250" y="771525"/>
            <a:ext cx="2524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Autonomous Systems &amp; Edge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75" y="5629275"/>
            <a:ext cx="38060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4A3B8"/>
                </a:solidFill>
                <a:latin typeface="Plus Jakarta Sans"/>
              </a:rPr>
              <a:t>FOCUS DOMAINS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75" y="5810250"/>
            <a:ext cx="3140124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ESP32-S3, Edge Impulse, Line Navigation &amp; Grippers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7924" y="5629275"/>
            <a:ext cx="38060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4A3B8"/>
                </a:solidFill>
                <a:latin typeface="Plus Jakarta Sans"/>
              </a:rPr>
              <a:t>RESEARCH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7924" y="5810250"/>
            <a:ext cx="380609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9 Comprehensive Survey Papers Evaluated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7174" y="5629275"/>
            <a:ext cx="38060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4A3B8"/>
                </a:solidFill>
                <a:latin typeface="Plus Jakarta Sans"/>
              </a:rPr>
              <a:t>PRESENTATION PURPOSE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7174" y="5810250"/>
            <a:ext cx="3140124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FFFFF"/>
                </a:solidFill>
                <a:latin typeface="Plus Jakarta Sans"/>
              </a:rPr>
              <a:t>Comparative Review &amp; Research Gap Identification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1388268"/>
            <a:ext cx="3606849" cy="5050631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92649" y="1388268"/>
            <a:ext cx="3606849" cy="5050631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1388268"/>
            <a:ext cx="3606849" cy="5050631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91800" y="419100"/>
            <a:ext cx="1066800" cy="219075"/>
          </a:xfrm>
          <a:prstGeom prst="roundRect">
            <a:avLst>
              <a:gd name="adj" fmla="val 17391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64293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400" y="1388268"/>
            <a:ext cx="3606849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3400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30724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2649" y="64293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2649" y="1388268"/>
            <a:ext cx="3606849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2649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89974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1899" y="64293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1899" y="1388268"/>
            <a:ext cx="3606849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1899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649223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631156"/>
            <a:ext cx="17145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674" y="1631156"/>
            <a:ext cx="171450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1924" y="1631156"/>
            <a:ext cx="17145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3400" y="695325"/>
            <a:ext cx="11658600" cy="2738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56"/>
              </a:lnSpc>
            </a:pPr>
            <a:r>
              <a:rPr b="1" sz="1725" i="0" u="none">
                <a:solidFill>
                  <a:srgbClr val="0F172A"/>
                </a:solidFill>
                <a:latin typeface="Plus Jakarta Sans"/>
              </a:rPr>
              <a:t>An Enhanced PID-Based Motion Control Framework for Autonomous Line-Following Robot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452437"/>
            <a:ext cx="2655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LITERATURE REVIEW — PAPER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06100" y="457200"/>
            <a:ext cx="933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730A3"/>
                </a:solidFill>
                <a:latin typeface="Plus Jakarta Sans"/>
              </a:rPr>
              <a:t>Motion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1026318"/>
            <a:ext cx="4191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Authors: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Girish Chandrappa (Riga Technical University)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1026318"/>
            <a:ext cx="4964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Reference: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WJARR, 2026 (DOI: 10.30574/wjarr.2025.26.3.2275)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075" y="1616868"/>
            <a:ext cx="133016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WORK DONE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425" y="1931193"/>
            <a:ext cx="3302049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Hardware Setup: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Built autonomous robot using ESP32 microcontroller, TCRT5000 IR sensors, and L298N driver.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425" y="2606426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Sensing &amp; Actuation: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IR sensors detect predefined lines while ESP32 controls dual DC motor speeds.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425" y="3088332"/>
            <a:ext cx="3302049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PID Integration: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Applied PID feedback control loop for real-time motor speed adjustments during navigation.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40324" y="1616868"/>
            <a:ext cx="99012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2674" y="1931193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Tracking Stability: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Achieved high precision and stability during continuous line-following tests.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2674" y="2413099"/>
            <a:ext cx="3302049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Smooth Turning: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Minimized oscillation and overshoot during sharp turns via PID-based speed correction.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99574" y="1616868"/>
            <a:ext cx="128016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LIMITATIONS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1924" y="1931193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No Target Stopping: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Lacks location-specific stopping or destination detection features.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1924" y="2413099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No Product Perception: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Does not integrate vision or product identification modules.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1924" y="2895004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No Manipulation: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Excludes physical robotic arms or product handling apparatus.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1388268"/>
            <a:ext cx="3606849" cy="5050631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92649" y="1388268"/>
            <a:ext cx="3606849" cy="5050631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1388268"/>
            <a:ext cx="3606849" cy="5050631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115550" y="419100"/>
            <a:ext cx="1543050" cy="219075"/>
          </a:xfrm>
          <a:prstGeom prst="roundRect">
            <a:avLst>
              <a:gd name="adj" fmla="val 17391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64293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400" y="1388268"/>
            <a:ext cx="3606849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3400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30724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2649" y="64293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2649" y="1388268"/>
            <a:ext cx="3606849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2649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89974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1899" y="64293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1899" y="1388268"/>
            <a:ext cx="3606849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1899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649223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631156"/>
            <a:ext cx="17145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674" y="1631156"/>
            <a:ext cx="152400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1924" y="1631156"/>
            <a:ext cx="13335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3400" y="695325"/>
            <a:ext cx="11658600" cy="2738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56"/>
              </a:lnSpc>
            </a:pPr>
            <a:r>
              <a:rPr b="1" sz="1725" i="0" u="none">
                <a:solidFill>
                  <a:srgbClr val="0F172A"/>
                </a:solidFill>
                <a:latin typeface="Plus Jakarta Sans"/>
              </a:rPr>
              <a:t>Robot Edukasi Object Detection Dengan Platform Edge Impulse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452437"/>
            <a:ext cx="2690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LITERATURE REVIEW — PAPER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9850" y="457200"/>
            <a:ext cx="14097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730A3"/>
                </a:solidFill>
                <a:latin typeface="Plus Jakarta Sans"/>
              </a:rPr>
              <a:t>Embedded AI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1026318"/>
            <a:ext cx="31075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Authors: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Telkom University Researchers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8025" y="1026318"/>
            <a:ext cx="4691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Reference: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eProceedings of Engineering, Telkom University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075" y="1616868"/>
            <a:ext cx="133016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WORK DONE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425" y="1931193"/>
            <a:ext cx="3302049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Dual ESP32 System: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Utilized ESP32-CAM for image acquisition/detection and ESP32 as main robot controller.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425" y="2606426"/>
            <a:ext cx="3302049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FOMO Architecture: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Trained object detection model on Edge Impulse using fast FOMO network architecture.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425" y="3281660"/>
            <a:ext cx="3302049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On-Device Deployment: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Deployed compiled lightweight model directly onto microcontroller hardware.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1274" y="1616868"/>
            <a:ext cx="99012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2674" y="1931193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Training Accuracy: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Reached 99.8% training accuracy with compact model size of 82.3 KB.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2674" y="2413099"/>
            <a:ext cx="3302049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Detection Performance: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Achieved 100% detection rate under optimal light (dropped to 80% in poor light).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61474" y="1616868"/>
            <a:ext cx="128016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LIMITATIONS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1924" y="1931193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No Dark-Store Focus: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Lacks integration with dark-store inventory searching or stock categorization.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1924" y="2413099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Isolated Pathing: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Does not connect object recognition with predefined line-following paths.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1924" y="2895004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No Manipulator: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Excludes product pickup, holding, or sorting mechanism.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1388268"/>
            <a:ext cx="3606849" cy="5050631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92649" y="1388268"/>
            <a:ext cx="3606849" cy="5050631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1388268"/>
            <a:ext cx="3606849" cy="5050631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39350" y="419100"/>
            <a:ext cx="1619250" cy="219075"/>
          </a:xfrm>
          <a:prstGeom prst="roundRect">
            <a:avLst>
              <a:gd name="adj" fmla="val 17391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64293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400" y="1388268"/>
            <a:ext cx="3606849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3400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30724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2649" y="64293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2649" y="1388268"/>
            <a:ext cx="3606849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2649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89974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1899" y="64293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1899" y="1388268"/>
            <a:ext cx="3606849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1899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649223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631156"/>
            <a:ext cx="19050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674" y="1631156"/>
            <a:ext cx="152400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1924" y="1631156"/>
            <a:ext cx="219075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3400" y="695325"/>
            <a:ext cx="11658600" cy="2738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56"/>
              </a:lnSpc>
            </a:pPr>
            <a:r>
              <a:rPr b="1" sz="1725" i="0" u="none">
                <a:solidFill>
                  <a:srgbClr val="0F172A"/>
                </a:solidFill>
                <a:latin typeface="Plus Jakarta Sans"/>
              </a:rPr>
              <a:t>ESP32-S3 Object Identification using Edge Impulse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452437"/>
            <a:ext cx="2690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LITERATURE REVIEW — PAPER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53650" y="457200"/>
            <a:ext cx="14859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730A3"/>
                </a:solidFill>
                <a:latin typeface="Plus Jakarta Sans"/>
              </a:rPr>
              <a:t>Compact Edge Hardware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1026318"/>
            <a:ext cx="1881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Authors: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Tiny Prism Labs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6950" y="1026318"/>
            <a:ext cx="47505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Platform: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XIAO ESP32-S3 + OV2640 Camera + Edge Impulse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1616868"/>
            <a:ext cx="133016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WORK DONE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425" y="1931193"/>
            <a:ext cx="3302049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Multi-Class Training: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Trained Edge Impulse model using images of various produce items (apple, banana, broccoli, chilli).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425" y="2606426"/>
            <a:ext cx="3302049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Hardware Platform: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Implemented local vision processing on compact XIAO ESP32-S3 board with OV2640 camera.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425" y="3281660"/>
            <a:ext cx="3302049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Local Classification: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Performed real-time inference directly on MCU without cloud connectivity.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1274" y="1616868"/>
            <a:ext cx="99012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2674" y="1931193"/>
            <a:ext cx="3302049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On-Device Inferences: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Validated standalone camera capturing and multi-class target predictions.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2674" y="2606426"/>
            <a:ext cx="3302049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Zero Cloud Dependency: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Demonstrated low-power object recognition completely offline on microcontroller.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7199" y="1616868"/>
            <a:ext cx="128016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LIMITATIONS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1924" y="1931193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Static Setup: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Restricted to standalone vision application without mobile chassis integration.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1924" y="2413099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No Path Searching: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Lacks integration with autonomous line-guided warehouse navigation.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1924" y="2895004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No Physical Action: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Missing pick-and-place actuation or product handling mechanism.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1388268"/>
            <a:ext cx="3606849" cy="5050631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92649" y="1388268"/>
            <a:ext cx="3606849" cy="5050631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1388268"/>
            <a:ext cx="3606849" cy="5050631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487025" y="419100"/>
            <a:ext cx="1171575" cy="219075"/>
          </a:xfrm>
          <a:prstGeom prst="roundRect">
            <a:avLst>
              <a:gd name="adj" fmla="val 17391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64293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400" y="1388268"/>
            <a:ext cx="3606849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3400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30724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2649" y="64293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2649" y="1388268"/>
            <a:ext cx="3606849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2649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89974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1899" y="64293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1899" y="1388268"/>
            <a:ext cx="3606849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1899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649223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631156"/>
            <a:ext cx="15240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924" y="1631156"/>
            <a:ext cx="15240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3400" y="695325"/>
            <a:ext cx="11658600" cy="2738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56"/>
              </a:lnSpc>
            </a:pPr>
            <a:r>
              <a:rPr b="1" sz="1725" i="0" u="none">
                <a:solidFill>
                  <a:srgbClr val="0F172A"/>
                </a:solidFill>
                <a:latin typeface="Plus Jakarta Sans"/>
              </a:rPr>
              <a:t>Design and Implementation of Low-Cost IoT Robotic Arm for Product Sorting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452437"/>
            <a:ext cx="27027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LITERATURE REVIEW — PAPER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1325" y="457200"/>
            <a:ext cx="1038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730A3"/>
                </a:solidFill>
                <a:latin typeface="Plus Jakarta Sans"/>
              </a:rPr>
              <a:t>Robotic Grippers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1026318"/>
            <a:ext cx="36790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Authors: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Serdar Yilmaz, Canan Akay, Feyzi Kaysi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5225" y="1026318"/>
            <a:ext cx="5191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Reference: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Electronics, 2025 (DOI: 10.3390/electronics14244801)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025" y="1616868"/>
            <a:ext cx="133016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WORK 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425" y="1931193"/>
            <a:ext cx="3302049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4-DOF Mechanism: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Developed automated picking mechanism with parallel-jaw gripper driven by servo motors.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425" y="2606426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ESP32 Controller: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Managed sensing, decision-making logic, and servo PWM actuation via ESP32.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425" y="3088332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Conveyor Sorting: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Automated item detection and picking from conveyor belt to fixed destinations.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8874" y="1616868"/>
            <a:ext cx="99012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2674" y="1931193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Cycle Speed: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Achieved average picking cycle time of 4.8 ± 0.3 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2674" y="2413099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High Accuracy: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Recorded 98.7% identification accuracy and ±1.2° servo positioning precision.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0524" y="1616868"/>
            <a:ext cx="128016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LIMITATIONS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1924" y="1931193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RFID Dependence: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Relies heavily on RFID tags rather than visual camera recognition.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1924" y="2413099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Fixed Installation: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Stationary conveyor setup; lacks autonomous mobile robot movement.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1924" y="2895004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No Edge AI: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Lacks visual object detection in dark-store environments.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1388268"/>
            <a:ext cx="3606849" cy="5050631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92649" y="1388268"/>
            <a:ext cx="3606849" cy="5050631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1388268"/>
            <a:ext cx="3606849" cy="5050631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96475" y="419100"/>
            <a:ext cx="1762125" cy="219075"/>
          </a:xfrm>
          <a:prstGeom prst="roundRect">
            <a:avLst>
              <a:gd name="adj" fmla="val 17391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64293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400" y="1388268"/>
            <a:ext cx="3606849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3400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30724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2649" y="64293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2649" y="1388268"/>
            <a:ext cx="3606849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2649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89974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1899" y="64293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1899" y="1388268"/>
            <a:ext cx="3606849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1899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649223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631156"/>
            <a:ext cx="19050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674" y="1631156"/>
            <a:ext cx="171450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1924" y="1631156"/>
            <a:ext cx="17145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3400" y="695325"/>
            <a:ext cx="11658600" cy="2738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56"/>
              </a:lnSpc>
            </a:pPr>
            <a:r>
              <a:rPr b="1" sz="1725" i="0" u="none">
                <a:solidFill>
                  <a:srgbClr val="0F172A"/>
                </a:solidFill>
                <a:latin typeface="Plus Jakarta Sans"/>
              </a:rPr>
              <a:t>Autonomous Material Handling Robot for Warehouse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452437"/>
            <a:ext cx="2690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LITERATURE REVIEW — PAPER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0775" y="457200"/>
            <a:ext cx="16287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730A3"/>
                </a:solidFill>
                <a:latin typeface="Plus Jakarta Sans"/>
              </a:rPr>
              <a:t>High-Compute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1026318"/>
            <a:ext cx="2297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Authors: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Chetan Zaware et 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0325" y="1026318"/>
            <a:ext cx="5703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Reference: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Aposta Rev. Cien. Soc., 2026 (DOI: 10.23900/ra.v24i114.1008)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125" y="1616868"/>
            <a:ext cx="133016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WORK DONE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425" y="1931193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Multi-Sensor Fusion: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Integrated cameras, LiDAR, and IMU with Jetson Xavier NX board and ESP32.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425" y="2413099"/>
            <a:ext cx="3302049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Heavy AI Pipeline: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Used YOLOv5 for object detection and Deep Q Network for navigation control.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425" y="3088332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Autonomous Picking: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Executed end-to-end item identification, path planning, and physical picking.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40324" y="1616868"/>
            <a:ext cx="99012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2674" y="1931193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High Metrics: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94.2% navigation success, 94.7% YOLOv5 mAP, and 97.8% correct picking accuracy.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2674" y="2413099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Robot Utilization: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Achieved 87.3% total system utilization in experimental validation.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99574" y="1616868"/>
            <a:ext cx="128016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LIMITATIONS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1924" y="1931193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High Cost &amp; Complexity: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Heavily relies on expensive Jetson SBC, LiDAR, ROS, and SLAM.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1924" y="2413099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No Low-Cost Focus: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Does not address lightweight, low-power ESP32-S3 microcontroller setups.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1924" y="2895004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Over-engineered: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Too complex for simple predefined-path dark-store sorting.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1388268"/>
            <a:ext cx="3606849" cy="5050631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92649" y="1388268"/>
            <a:ext cx="3606849" cy="5050631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1388268"/>
            <a:ext cx="3606849" cy="5050631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53675" y="419100"/>
            <a:ext cx="1304925" cy="219075"/>
          </a:xfrm>
          <a:prstGeom prst="roundRect">
            <a:avLst>
              <a:gd name="adj" fmla="val 17391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64293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400" y="1388268"/>
            <a:ext cx="3606849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3400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30724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2649" y="64293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2649" y="1388268"/>
            <a:ext cx="3606849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2649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89974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1899" y="64293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1899" y="1388268"/>
            <a:ext cx="3606849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1899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649223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631156"/>
            <a:ext cx="219075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674" y="1631156"/>
            <a:ext cx="171450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1924" y="1631156"/>
            <a:ext cx="17145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3400" y="695325"/>
            <a:ext cx="11658600" cy="2738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56"/>
              </a:lnSpc>
            </a:pPr>
            <a:r>
              <a:rPr b="1" sz="1725" i="0" u="none">
                <a:solidFill>
                  <a:srgbClr val="0F172A"/>
                </a:solidFill>
                <a:latin typeface="Plus Jakarta Sans"/>
              </a:rPr>
              <a:t>Vision-Based Mobile Handling for Dark Store Products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452437"/>
            <a:ext cx="2690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LITERATURE REVIEW — PAPER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67975" y="457200"/>
            <a:ext cx="11715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730A3"/>
                </a:solidFill>
                <a:latin typeface="Plus Jakarta Sans"/>
              </a:rPr>
              <a:t>Dark Store 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1026318"/>
            <a:ext cx="23217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Authors: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M. Z. U. Rahman et 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19375" y="1026318"/>
            <a:ext cx="6143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Reference: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Math. Problems in Engineering, 2022 (DOI: 10.1155/2022/3883845)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" y="1616868"/>
            <a:ext cx="133016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WORK DONE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425" y="1931193"/>
            <a:ext cx="3302049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Mobile Manipulator: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Developed 4-wheel differential mobile robot with line tracking and 5-DOF robotic arm.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425" y="2606426"/>
            <a:ext cx="3302049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Hybrid Perception: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Used barcode recognition for aisle sectioning and SIFT vision for object localization.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425" y="3281660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Kinematic Analysis: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Provided full forward/inverse kinematics and arm torque calculations.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40324" y="1616868"/>
            <a:ext cx="99012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2674" y="1931193"/>
            <a:ext cx="3302049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Functional Validation: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Successfully verified line navigation, section mapping, and 5-DOF pick/place actions.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2674" y="2606426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Kinematic Accuracy: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Demonstrated reliable motion control for supermarket item collection.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99574" y="1616868"/>
            <a:ext cx="128016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LIMITATIONS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1924" y="1931193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Raspberry Pi Base: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Relies on Raspberry Pi with classic computational SIFT feature detection.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1924" y="2413099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No Embedded AI: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Lacks lightweight microcontroller edge AI (e.g., ESP32-S3 + Edge Impulse).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1924" y="2895004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Manual Barcodes: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Depends on static barcode markers across aisle sections.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1388268"/>
            <a:ext cx="3606849" cy="5050631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92649" y="1388268"/>
            <a:ext cx="3606849" cy="5050631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1388268"/>
            <a:ext cx="3606849" cy="5050631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67925" y="419100"/>
            <a:ext cx="1590675" cy="219075"/>
          </a:xfrm>
          <a:prstGeom prst="roundRect">
            <a:avLst>
              <a:gd name="adj" fmla="val 17391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64293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400" y="1388268"/>
            <a:ext cx="3606849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3400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30724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2649" y="64293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2649" y="1388268"/>
            <a:ext cx="3606849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2649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89974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1899" y="64293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1899" y="1388268"/>
            <a:ext cx="3606849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1899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649223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631156"/>
            <a:ext cx="219075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674" y="1631156"/>
            <a:ext cx="171450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1924" y="1631156"/>
            <a:ext cx="19050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3400" y="695325"/>
            <a:ext cx="11658600" cy="2738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56"/>
              </a:lnSpc>
            </a:pPr>
            <a:r>
              <a:rPr b="1" sz="1725" i="0" u="none">
                <a:solidFill>
                  <a:srgbClr val="0F172A"/>
                </a:solidFill>
                <a:latin typeface="Plus Jakarta Sans"/>
              </a:rPr>
              <a:t>High-Compute Shelf-Stocking Robots &amp; Scope for ESP32-S3 Edge Solutions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452437"/>
            <a:ext cx="26789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LITERATURE REVIEW — PAPER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2225" y="457200"/>
            <a:ext cx="14573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730A3"/>
                </a:solidFill>
                <a:latin typeface="Plus Jakarta Sans"/>
              </a:rPr>
              <a:t>Retail Shelf Manipulation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1026318"/>
            <a:ext cx="4024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Authors: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Peter Kmecl, Marko Munih, Janez Podobnik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81450" y="1026318"/>
            <a:ext cx="42029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Reference: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Sensors, 2024 (DOI: 10.3390/s24206687)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" y="1616868"/>
            <a:ext cx="133016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WORK DONE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425" y="1931193"/>
            <a:ext cx="3302049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Dense Stocking: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Developed vision-based stocking system for densely packed retail shelf environments.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425" y="2606426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Point Cloud Vision: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Combined RGB-D cameras, neural networks, and 3D point-cloud processing.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425" y="3088332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Vacuum Gripper: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Implemented robust vacuum-based manipulation for flat and curved packaging.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40324" y="1616868"/>
            <a:ext cx="99012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2674" y="1931193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High Robustness: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High grasp success rates across repeated trials with various product shapes.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2674" y="2413099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Fault Tolerant: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Handled visual detection errors gracefully during dense shelf extraction.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18624" y="1616868"/>
            <a:ext cx="128016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LIMITATIONS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1924" y="1931193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Heavy Compute: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Requires high processing power for RGB-D point cloud algorithms.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1924" y="2413099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Stationary Focus: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Tailored strictly for shelf manipulation without path-guided mobility.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1924" y="2895004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Edge Scope: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Opens opportunity for lightweight ESP32-S3 mobile alternatives.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1388268"/>
            <a:ext cx="3606849" cy="5050631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92649" y="1388268"/>
            <a:ext cx="3606849" cy="5050631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1388268"/>
            <a:ext cx="3606849" cy="5050631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296525" y="419100"/>
            <a:ext cx="1362075" cy="219075"/>
          </a:xfrm>
          <a:prstGeom prst="roundRect">
            <a:avLst>
              <a:gd name="adj" fmla="val 17391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64293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400" y="1388268"/>
            <a:ext cx="3606849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3400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30724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2649" y="64293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2649" y="1388268"/>
            <a:ext cx="3606849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2649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89974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1899" y="64293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1899" y="1388268"/>
            <a:ext cx="3606849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1899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649223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674" y="1631156"/>
            <a:ext cx="17145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924" y="1631156"/>
            <a:ext cx="219075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3400" y="695325"/>
            <a:ext cx="11658600" cy="2738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56"/>
              </a:lnSpc>
            </a:pPr>
            <a:r>
              <a:rPr b="1" sz="1725" i="0" u="none">
                <a:solidFill>
                  <a:srgbClr val="0F172A"/>
                </a:solidFill>
                <a:latin typeface="Plus Jakarta Sans"/>
              </a:rPr>
              <a:t>Force Estimation and Autonomous Tuning via Tactile &amp; Drive Gripper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452437"/>
            <a:ext cx="2690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LITERATURE REVIEW — PAPER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10825" y="457200"/>
            <a:ext cx="12287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730A3"/>
                </a:solidFill>
                <a:latin typeface="Plus Jakarta Sans"/>
              </a:rPr>
              <a:t>Tactile Force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1026318"/>
            <a:ext cx="33456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Authors: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IEEE Sensors Journal Researchers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38525" y="1026318"/>
            <a:ext cx="57745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Reference: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IEEE Sensors Journal, 2025 (DOI: 10.1109/JSEN.2024.3504717)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625" y="1616868"/>
            <a:ext cx="133016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WORK 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425" y="1931193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Sensor Fusion: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Fused tactile pressure sensors with quasi-direct drive gripper actuation.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425" y="2413099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Adaptive Tuning: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Developed real-time force estimation and dynamic grip force tuning loops.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425" y="2895004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Slip Prevention: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Applied force adjustment mechanisms to prevent fragile item slipping.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40324" y="1616868"/>
            <a:ext cx="99012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2674" y="1931193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Force Accuracy: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Significantly improved contact force estimation precision.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2674" y="2413099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High Reliability: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Achieved &gt;90% success rate in grasping and lifting diverse target objects.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7199" y="1616868"/>
            <a:ext cx="128016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LIMITATIONS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1924" y="1931193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Complex Actuation: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Quasi-direct drive actuators add hardware cost and weight.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1924" y="2413099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Over-Complex for MCU: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Too complex for low-cost ESP32 servo-driven grippers.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1924" y="2895004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Scope for Simplification: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Simple threshold contact sensing offers lightweight alternative.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1388268"/>
            <a:ext cx="3606849" cy="5050631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92649" y="1388268"/>
            <a:ext cx="3606849" cy="5050631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1388268"/>
            <a:ext cx="3606849" cy="5050631"/>
          </a:xfrm>
          <a:prstGeom prst="roundRect">
            <a:avLst>
              <a:gd name="adj" fmla="val 21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267950" y="419100"/>
            <a:ext cx="1390650" cy="219075"/>
          </a:xfrm>
          <a:prstGeom prst="roundRect">
            <a:avLst>
              <a:gd name="adj" fmla="val 17391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64293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400" y="1388268"/>
            <a:ext cx="3606849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3400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30724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2649" y="64293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2649" y="1388268"/>
            <a:ext cx="3606849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2649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89974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51899" y="6429375"/>
            <a:ext cx="36068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1899" y="1388268"/>
            <a:ext cx="3606849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1899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649223" y="1388268"/>
            <a:ext cx="9525" cy="505063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1631156"/>
            <a:ext cx="17145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674" y="1631156"/>
            <a:ext cx="219075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1924" y="1631156"/>
            <a:ext cx="17145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3400" y="695325"/>
            <a:ext cx="11658600" cy="2738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56"/>
              </a:lnSpc>
            </a:pPr>
            <a:r>
              <a:rPr b="1" sz="1725" i="0" u="none">
                <a:solidFill>
                  <a:srgbClr val="0F172A"/>
                </a:solidFill>
                <a:latin typeface="Plus Jakarta Sans"/>
              </a:rPr>
              <a:t>Deep Learning LSTM-Based Slip Detection for Robotic Grasping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452437"/>
            <a:ext cx="2690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LITERATURE REVIEW — PAPER 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82250" y="457200"/>
            <a:ext cx="12573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730A3"/>
                </a:solidFill>
                <a:latin typeface="Plus Jakarta Sans"/>
              </a:rPr>
              <a:t>Tactile Slip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1026318"/>
            <a:ext cx="3286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Authors: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IEEE IECON Conference Authors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90900" y="1026318"/>
            <a:ext cx="609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Reference:</a:t>
            </a:r>
            <a:r>
              <a:rPr b="0" sz="1050" i="0" u="none">
                <a:solidFill>
                  <a:srgbClr val="64748B"/>
                </a:solidFill>
                <a:latin typeface="Plus Jakarta Sans"/>
              </a:rPr>
              <a:t> 49th IEEE IECON, 2023 (DOI: 10.1109/IECON51785.2023.10311615)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075" y="1616868"/>
            <a:ext cx="133016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WORK DONE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425" y="1931193"/>
            <a:ext cx="3302049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Fingertip Tactile Array: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Positioned tactile sensor matrix at gripper fingertips to record grasp forces during lifting.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3425" y="2606426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LSTM Network: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Applied Long Short-Term Memory deep neural network for temporal slip prediction.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425" y="3088332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Closed-Loop Correction: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Dynamically adjusted grip when slip signals were predicted.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7949" y="1616868"/>
            <a:ext cx="99012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2674" y="1931193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Real-Time Detection: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Successfully detected early object slipping during high-speed lifting.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2674" y="2413099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Drop Prevention: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Substantially improved grasp stability and reduced object drop incidents.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99574" y="1616868"/>
            <a:ext cx="128016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LIMITATIONS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1924" y="1931193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Heavy ML Overhead: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Deep LSTM models exceed computing budgets of microcontrollers.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1924" y="2413099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High Tactile Cost: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Dense tactile array matrix requires specialized acquisition hardware.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1924" y="2895004"/>
            <a:ext cx="3302049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050" i="0" u="none">
                <a:solidFill>
                  <a:srgbClr val="334155"/>
                </a:solidFill>
                <a:latin typeface="Plus Jakarta Sans"/>
              </a:rPr>
              <a:t>Simple Contact Scope: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Simple contact thresholding works better for embedded ESP32.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1133475"/>
            <a:ext cx="5931544" cy="5305425"/>
          </a:xfrm>
          <a:prstGeom prst="roundRect">
            <a:avLst>
              <a:gd name="adj" fmla="val 14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655444" y="1133475"/>
            <a:ext cx="5003155" cy="5305425"/>
          </a:xfrm>
          <a:prstGeom prst="roundRect">
            <a:avLst>
              <a:gd name="adj" fmla="val 1523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1525" y="1657350"/>
            <a:ext cx="5455294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84044" y="5867400"/>
            <a:ext cx="4545955" cy="342900"/>
          </a:xfrm>
          <a:prstGeom prst="roundRect">
            <a:avLst>
              <a:gd name="adj" fmla="val 1666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84044" y="1647825"/>
            <a:ext cx="4545955" cy="190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4213175"/>
            <a:ext cx="1524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4926508"/>
            <a:ext cx="1524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5639841"/>
            <a:ext cx="1524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4044" y="2559843"/>
            <a:ext cx="114300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4044" y="2817018"/>
            <a:ext cx="114300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4044" y="3074193"/>
            <a:ext cx="114300" cy="133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3400" y="419100"/>
            <a:ext cx="116586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RESEARCH SYNTHESIS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628650"/>
            <a:ext cx="11658600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lus Jakarta Sans"/>
              </a:rPr>
              <a:t>Problem Statement &amp; Identified Research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25" y="1371600"/>
            <a:ext cx="5828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1E293B"/>
                </a:solidFill>
                <a:latin typeface="Plus Jakarta Sans"/>
              </a:rPr>
              <a:t>Identified Research Gaps in Literature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9150" y="5962650"/>
            <a:ext cx="541574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FFFFFF"/>
                </a:solidFill>
                <a:latin typeface="Plus Jakarta Sans"/>
              </a:rPr>
              <a:t>Unified Low-Cost Dark-Store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5" y="4194125"/>
            <a:ext cx="5283844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200" i="0" u="none">
                <a:solidFill>
                  <a:srgbClr val="DC2626"/>
                </a:solidFill>
                <a:latin typeface="Plus Jakarta Sans"/>
              </a:rPr>
              <a:t>Domain Fragmentation:</a:t>
            </a:r>
            <a:r>
              <a:rPr b="1" sz="1200" i="0" u="none">
                <a:solidFill>
                  <a:srgbClr val="DC2626"/>
                </a:solidFill>
                <a:latin typeface="Plus Jakarta Sans"/>
              </a:rPr>
              <a:t> Motion control (PID line-following), vision AI (Edge Impulse), and robotic manipulators are studied in isolation without end-to-end integration.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225" y="4907458"/>
            <a:ext cx="5283844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200" i="0" u="none">
                <a:solidFill>
                  <a:srgbClr val="DC2626"/>
                </a:solidFill>
                <a:latin typeface="Plus Jakarta Sans"/>
              </a:rPr>
              <a:t>High Overhead &amp; Cost:</a:t>
            </a:r>
            <a:r>
              <a:rPr b="1" sz="1200" i="0" u="none">
                <a:solidFill>
                  <a:srgbClr val="DC2626"/>
                </a:solidFill>
                <a:latin typeface="Plus Jakarta Sans"/>
              </a:rPr>
              <a:t> Existing dark-store solutions rely heavily on expensive SBCs (Jetson), ROS, LiDAR, and deep networks (YOLOv5, LSTM) rather than compact microcontrollers.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8225" y="5620791"/>
            <a:ext cx="5283844" cy="579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1" sz="1200" i="0" u="none">
                <a:solidFill>
                  <a:srgbClr val="DC2626"/>
                </a:solidFill>
                <a:latin typeface="Plus Jakarta Sans"/>
              </a:rPr>
              <a:t>Missing Embedded Synthesis:</a:t>
            </a:r>
            <a:r>
              <a:rPr b="1" sz="1200" i="0" u="none">
                <a:solidFill>
                  <a:srgbClr val="DC2626"/>
                </a:solidFill>
                <a:latin typeface="Plus Jakarta Sans"/>
              </a:rPr>
              <a:t> Lacks a unified ESP32-S3 setup combining line-following navigation, offline FOMO vision, product-location mapping, and servo manipulation.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4044" y="1362075"/>
            <a:ext cx="487326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FFFFF"/>
                </a:solidFill>
                <a:latin typeface="Plus Jakarta Sans"/>
              </a:rPr>
              <a:t>Proposed Integrated Objective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4044" y="1800225"/>
            <a:ext cx="464120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FF6FF"/>
                </a:solidFill>
                <a:latin typeface="Plus Jakarta Sans"/>
              </a:rPr>
              <a:t>To design, develop, and validate a unified, low-cost autonomous mobile robot tailored for dark-store material handling using an ESP32-S3 microcontroller.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4044" y="2533650"/>
            <a:ext cx="5307955" cy="161925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012" i="0" u="none">
                <a:solidFill>
                  <a:srgbClr val="DBEAFE"/>
                </a:solidFill>
                <a:latin typeface="Plus Jakarta Sans"/>
              </a:rPr>
              <a:t>PID-based line navigation with location stopping.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4044" y="2790825"/>
            <a:ext cx="5307955" cy="161925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012" i="0" u="none">
                <a:solidFill>
                  <a:srgbClr val="DBEAFE"/>
                </a:solidFill>
                <a:latin typeface="Plus Jakarta Sans"/>
              </a:rPr>
              <a:t>Edge Impulse FOMO vision on ESP32-S3 camera.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4044" y="3048000"/>
            <a:ext cx="5307955" cy="161925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/>
            <a:r>
              <a:rPr b="0" sz="1012" i="0" u="none">
                <a:solidFill>
                  <a:srgbClr val="DBEAFE"/>
                </a:solidFill>
                <a:latin typeface="Plus Jakarta Sans"/>
              </a:rPr>
              <a:t>Servo-driven manipulator with contact/force feedback.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1095375"/>
            <a:ext cx="11125200" cy="5343525"/>
          </a:xfrm>
          <a:prstGeom prst="roundRect">
            <a:avLst>
              <a:gd name="adj" fmla="val 14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400" y="419100"/>
            <a:ext cx="116586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28650"/>
            <a:ext cx="11658600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lus Jakarta Sans"/>
              </a:rPr>
              <a:t>Bibliography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637829"/>
            <a:ext cx="857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37" i="0" u="none">
                <a:solidFill>
                  <a:srgbClr val="334155"/>
                </a:solidFill>
                <a:latin typeface="Plus Jakarta Sans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8225" y="2637234"/>
            <a:ext cx="5114925" cy="345281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334155"/>
                </a:solidFill>
                <a:latin typeface="Plus Jakarta Sans"/>
              </a:rPr>
              <a:t>G. Chandrappa, “An Enhanced PID-Based Motion Control Framework for Autonomous Line-Following Robot,” </a:t>
            </a:r>
            <a:r>
              <a:rPr b="0" sz="937" i="1" u="none">
                <a:solidFill>
                  <a:srgbClr val="334155"/>
                </a:solidFill>
                <a:latin typeface="Plus Jakarta Sans"/>
              </a:rPr>
              <a:t>WJARR</a:t>
            </a:r>
            <a:r>
              <a:rPr b="0" sz="937" i="0" u="none">
                <a:solidFill>
                  <a:srgbClr val="334155"/>
                </a:solidFill>
                <a:latin typeface="Plus Jakarta Sans"/>
              </a:rPr>
              <a:t>, 2026 (DOI: 10.30574/wjarr.2025.26.3.2275).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0300" y="2637829"/>
            <a:ext cx="1143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37" i="0" u="none">
                <a:solidFill>
                  <a:srgbClr val="334155"/>
                </a:solidFill>
                <a:latin typeface="Plus Jakarta Sans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2637234"/>
            <a:ext cx="5114925" cy="345281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334155"/>
                </a:solidFill>
                <a:latin typeface="Plus Jakarta Sans"/>
              </a:rPr>
              <a:t>M. Z. U. Rahman et al., “Vision-Based Mobile Manipulator for Handling Supermarket Products,” </a:t>
            </a:r>
            <a:r>
              <a:rPr b="0" sz="937" i="1" u="none">
                <a:solidFill>
                  <a:srgbClr val="334155"/>
                </a:solidFill>
                <a:latin typeface="Plus Jakarta Sans"/>
              </a:rPr>
              <a:t>Math. Probl. Eng.</a:t>
            </a:r>
            <a:r>
              <a:rPr b="0" sz="937" i="0" u="none">
                <a:solidFill>
                  <a:srgbClr val="334155"/>
                </a:solidFill>
                <a:latin typeface="Plus Jakarta Sans"/>
              </a:rPr>
              <a:t>, Art. 3883845, 2022.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116460"/>
            <a:ext cx="1143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37" i="0" u="none">
                <a:solidFill>
                  <a:srgbClr val="334155"/>
                </a:solidFill>
                <a:latin typeface="Plus Jakarta Sans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225" y="3115865"/>
            <a:ext cx="5114925" cy="345281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334155"/>
                </a:solidFill>
                <a:latin typeface="Plus Jakarta Sans"/>
              </a:rPr>
              <a:t>Telkom University Researchers, “Robot Edukasi Object Detection Dengan Platform Edge Impulse,” </a:t>
            </a:r>
            <a:r>
              <a:rPr b="0" sz="937" i="1" u="none">
                <a:solidFill>
                  <a:srgbClr val="334155"/>
                </a:solidFill>
                <a:latin typeface="Plus Jakarta Sans"/>
              </a:rPr>
              <a:t>eProceedings of Engineering</a:t>
            </a:r>
            <a:r>
              <a:rPr b="0" sz="937" i="0" u="none">
                <a:solidFill>
                  <a:srgbClr val="334155"/>
                </a:solidFill>
                <a:latin typeface="Plus Jakarta Sans"/>
              </a:rPr>
              <a:t>, Telkom University.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300" y="3116460"/>
            <a:ext cx="1143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37" i="0" u="none">
                <a:solidFill>
                  <a:srgbClr val="334155"/>
                </a:solidFill>
                <a:latin typeface="Plus Jakarta Sans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3115865"/>
            <a:ext cx="5114925" cy="345281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334155"/>
                </a:solidFill>
                <a:latin typeface="Plus Jakarta Sans"/>
              </a:rPr>
              <a:t>P. Kmecl, M. Munih, and J. Podobnik, “Vacuum-Based Robotic Manipulation in Densely Packed Environments,” </a:t>
            </a:r>
            <a:r>
              <a:rPr b="0" sz="937" i="1" u="none">
                <a:solidFill>
                  <a:srgbClr val="334155"/>
                </a:solidFill>
                <a:latin typeface="Plus Jakarta Sans"/>
              </a:rPr>
              <a:t>Sensors</a:t>
            </a:r>
            <a:r>
              <a:rPr b="0" sz="937" i="0" u="none">
                <a:solidFill>
                  <a:srgbClr val="334155"/>
                </a:solidFill>
                <a:latin typeface="Plus Jakarta Sans"/>
              </a:rPr>
              <a:t>, vol. 24, no. 20, 6687, 2024.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595092"/>
            <a:ext cx="1143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37" i="0" u="none">
                <a:solidFill>
                  <a:srgbClr val="334155"/>
                </a:solidFill>
                <a:latin typeface="Plus Jakarta Sans"/>
              </a:rPr>
              <a:t>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3594496"/>
            <a:ext cx="5114925" cy="345281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334155"/>
                </a:solidFill>
                <a:latin typeface="Plus Jakarta Sans"/>
              </a:rPr>
              <a:t>Tiny Prism Labs, “ESP32-S3 Object Identification using Edge Impulse,” </a:t>
            </a:r>
            <a:r>
              <a:rPr b="0" sz="937" i="1" u="none">
                <a:solidFill>
                  <a:srgbClr val="334155"/>
                </a:solidFill>
                <a:latin typeface="Plus Jakarta Sans"/>
              </a:rPr>
              <a:t>GitHub Repository Technical Reference</a:t>
            </a:r>
            <a:r>
              <a:rPr b="0" sz="937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9825" y="3595092"/>
            <a:ext cx="1047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37" i="0" u="none">
                <a:solidFill>
                  <a:srgbClr val="334155"/>
                </a:solidFill>
                <a:latin typeface="Plus Jakarta Sans"/>
              </a:rPr>
              <a:t>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600" y="3594496"/>
            <a:ext cx="5114925" cy="345281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334155"/>
                </a:solidFill>
                <a:latin typeface="Plus Jakarta Sans"/>
              </a:rPr>
              <a:t>IEEE Authors, “Enhanced Force Estimation and Autonomous Force Tuning Through Sensor Fusion,” </a:t>
            </a:r>
            <a:r>
              <a:rPr b="0" sz="937" i="1" u="none">
                <a:solidFill>
                  <a:srgbClr val="334155"/>
                </a:solidFill>
                <a:latin typeface="Plus Jakarta Sans"/>
              </a:rPr>
              <a:t>IEEE Sensors Journal</a:t>
            </a:r>
            <a:r>
              <a:rPr b="0" sz="937" i="0" u="none">
                <a:solidFill>
                  <a:srgbClr val="334155"/>
                </a:solidFill>
                <a:latin typeface="Plus Jakarta Sans"/>
              </a:rPr>
              <a:t>, 2025.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450" y="4073723"/>
            <a:ext cx="1047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37" i="0" u="none">
                <a:solidFill>
                  <a:srgbClr val="334155"/>
                </a:solidFill>
                <a:latin typeface="Plus Jakarta Sans"/>
              </a:rPr>
              <a:t>7.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225" y="4073128"/>
            <a:ext cx="5114925" cy="345281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334155"/>
                </a:solidFill>
                <a:latin typeface="Plus Jakarta Sans"/>
              </a:rPr>
              <a:t>S. Yilmaz, C. Akay, and F. Kaysi, “Low-Cost IoT-Based Robotic Arm for Product Feeding and Sorting,” </a:t>
            </a:r>
            <a:r>
              <a:rPr b="0" sz="937" i="1" u="none">
                <a:solidFill>
                  <a:srgbClr val="334155"/>
                </a:solidFill>
                <a:latin typeface="Plus Jakarta Sans"/>
              </a:rPr>
              <a:t>Electronics</a:t>
            </a:r>
            <a:r>
              <a:rPr b="0" sz="937" i="0" u="none">
                <a:solidFill>
                  <a:srgbClr val="334155"/>
                </a:solidFill>
                <a:latin typeface="Plus Jakarta Sans"/>
              </a:rPr>
              <a:t>, vol. 14, no. 24, 4801, 2025.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0300" y="4073723"/>
            <a:ext cx="1143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37" i="0" u="none">
                <a:solidFill>
                  <a:srgbClr val="334155"/>
                </a:solidFill>
                <a:latin typeface="Plus Jakarta Sans"/>
              </a:rPr>
              <a:t>8.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600" y="4073128"/>
            <a:ext cx="5114925" cy="345281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334155"/>
                </a:solidFill>
                <a:latin typeface="Plus Jakarta Sans"/>
              </a:rPr>
              <a:t>IECON Authors, “Deep Learning LSTM-Based Slip Detection for Robotic Grasping,” </a:t>
            </a:r>
            <a:r>
              <a:rPr b="0" sz="937" i="1" u="none">
                <a:solidFill>
                  <a:srgbClr val="334155"/>
                </a:solidFill>
                <a:latin typeface="Plus Jakarta Sans"/>
              </a:rPr>
              <a:t>49th IEEE IECON Conference</a:t>
            </a:r>
            <a:r>
              <a:rPr b="0" sz="937" i="0" u="none">
                <a:solidFill>
                  <a:srgbClr val="334155"/>
                </a:solidFill>
                <a:latin typeface="Plus Jakarta Sans"/>
              </a:rPr>
              <a:t>, 2023.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450" y="4552354"/>
            <a:ext cx="1047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37" i="0" u="none">
                <a:solidFill>
                  <a:srgbClr val="334155"/>
                </a:solidFill>
                <a:latin typeface="Plus Jakarta Sans"/>
              </a:rPr>
              <a:t>9.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8225" y="4551759"/>
            <a:ext cx="5114925" cy="345281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b="0" sz="937" i="0" u="none">
                <a:solidFill>
                  <a:srgbClr val="334155"/>
                </a:solidFill>
                <a:latin typeface="Plus Jakarta Sans"/>
              </a:rPr>
              <a:t>C. Zaware et al., “Autonomous Material Handling Robot for Warehouse Automation,” </a:t>
            </a:r>
            <a:r>
              <a:rPr b="0" sz="937" i="1" u="none">
                <a:solidFill>
                  <a:srgbClr val="334155"/>
                </a:solidFill>
                <a:latin typeface="Plus Jakarta Sans"/>
              </a:rPr>
              <a:t>Aposta: Rev. Cien. Soc.</a:t>
            </a:r>
            <a:r>
              <a:rPr b="0" sz="937" i="0" u="none">
                <a:solidFill>
                  <a:srgbClr val="334155"/>
                </a:solidFill>
                <a:latin typeface="Plus Jakarta Sans"/>
              </a:rPr>
              <a:t>, vol. 24, e1008, 2026.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62625" y="4441031"/>
            <a:ext cx="6667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378868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837" y="2559843"/>
            <a:ext cx="314325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26853" y="3178968"/>
            <a:ext cx="6338292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FFFFFF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37421" y="3902868"/>
            <a:ext cx="3917156" cy="2714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b="0" sz="1425" i="0" u="none">
                <a:solidFill>
                  <a:srgbClr val="94A3B8"/>
                </a:solidFill>
                <a:latin typeface="Plus Jakarta Sans"/>
              </a:rPr>
              <a:t>Thank you for your time and attention.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